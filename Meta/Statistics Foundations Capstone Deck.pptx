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Ex1.xml" ContentType="application/vnd.ms-office.chartex+xml"/>
  <Override PartName="/ppt/charts/style3.xml" ContentType="application/vnd.ms-office.chartstyle+xml"/>
  <Override PartName="/ppt/charts/colors3.xml" ContentType="application/vnd.ms-office.chartcolorstyle+xml"/>
  <Override PartName="/ppt/charts/chartEx2.xml" ContentType="application/vnd.ms-office.chartex+xml"/>
  <Override PartName="/ppt/charts/style4.xml" ContentType="application/vnd.ms-office.chartstyle+xml"/>
  <Override PartName="/ppt/charts/colors4.xml" ContentType="application/vnd.ms-office.chartcolorstyle+xml"/>
  <Override PartName="/ppt/notesSlides/notesSlide13.xml" ContentType="application/vnd.openxmlformats-officedocument.presentationml.notesSlide+xml"/>
  <Override PartName="/ppt/charts/chartEx3.xml" ContentType="application/vnd.ms-office.chartex+xml"/>
  <Override PartName="/ppt/charts/style5.xml" ContentType="application/vnd.ms-office.chartstyle+xml"/>
  <Override PartName="/ppt/charts/colors5.xml" ContentType="application/vnd.ms-office.chartcolorstyle+xml"/>
  <Override PartName="/ppt/charts/chartEx4.xml" ContentType="application/vnd.ms-office.chartex+xml"/>
  <Override PartName="/ppt/charts/style6.xml" ContentType="application/vnd.ms-office.chartstyle+xml"/>
  <Override PartName="/ppt/charts/colors6.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5"/>
  </p:notesMasterIdLst>
  <p:sldIdLst>
    <p:sldId id="257" r:id="rId2"/>
    <p:sldId id="258" r:id="rId3"/>
    <p:sldId id="278" r:id="rId4"/>
    <p:sldId id="260" r:id="rId5"/>
    <p:sldId id="280" r:id="rId6"/>
    <p:sldId id="279" r:id="rId7"/>
    <p:sldId id="281" r:id="rId8"/>
    <p:sldId id="282" r:id="rId9"/>
    <p:sldId id="283" r:id="rId10"/>
    <p:sldId id="284" r:id="rId11"/>
    <p:sldId id="263" r:id="rId12"/>
    <p:sldId id="287" r:id="rId13"/>
    <p:sldId id="286" r:id="rId14"/>
    <p:sldId id="266" r:id="rId15"/>
    <p:sldId id="267" r:id="rId16"/>
    <p:sldId id="290" r:id="rId17"/>
    <p:sldId id="291" r:id="rId18"/>
    <p:sldId id="292" r:id="rId19"/>
    <p:sldId id="272" r:id="rId20"/>
    <p:sldId id="273" r:id="rId21"/>
    <p:sldId id="274" r:id="rId22"/>
    <p:sldId id="275" r:id="rId23"/>
    <p:sldId id="276" r:id="rId24"/>
  </p:sldIdLst>
  <p:sldSz cx="9144000" cy="5143500" type="screen16x9"/>
  <p:notesSz cx="6858000" cy="9144000"/>
  <p:embeddedFontLst>
    <p:embeddedFont>
      <p:font typeface="DM Sans"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03" autoAdjust="0"/>
    <p:restoredTop sz="94660"/>
  </p:normalViewPr>
  <p:slideViewPr>
    <p:cSldViewPr snapToGrid="0">
      <p:cViewPr varScale="1">
        <p:scale>
          <a:sx n="90" d="100"/>
          <a:sy n="90" d="100"/>
        </p:scale>
        <p:origin x="690"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D:\Meta%20Data%20Analyst%20Course\Statistics%20Foundation\Capstone%20Datas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Meta%20Data%20Analyst%20Course\Statistics%20Foundation\Capstone%20Dataset.xlsx" TargetMode="External"/><Relationship Id="rId2" Type="http://schemas.microsoft.com/office/2011/relationships/chartColorStyle" Target="colors2.xml"/><Relationship Id="rId1" Type="http://schemas.microsoft.com/office/2011/relationships/chartStyle" Target="style2.xm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D:\Meta%20Data%20Analyst%20Course\Statistics%20Foundation\Capstone%20Dataset.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D:\Meta%20Data%20Analyst%20Course\Statistics%20Foundation\Capstone%20Dataset.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D:\Meta%20Data%20Analyst%20Course\Statistics%20Foundation\Capstone%20Dataset.xlsx" TargetMode="External"/></Relationships>
</file>

<file path=ppt/charts/_rels/chartEx4.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D:\Meta%20Data%20Analyst%20Course\Statistics%20Foundation\Capstone%20Datase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DM Sans" pitchFamily="2" charset="0"/>
                <a:ea typeface="+mn-ea"/>
                <a:cs typeface="+mn-cs"/>
              </a:defRPr>
            </a:pPr>
            <a:r>
              <a:rPr lang="en-US" dirty="0">
                <a:latin typeface="DM Sans" pitchFamily="2" charset="0"/>
              </a:rPr>
              <a:t>Facebook Ad Conversions v.</a:t>
            </a:r>
            <a:r>
              <a:rPr lang="en-US" baseline="0" dirty="0">
                <a:latin typeface="DM Sans" pitchFamily="2" charset="0"/>
              </a:rPr>
              <a:t> Clicks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DM Sans" pitchFamily="2" charset="0"/>
              <a:ea typeface="+mn-ea"/>
              <a:cs typeface="+mn-cs"/>
            </a:defRPr>
          </a:pPr>
          <a:endParaRPr lang="en-US"/>
        </a:p>
      </c:txPr>
    </c:title>
    <c:autoTitleDeleted val="0"/>
    <c:plotArea>
      <c:layout>
        <c:manualLayout>
          <c:layoutTarget val="inner"/>
          <c:xMode val="edge"/>
          <c:yMode val="edge"/>
          <c:x val="8.9029127303791714E-2"/>
          <c:y val="0.16316471283266781"/>
          <c:w val="0.73034928406139354"/>
          <c:h val="0.66291345476287078"/>
        </c:manualLayout>
      </c:layout>
      <c:scatterChart>
        <c:scatterStyle val="lineMarker"/>
        <c:varyColors val="0"/>
        <c:ser>
          <c:idx val="0"/>
          <c:order val="0"/>
          <c:tx>
            <c:strRef>
              <c:f>'Week 1 Analysis'!$C$1</c:f>
              <c:strCache>
                <c:ptCount val="1"/>
                <c:pt idx="0">
                  <c:v>Facebook Ad Conversions</c:v>
                </c:pt>
              </c:strCache>
            </c:strRef>
          </c:tx>
          <c:spPr>
            <a:ln w="19050" cap="rnd">
              <a:noFill/>
              <a:round/>
            </a:ln>
            <a:effectLst/>
          </c:spPr>
          <c:marker>
            <c:symbol val="circle"/>
            <c:size val="5"/>
            <c:spPr>
              <a:solidFill>
                <a:schemeClr val="accent5"/>
              </a:solidFill>
              <a:ln w="9525">
                <a:solidFill>
                  <a:schemeClr val="accent5"/>
                </a:solidFill>
              </a:ln>
              <a:effectLst/>
            </c:spPr>
          </c:marker>
          <c:trendline>
            <c:spPr>
              <a:ln w="19050" cap="rnd">
                <a:solidFill>
                  <a:schemeClr val="accent5"/>
                </a:solidFill>
                <a:prstDash val="sysDot"/>
              </a:ln>
              <a:effectLst/>
            </c:spPr>
            <c:trendlineType val="linear"/>
            <c:dispRSqr val="0"/>
            <c:dispEq val="0"/>
          </c:trendline>
          <c:trendline>
            <c:spPr>
              <a:ln w="19050" cap="rnd">
                <a:solidFill>
                  <a:schemeClr val="accent5"/>
                </a:solidFill>
                <a:prstDash val="sysDot"/>
              </a:ln>
              <a:effectLst/>
            </c:spPr>
            <c:trendlineType val="linear"/>
            <c:dispRSqr val="0"/>
            <c:dispEq val="0"/>
          </c:trendline>
          <c:trendline>
            <c:spPr>
              <a:ln w="19050" cap="rnd">
                <a:solidFill>
                  <a:schemeClr val="accent5"/>
                </a:solidFill>
                <a:prstDash val="sysDot"/>
              </a:ln>
              <a:effectLst/>
            </c:spPr>
            <c:trendlineType val="linear"/>
            <c:dispRSqr val="0"/>
            <c:dispEq val="0"/>
          </c:trendline>
          <c:trendline>
            <c:spPr>
              <a:ln w="19050" cap="rnd">
                <a:solidFill>
                  <a:schemeClr val="accent5"/>
                </a:solidFill>
                <a:prstDash val="sysDot"/>
              </a:ln>
              <a:effectLst/>
            </c:spPr>
            <c:trendlineType val="linear"/>
            <c:dispRSqr val="0"/>
            <c:dispEq val="0"/>
          </c:trendline>
          <c:trendline>
            <c:spPr>
              <a:ln w="19050" cap="rnd">
                <a:solidFill>
                  <a:schemeClr val="accent5"/>
                </a:solidFill>
                <a:prstDash val="sysDot"/>
              </a:ln>
              <a:effectLst/>
            </c:spPr>
            <c:trendlineType val="linear"/>
            <c:dispRSqr val="0"/>
            <c:dispEq val="0"/>
          </c:trendline>
          <c:trendline>
            <c:spPr>
              <a:ln w="19050" cap="rnd">
                <a:solidFill>
                  <a:schemeClr val="accent5"/>
                </a:solidFill>
                <a:prstDash val="sysDot"/>
              </a:ln>
              <a:effectLst/>
            </c:spPr>
            <c:trendlineType val="linear"/>
            <c:dispRSqr val="0"/>
            <c:dispEq val="0"/>
          </c:trendline>
          <c:xVal>
            <c:numRef>
              <c:f>'Week 1 Analysis'!$B$2:$B$1000</c:f>
              <c:numCache>
                <c:formatCode>General</c:formatCode>
                <c:ptCount val="999"/>
                <c:pt idx="0">
                  <c:v>18</c:v>
                </c:pt>
                <c:pt idx="1">
                  <c:v>36</c:v>
                </c:pt>
                <c:pt idx="2">
                  <c:v>26</c:v>
                </c:pt>
                <c:pt idx="3">
                  <c:v>27</c:v>
                </c:pt>
                <c:pt idx="4">
                  <c:v>15</c:v>
                </c:pt>
                <c:pt idx="5">
                  <c:v>37</c:v>
                </c:pt>
                <c:pt idx="6">
                  <c:v>49</c:v>
                </c:pt>
                <c:pt idx="7">
                  <c:v>49</c:v>
                </c:pt>
                <c:pt idx="8">
                  <c:v>36</c:v>
                </c:pt>
                <c:pt idx="9">
                  <c:v>41</c:v>
                </c:pt>
                <c:pt idx="10">
                  <c:v>51</c:v>
                </c:pt>
                <c:pt idx="11">
                  <c:v>56</c:v>
                </c:pt>
                <c:pt idx="12">
                  <c:v>48</c:v>
                </c:pt>
                <c:pt idx="13">
                  <c:v>42</c:v>
                </c:pt>
                <c:pt idx="14">
                  <c:v>56</c:v>
                </c:pt>
                <c:pt idx="15">
                  <c:v>31</c:v>
                </c:pt>
                <c:pt idx="16">
                  <c:v>28</c:v>
                </c:pt>
                <c:pt idx="17">
                  <c:v>40</c:v>
                </c:pt>
                <c:pt idx="18">
                  <c:v>30</c:v>
                </c:pt>
                <c:pt idx="19">
                  <c:v>50</c:v>
                </c:pt>
                <c:pt idx="20">
                  <c:v>33</c:v>
                </c:pt>
                <c:pt idx="21">
                  <c:v>46</c:v>
                </c:pt>
                <c:pt idx="22">
                  <c:v>28</c:v>
                </c:pt>
                <c:pt idx="23">
                  <c:v>43</c:v>
                </c:pt>
                <c:pt idx="24">
                  <c:v>52</c:v>
                </c:pt>
                <c:pt idx="25">
                  <c:v>24</c:v>
                </c:pt>
                <c:pt idx="26">
                  <c:v>45</c:v>
                </c:pt>
                <c:pt idx="27">
                  <c:v>55</c:v>
                </c:pt>
                <c:pt idx="28">
                  <c:v>43</c:v>
                </c:pt>
                <c:pt idx="29">
                  <c:v>28</c:v>
                </c:pt>
                <c:pt idx="30">
                  <c:v>31</c:v>
                </c:pt>
                <c:pt idx="31">
                  <c:v>25</c:v>
                </c:pt>
                <c:pt idx="32">
                  <c:v>26</c:v>
                </c:pt>
                <c:pt idx="33">
                  <c:v>25</c:v>
                </c:pt>
                <c:pt idx="34">
                  <c:v>56</c:v>
                </c:pt>
                <c:pt idx="35">
                  <c:v>41</c:v>
                </c:pt>
                <c:pt idx="36">
                  <c:v>34</c:v>
                </c:pt>
                <c:pt idx="37">
                  <c:v>31</c:v>
                </c:pt>
                <c:pt idx="38">
                  <c:v>41</c:v>
                </c:pt>
                <c:pt idx="39">
                  <c:v>41</c:v>
                </c:pt>
                <c:pt idx="40">
                  <c:v>35</c:v>
                </c:pt>
                <c:pt idx="41">
                  <c:v>29</c:v>
                </c:pt>
                <c:pt idx="42">
                  <c:v>54</c:v>
                </c:pt>
                <c:pt idx="43">
                  <c:v>40</c:v>
                </c:pt>
                <c:pt idx="44">
                  <c:v>31</c:v>
                </c:pt>
                <c:pt idx="45">
                  <c:v>42</c:v>
                </c:pt>
                <c:pt idx="46">
                  <c:v>26</c:v>
                </c:pt>
                <c:pt idx="47">
                  <c:v>31</c:v>
                </c:pt>
                <c:pt idx="48">
                  <c:v>31</c:v>
                </c:pt>
                <c:pt idx="49">
                  <c:v>48</c:v>
                </c:pt>
                <c:pt idx="50">
                  <c:v>34</c:v>
                </c:pt>
                <c:pt idx="51">
                  <c:v>32</c:v>
                </c:pt>
                <c:pt idx="52">
                  <c:v>48</c:v>
                </c:pt>
                <c:pt idx="53">
                  <c:v>28</c:v>
                </c:pt>
                <c:pt idx="54">
                  <c:v>51</c:v>
                </c:pt>
                <c:pt idx="55">
                  <c:v>44</c:v>
                </c:pt>
                <c:pt idx="56">
                  <c:v>35</c:v>
                </c:pt>
                <c:pt idx="57">
                  <c:v>55</c:v>
                </c:pt>
                <c:pt idx="58">
                  <c:v>54</c:v>
                </c:pt>
                <c:pt idx="59">
                  <c:v>46</c:v>
                </c:pt>
                <c:pt idx="60">
                  <c:v>57</c:v>
                </c:pt>
                <c:pt idx="61">
                  <c:v>28</c:v>
                </c:pt>
                <c:pt idx="62">
                  <c:v>40</c:v>
                </c:pt>
                <c:pt idx="63">
                  <c:v>43</c:v>
                </c:pt>
                <c:pt idx="64">
                  <c:v>51</c:v>
                </c:pt>
                <c:pt idx="65">
                  <c:v>44</c:v>
                </c:pt>
                <c:pt idx="66">
                  <c:v>24</c:v>
                </c:pt>
                <c:pt idx="67">
                  <c:v>29</c:v>
                </c:pt>
                <c:pt idx="68">
                  <c:v>22</c:v>
                </c:pt>
                <c:pt idx="69">
                  <c:v>59</c:v>
                </c:pt>
                <c:pt idx="70">
                  <c:v>43</c:v>
                </c:pt>
                <c:pt idx="71">
                  <c:v>61</c:v>
                </c:pt>
                <c:pt idx="72">
                  <c:v>54</c:v>
                </c:pt>
                <c:pt idx="73">
                  <c:v>39</c:v>
                </c:pt>
                <c:pt idx="74">
                  <c:v>33</c:v>
                </c:pt>
                <c:pt idx="75">
                  <c:v>32</c:v>
                </c:pt>
                <c:pt idx="76">
                  <c:v>59</c:v>
                </c:pt>
                <c:pt idx="77">
                  <c:v>28</c:v>
                </c:pt>
                <c:pt idx="78">
                  <c:v>37</c:v>
                </c:pt>
                <c:pt idx="79">
                  <c:v>48</c:v>
                </c:pt>
                <c:pt idx="80">
                  <c:v>35</c:v>
                </c:pt>
                <c:pt idx="81">
                  <c:v>36</c:v>
                </c:pt>
                <c:pt idx="82">
                  <c:v>54</c:v>
                </c:pt>
                <c:pt idx="83">
                  <c:v>41</c:v>
                </c:pt>
                <c:pt idx="84">
                  <c:v>40</c:v>
                </c:pt>
                <c:pt idx="85">
                  <c:v>36</c:v>
                </c:pt>
                <c:pt idx="86">
                  <c:v>39</c:v>
                </c:pt>
                <c:pt idx="87">
                  <c:v>25</c:v>
                </c:pt>
                <c:pt idx="88">
                  <c:v>41</c:v>
                </c:pt>
                <c:pt idx="89">
                  <c:v>42</c:v>
                </c:pt>
                <c:pt idx="90">
                  <c:v>30</c:v>
                </c:pt>
                <c:pt idx="91">
                  <c:v>39</c:v>
                </c:pt>
                <c:pt idx="92">
                  <c:v>34</c:v>
                </c:pt>
                <c:pt idx="93">
                  <c:v>52</c:v>
                </c:pt>
                <c:pt idx="94">
                  <c:v>53</c:v>
                </c:pt>
                <c:pt idx="95">
                  <c:v>35</c:v>
                </c:pt>
                <c:pt idx="96">
                  <c:v>44</c:v>
                </c:pt>
                <c:pt idx="97">
                  <c:v>26</c:v>
                </c:pt>
                <c:pt idx="98">
                  <c:v>40</c:v>
                </c:pt>
                <c:pt idx="99">
                  <c:v>57</c:v>
                </c:pt>
                <c:pt idx="100">
                  <c:v>36</c:v>
                </c:pt>
                <c:pt idx="101">
                  <c:v>22</c:v>
                </c:pt>
                <c:pt idx="102">
                  <c:v>43</c:v>
                </c:pt>
                <c:pt idx="103">
                  <c:v>57</c:v>
                </c:pt>
                <c:pt idx="104">
                  <c:v>39</c:v>
                </c:pt>
                <c:pt idx="105">
                  <c:v>36</c:v>
                </c:pt>
                <c:pt idx="106">
                  <c:v>58</c:v>
                </c:pt>
                <c:pt idx="107">
                  <c:v>36</c:v>
                </c:pt>
                <c:pt idx="108">
                  <c:v>33</c:v>
                </c:pt>
                <c:pt idx="109">
                  <c:v>43</c:v>
                </c:pt>
                <c:pt idx="110">
                  <c:v>62</c:v>
                </c:pt>
                <c:pt idx="111">
                  <c:v>45</c:v>
                </c:pt>
                <c:pt idx="112">
                  <c:v>51</c:v>
                </c:pt>
                <c:pt idx="113">
                  <c:v>19</c:v>
                </c:pt>
                <c:pt idx="114">
                  <c:v>39</c:v>
                </c:pt>
                <c:pt idx="115">
                  <c:v>59</c:v>
                </c:pt>
                <c:pt idx="116">
                  <c:v>53</c:v>
                </c:pt>
                <c:pt idx="117">
                  <c:v>36</c:v>
                </c:pt>
                <c:pt idx="118">
                  <c:v>31</c:v>
                </c:pt>
                <c:pt idx="119">
                  <c:v>21</c:v>
                </c:pt>
                <c:pt idx="120">
                  <c:v>52</c:v>
                </c:pt>
                <c:pt idx="121">
                  <c:v>54</c:v>
                </c:pt>
                <c:pt idx="122">
                  <c:v>35</c:v>
                </c:pt>
                <c:pt idx="123">
                  <c:v>48</c:v>
                </c:pt>
                <c:pt idx="124">
                  <c:v>53</c:v>
                </c:pt>
                <c:pt idx="125">
                  <c:v>25</c:v>
                </c:pt>
                <c:pt idx="126">
                  <c:v>25</c:v>
                </c:pt>
                <c:pt idx="127">
                  <c:v>58</c:v>
                </c:pt>
                <c:pt idx="128">
                  <c:v>41</c:v>
                </c:pt>
                <c:pt idx="129">
                  <c:v>47</c:v>
                </c:pt>
                <c:pt idx="130">
                  <c:v>34</c:v>
                </c:pt>
                <c:pt idx="131">
                  <c:v>42</c:v>
                </c:pt>
                <c:pt idx="132">
                  <c:v>33</c:v>
                </c:pt>
                <c:pt idx="133">
                  <c:v>54</c:v>
                </c:pt>
                <c:pt idx="134">
                  <c:v>44</c:v>
                </c:pt>
                <c:pt idx="135">
                  <c:v>50</c:v>
                </c:pt>
                <c:pt idx="136">
                  <c:v>59</c:v>
                </c:pt>
                <c:pt idx="137">
                  <c:v>23</c:v>
                </c:pt>
                <c:pt idx="138">
                  <c:v>59</c:v>
                </c:pt>
                <c:pt idx="139">
                  <c:v>36</c:v>
                </c:pt>
                <c:pt idx="140">
                  <c:v>42</c:v>
                </c:pt>
                <c:pt idx="141">
                  <c:v>29</c:v>
                </c:pt>
                <c:pt idx="142">
                  <c:v>26</c:v>
                </c:pt>
                <c:pt idx="143">
                  <c:v>23</c:v>
                </c:pt>
                <c:pt idx="144">
                  <c:v>48</c:v>
                </c:pt>
                <c:pt idx="145">
                  <c:v>46</c:v>
                </c:pt>
                <c:pt idx="146">
                  <c:v>37</c:v>
                </c:pt>
                <c:pt idx="147">
                  <c:v>36</c:v>
                </c:pt>
                <c:pt idx="148">
                  <c:v>37</c:v>
                </c:pt>
                <c:pt idx="149">
                  <c:v>41</c:v>
                </c:pt>
                <c:pt idx="150">
                  <c:v>23</c:v>
                </c:pt>
                <c:pt idx="151">
                  <c:v>40</c:v>
                </c:pt>
                <c:pt idx="152">
                  <c:v>35</c:v>
                </c:pt>
                <c:pt idx="153">
                  <c:v>61</c:v>
                </c:pt>
                <c:pt idx="154">
                  <c:v>36</c:v>
                </c:pt>
                <c:pt idx="155">
                  <c:v>48</c:v>
                </c:pt>
                <c:pt idx="156">
                  <c:v>22</c:v>
                </c:pt>
                <c:pt idx="157">
                  <c:v>46</c:v>
                </c:pt>
                <c:pt idx="158">
                  <c:v>56</c:v>
                </c:pt>
                <c:pt idx="159">
                  <c:v>35</c:v>
                </c:pt>
                <c:pt idx="160">
                  <c:v>29</c:v>
                </c:pt>
                <c:pt idx="161">
                  <c:v>44</c:v>
                </c:pt>
                <c:pt idx="162">
                  <c:v>40</c:v>
                </c:pt>
                <c:pt idx="163">
                  <c:v>50</c:v>
                </c:pt>
                <c:pt idx="164">
                  <c:v>31</c:v>
                </c:pt>
                <c:pt idx="165">
                  <c:v>33</c:v>
                </c:pt>
                <c:pt idx="166">
                  <c:v>39</c:v>
                </c:pt>
                <c:pt idx="167">
                  <c:v>54</c:v>
                </c:pt>
                <c:pt idx="168">
                  <c:v>54</c:v>
                </c:pt>
                <c:pt idx="169">
                  <c:v>30</c:v>
                </c:pt>
                <c:pt idx="170">
                  <c:v>58</c:v>
                </c:pt>
                <c:pt idx="171">
                  <c:v>36</c:v>
                </c:pt>
                <c:pt idx="172">
                  <c:v>34</c:v>
                </c:pt>
                <c:pt idx="173">
                  <c:v>33</c:v>
                </c:pt>
                <c:pt idx="174">
                  <c:v>53</c:v>
                </c:pt>
                <c:pt idx="175">
                  <c:v>48</c:v>
                </c:pt>
                <c:pt idx="176">
                  <c:v>40</c:v>
                </c:pt>
                <c:pt idx="177">
                  <c:v>39</c:v>
                </c:pt>
                <c:pt idx="178">
                  <c:v>34</c:v>
                </c:pt>
                <c:pt idx="179">
                  <c:v>46</c:v>
                </c:pt>
                <c:pt idx="180">
                  <c:v>55</c:v>
                </c:pt>
                <c:pt idx="181">
                  <c:v>42</c:v>
                </c:pt>
                <c:pt idx="182">
                  <c:v>31</c:v>
                </c:pt>
                <c:pt idx="183">
                  <c:v>30</c:v>
                </c:pt>
                <c:pt idx="184">
                  <c:v>47</c:v>
                </c:pt>
                <c:pt idx="185">
                  <c:v>40</c:v>
                </c:pt>
                <c:pt idx="186">
                  <c:v>33</c:v>
                </c:pt>
                <c:pt idx="187">
                  <c:v>46</c:v>
                </c:pt>
                <c:pt idx="188">
                  <c:v>53</c:v>
                </c:pt>
                <c:pt idx="189">
                  <c:v>39</c:v>
                </c:pt>
                <c:pt idx="190">
                  <c:v>56</c:v>
                </c:pt>
                <c:pt idx="191">
                  <c:v>55</c:v>
                </c:pt>
                <c:pt idx="192">
                  <c:v>39</c:v>
                </c:pt>
                <c:pt idx="193">
                  <c:v>50</c:v>
                </c:pt>
                <c:pt idx="194">
                  <c:v>27</c:v>
                </c:pt>
                <c:pt idx="195">
                  <c:v>65</c:v>
                </c:pt>
                <c:pt idx="196">
                  <c:v>54</c:v>
                </c:pt>
                <c:pt idx="197">
                  <c:v>56</c:v>
                </c:pt>
                <c:pt idx="198">
                  <c:v>36</c:v>
                </c:pt>
                <c:pt idx="199">
                  <c:v>30</c:v>
                </c:pt>
                <c:pt idx="200">
                  <c:v>62</c:v>
                </c:pt>
                <c:pt idx="201">
                  <c:v>36</c:v>
                </c:pt>
                <c:pt idx="202">
                  <c:v>54</c:v>
                </c:pt>
                <c:pt idx="203">
                  <c:v>60</c:v>
                </c:pt>
                <c:pt idx="204">
                  <c:v>49</c:v>
                </c:pt>
                <c:pt idx="205">
                  <c:v>64</c:v>
                </c:pt>
                <c:pt idx="206">
                  <c:v>42</c:v>
                </c:pt>
                <c:pt idx="207">
                  <c:v>60</c:v>
                </c:pt>
                <c:pt idx="208">
                  <c:v>40</c:v>
                </c:pt>
                <c:pt idx="209">
                  <c:v>38</c:v>
                </c:pt>
                <c:pt idx="210">
                  <c:v>46</c:v>
                </c:pt>
                <c:pt idx="211">
                  <c:v>51</c:v>
                </c:pt>
                <c:pt idx="212">
                  <c:v>66</c:v>
                </c:pt>
                <c:pt idx="213">
                  <c:v>53</c:v>
                </c:pt>
                <c:pt idx="214">
                  <c:v>35</c:v>
                </c:pt>
                <c:pt idx="215">
                  <c:v>23</c:v>
                </c:pt>
                <c:pt idx="216">
                  <c:v>33</c:v>
                </c:pt>
                <c:pt idx="217">
                  <c:v>55</c:v>
                </c:pt>
                <c:pt idx="218">
                  <c:v>58</c:v>
                </c:pt>
                <c:pt idx="219">
                  <c:v>36</c:v>
                </c:pt>
                <c:pt idx="220">
                  <c:v>42</c:v>
                </c:pt>
                <c:pt idx="221">
                  <c:v>52</c:v>
                </c:pt>
                <c:pt idx="222">
                  <c:v>35</c:v>
                </c:pt>
                <c:pt idx="223">
                  <c:v>34</c:v>
                </c:pt>
                <c:pt idx="224">
                  <c:v>45</c:v>
                </c:pt>
                <c:pt idx="225">
                  <c:v>26</c:v>
                </c:pt>
                <c:pt idx="226">
                  <c:v>23</c:v>
                </c:pt>
                <c:pt idx="227">
                  <c:v>56</c:v>
                </c:pt>
                <c:pt idx="228">
                  <c:v>47</c:v>
                </c:pt>
                <c:pt idx="229">
                  <c:v>51</c:v>
                </c:pt>
                <c:pt idx="230">
                  <c:v>34</c:v>
                </c:pt>
                <c:pt idx="231">
                  <c:v>59</c:v>
                </c:pt>
                <c:pt idx="232">
                  <c:v>41</c:v>
                </c:pt>
                <c:pt idx="233">
                  <c:v>40</c:v>
                </c:pt>
                <c:pt idx="234">
                  <c:v>35</c:v>
                </c:pt>
                <c:pt idx="235">
                  <c:v>40</c:v>
                </c:pt>
                <c:pt idx="236">
                  <c:v>29</c:v>
                </c:pt>
                <c:pt idx="237">
                  <c:v>28</c:v>
                </c:pt>
                <c:pt idx="238">
                  <c:v>51</c:v>
                </c:pt>
                <c:pt idx="239">
                  <c:v>41</c:v>
                </c:pt>
                <c:pt idx="240">
                  <c:v>32</c:v>
                </c:pt>
                <c:pt idx="241">
                  <c:v>39</c:v>
                </c:pt>
                <c:pt idx="242">
                  <c:v>63</c:v>
                </c:pt>
                <c:pt idx="243">
                  <c:v>42</c:v>
                </c:pt>
                <c:pt idx="244">
                  <c:v>51</c:v>
                </c:pt>
                <c:pt idx="245">
                  <c:v>29</c:v>
                </c:pt>
                <c:pt idx="246">
                  <c:v>63</c:v>
                </c:pt>
                <c:pt idx="247">
                  <c:v>33</c:v>
                </c:pt>
                <c:pt idx="248">
                  <c:v>56</c:v>
                </c:pt>
                <c:pt idx="249">
                  <c:v>54</c:v>
                </c:pt>
                <c:pt idx="250">
                  <c:v>37</c:v>
                </c:pt>
                <c:pt idx="251">
                  <c:v>60</c:v>
                </c:pt>
                <c:pt idx="252">
                  <c:v>56</c:v>
                </c:pt>
                <c:pt idx="253">
                  <c:v>65</c:v>
                </c:pt>
                <c:pt idx="254">
                  <c:v>33</c:v>
                </c:pt>
                <c:pt idx="255">
                  <c:v>40</c:v>
                </c:pt>
                <c:pt idx="256">
                  <c:v>44</c:v>
                </c:pt>
                <c:pt idx="257">
                  <c:v>30</c:v>
                </c:pt>
                <c:pt idx="258">
                  <c:v>43</c:v>
                </c:pt>
                <c:pt idx="259">
                  <c:v>56</c:v>
                </c:pt>
                <c:pt idx="260">
                  <c:v>53</c:v>
                </c:pt>
                <c:pt idx="261">
                  <c:v>57</c:v>
                </c:pt>
                <c:pt idx="262">
                  <c:v>57</c:v>
                </c:pt>
                <c:pt idx="263">
                  <c:v>38</c:v>
                </c:pt>
                <c:pt idx="264">
                  <c:v>36</c:v>
                </c:pt>
                <c:pt idx="265">
                  <c:v>34</c:v>
                </c:pt>
                <c:pt idx="266">
                  <c:v>36</c:v>
                </c:pt>
                <c:pt idx="267">
                  <c:v>47</c:v>
                </c:pt>
                <c:pt idx="268">
                  <c:v>57</c:v>
                </c:pt>
                <c:pt idx="269">
                  <c:v>62</c:v>
                </c:pt>
                <c:pt idx="270">
                  <c:v>30</c:v>
                </c:pt>
                <c:pt idx="271">
                  <c:v>61</c:v>
                </c:pt>
                <c:pt idx="272">
                  <c:v>52</c:v>
                </c:pt>
                <c:pt idx="273">
                  <c:v>62</c:v>
                </c:pt>
                <c:pt idx="274">
                  <c:v>56</c:v>
                </c:pt>
                <c:pt idx="275">
                  <c:v>58</c:v>
                </c:pt>
                <c:pt idx="276">
                  <c:v>69</c:v>
                </c:pt>
                <c:pt idx="277">
                  <c:v>57</c:v>
                </c:pt>
                <c:pt idx="278">
                  <c:v>25</c:v>
                </c:pt>
                <c:pt idx="279">
                  <c:v>35</c:v>
                </c:pt>
                <c:pt idx="280">
                  <c:v>42</c:v>
                </c:pt>
                <c:pt idx="281">
                  <c:v>55</c:v>
                </c:pt>
                <c:pt idx="282">
                  <c:v>36</c:v>
                </c:pt>
                <c:pt idx="283">
                  <c:v>28</c:v>
                </c:pt>
                <c:pt idx="284">
                  <c:v>39</c:v>
                </c:pt>
                <c:pt idx="285">
                  <c:v>36</c:v>
                </c:pt>
                <c:pt idx="286">
                  <c:v>58</c:v>
                </c:pt>
                <c:pt idx="287">
                  <c:v>44</c:v>
                </c:pt>
                <c:pt idx="288">
                  <c:v>51</c:v>
                </c:pt>
                <c:pt idx="289">
                  <c:v>46</c:v>
                </c:pt>
                <c:pt idx="290">
                  <c:v>51</c:v>
                </c:pt>
                <c:pt idx="291">
                  <c:v>53</c:v>
                </c:pt>
                <c:pt idx="292">
                  <c:v>49</c:v>
                </c:pt>
                <c:pt idx="293">
                  <c:v>65</c:v>
                </c:pt>
                <c:pt idx="294">
                  <c:v>63</c:v>
                </c:pt>
                <c:pt idx="295">
                  <c:v>70</c:v>
                </c:pt>
                <c:pt idx="296">
                  <c:v>43</c:v>
                </c:pt>
                <c:pt idx="297">
                  <c:v>46</c:v>
                </c:pt>
                <c:pt idx="298">
                  <c:v>62</c:v>
                </c:pt>
                <c:pt idx="299">
                  <c:v>56</c:v>
                </c:pt>
                <c:pt idx="300">
                  <c:v>54</c:v>
                </c:pt>
                <c:pt idx="301">
                  <c:v>34</c:v>
                </c:pt>
                <c:pt idx="302">
                  <c:v>64</c:v>
                </c:pt>
                <c:pt idx="303">
                  <c:v>64</c:v>
                </c:pt>
                <c:pt idx="304">
                  <c:v>71</c:v>
                </c:pt>
                <c:pt idx="305">
                  <c:v>28</c:v>
                </c:pt>
                <c:pt idx="306">
                  <c:v>39</c:v>
                </c:pt>
                <c:pt idx="307">
                  <c:v>53</c:v>
                </c:pt>
                <c:pt idx="308">
                  <c:v>35</c:v>
                </c:pt>
                <c:pt idx="309">
                  <c:v>46</c:v>
                </c:pt>
                <c:pt idx="310">
                  <c:v>33</c:v>
                </c:pt>
                <c:pt idx="311">
                  <c:v>40</c:v>
                </c:pt>
                <c:pt idx="312">
                  <c:v>38</c:v>
                </c:pt>
                <c:pt idx="313">
                  <c:v>57</c:v>
                </c:pt>
                <c:pt idx="314">
                  <c:v>65</c:v>
                </c:pt>
                <c:pt idx="315">
                  <c:v>61</c:v>
                </c:pt>
                <c:pt idx="316">
                  <c:v>43</c:v>
                </c:pt>
                <c:pt idx="317">
                  <c:v>48</c:v>
                </c:pt>
                <c:pt idx="318">
                  <c:v>64</c:v>
                </c:pt>
                <c:pt idx="319">
                  <c:v>37</c:v>
                </c:pt>
                <c:pt idx="320">
                  <c:v>51</c:v>
                </c:pt>
                <c:pt idx="321">
                  <c:v>59</c:v>
                </c:pt>
                <c:pt idx="322">
                  <c:v>59</c:v>
                </c:pt>
                <c:pt idx="323">
                  <c:v>34</c:v>
                </c:pt>
                <c:pt idx="324">
                  <c:v>57</c:v>
                </c:pt>
                <c:pt idx="325">
                  <c:v>36</c:v>
                </c:pt>
                <c:pt idx="326">
                  <c:v>57</c:v>
                </c:pt>
                <c:pt idx="327">
                  <c:v>55</c:v>
                </c:pt>
                <c:pt idx="328">
                  <c:v>32</c:v>
                </c:pt>
                <c:pt idx="329">
                  <c:v>56</c:v>
                </c:pt>
                <c:pt idx="330">
                  <c:v>68</c:v>
                </c:pt>
                <c:pt idx="331">
                  <c:v>49</c:v>
                </c:pt>
                <c:pt idx="332">
                  <c:v>40</c:v>
                </c:pt>
                <c:pt idx="333">
                  <c:v>56</c:v>
                </c:pt>
                <c:pt idx="334">
                  <c:v>59</c:v>
                </c:pt>
                <c:pt idx="335">
                  <c:v>37</c:v>
                </c:pt>
                <c:pt idx="336">
                  <c:v>67</c:v>
                </c:pt>
                <c:pt idx="337">
                  <c:v>36</c:v>
                </c:pt>
                <c:pt idx="338">
                  <c:v>33</c:v>
                </c:pt>
                <c:pt idx="339">
                  <c:v>37</c:v>
                </c:pt>
                <c:pt idx="340">
                  <c:v>45</c:v>
                </c:pt>
                <c:pt idx="341">
                  <c:v>67</c:v>
                </c:pt>
                <c:pt idx="342">
                  <c:v>36</c:v>
                </c:pt>
                <c:pt idx="343">
                  <c:v>67</c:v>
                </c:pt>
                <c:pt idx="344">
                  <c:v>61</c:v>
                </c:pt>
                <c:pt idx="345">
                  <c:v>53</c:v>
                </c:pt>
                <c:pt idx="346">
                  <c:v>64</c:v>
                </c:pt>
                <c:pt idx="347">
                  <c:v>46</c:v>
                </c:pt>
                <c:pt idx="348">
                  <c:v>45</c:v>
                </c:pt>
                <c:pt idx="349">
                  <c:v>72</c:v>
                </c:pt>
                <c:pt idx="350">
                  <c:v>40</c:v>
                </c:pt>
                <c:pt idx="351">
                  <c:v>54</c:v>
                </c:pt>
                <c:pt idx="352">
                  <c:v>58</c:v>
                </c:pt>
                <c:pt idx="353">
                  <c:v>39</c:v>
                </c:pt>
                <c:pt idx="354">
                  <c:v>62</c:v>
                </c:pt>
                <c:pt idx="355">
                  <c:v>73</c:v>
                </c:pt>
                <c:pt idx="356">
                  <c:v>48</c:v>
                </c:pt>
                <c:pt idx="357">
                  <c:v>63</c:v>
                </c:pt>
                <c:pt idx="358">
                  <c:v>63</c:v>
                </c:pt>
                <c:pt idx="359">
                  <c:v>33</c:v>
                </c:pt>
                <c:pt idx="360">
                  <c:v>51</c:v>
                </c:pt>
                <c:pt idx="361">
                  <c:v>69</c:v>
                </c:pt>
                <c:pt idx="362">
                  <c:v>44</c:v>
                </c:pt>
                <c:pt idx="363">
                  <c:v>37</c:v>
                </c:pt>
                <c:pt idx="364">
                  <c:v>60</c:v>
                </c:pt>
              </c:numCache>
            </c:numRef>
          </c:xVal>
          <c:yVal>
            <c:numRef>
              <c:f>'Week 1 Analysis'!$C$2:$C$1000</c:f>
              <c:numCache>
                <c:formatCode>General</c:formatCode>
                <c:ptCount val="999"/>
                <c:pt idx="0">
                  <c:v>8</c:v>
                </c:pt>
                <c:pt idx="1">
                  <c:v>12</c:v>
                </c:pt>
                <c:pt idx="2">
                  <c:v>8</c:v>
                </c:pt>
                <c:pt idx="3">
                  <c:v>9</c:v>
                </c:pt>
                <c:pt idx="4">
                  <c:v>7</c:v>
                </c:pt>
                <c:pt idx="5">
                  <c:v>10</c:v>
                </c:pt>
                <c:pt idx="6">
                  <c:v>15</c:v>
                </c:pt>
                <c:pt idx="7">
                  <c:v>12</c:v>
                </c:pt>
                <c:pt idx="8">
                  <c:v>12</c:v>
                </c:pt>
                <c:pt idx="9">
                  <c:v>13</c:v>
                </c:pt>
                <c:pt idx="10">
                  <c:v>14</c:v>
                </c:pt>
                <c:pt idx="11">
                  <c:v>14</c:v>
                </c:pt>
                <c:pt idx="12">
                  <c:v>12</c:v>
                </c:pt>
                <c:pt idx="13">
                  <c:v>11</c:v>
                </c:pt>
                <c:pt idx="14">
                  <c:v>12</c:v>
                </c:pt>
                <c:pt idx="15">
                  <c:v>7</c:v>
                </c:pt>
                <c:pt idx="16">
                  <c:v>10</c:v>
                </c:pt>
                <c:pt idx="17">
                  <c:v>13</c:v>
                </c:pt>
                <c:pt idx="18">
                  <c:v>8</c:v>
                </c:pt>
                <c:pt idx="19">
                  <c:v>13</c:v>
                </c:pt>
                <c:pt idx="20">
                  <c:v>8</c:v>
                </c:pt>
                <c:pt idx="21">
                  <c:v>12</c:v>
                </c:pt>
                <c:pt idx="22">
                  <c:v>10</c:v>
                </c:pt>
                <c:pt idx="23">
                  <c:v>12</c:v>
                </c:pt>
                <c:pt idx="24">
                  <c:v>13</c:v>
                </c:pt>
                <c:pt idx="25">
                  <c:v>6</c:v>
                </c:pt>
                <c:pt idx="26">
                  <c:v>11</c:v>
                </c:pt>
                <c:pt idx="27">
                  <c:v>13</c:v>
                </c:pt>
                <c:pt idx="28">
                  <c:v>11</c:v>
                </c:pt>
                <c:pt idx="29">
                  <c:v>11</c:v>
                </c:pt>
                <c:pt idx="30">
                  <c:v>7</c:v>
                </c:pt>
                <c:pt idx="31">
                  <c:v>9</c:v>
                </c:pt>
                <c:pt idx="32">
                  <c:v>7</c:v>
                </c:pt>
                <c:pt idx="33">
                  <c:v>10</c:v>
                </c:pt>
                <c:pt idx="34">
                  <c:v>13</c:v>
                </c:pt>
                <c:pt idx="35">
                  <c:v>11</c:v>
                </c:pt>
                <c:pt idx="36">
                  <c:v>9</c:v>
                </c:pt>
                <c:pt idx="37">
                  <c:v>10</c:v>
                </c:pt>
                <c:pt idx="38">
                  <c:v>13</c:v>
                </c:pt>
                <c:pt idx="39">
                  <c:v>13</c:v>
                </c:pt>
                <c:pt idx="40">
                  <c:v>12</c:v>
                </c:pt>
                <c:pt idx="41">
                  <c:v>9</c:v>
                </c:pt>
                <c:pt idx="42">
                  <c:v>16</c:v>
                </c:pt>
                <c:pt idx="43">
                  <c:v>10</c:v>
                </c:pt>
                <c:pt idx="44">
                  <c:v>8</c:v>
                </c:pt>
                <c:pt idx="45">
                  <c:v>10</c:v>
                </c:pt>
                <c:pt idx="46">
                  <c:v>7</c:v>
                </c:pt>
                <c:pt idx="47">
                  <c:v>10</c:v>
                </c:pt>
                <c:pt idx="48">
                  <c:v>9</c:v>
                </c:pt>
                <c:pt idx="49">
                  <c:v>11</c:v>
                </c:pt>
                <c:pt idx="50">
                  <c:v>11</c:v>
                </c:pt>
                <c:pt idx="51">
                  <c:v>8</c:v>
                </c:pt>
                <c:pt idx="52">
                  <c:v>11</c:v>
                </c:pt>
                <c:pt idx="53">
                  <c:v>7</c:v>
                </c:pt>
                <c:pt idx="54">
                  <c:v>14</c:v>
                </c:pt>
                <c:pt idx="55">
                  <c:v>11</c:v>
                </c:pt>
                <c:pt idx="56">
                  <c:v>12</c:v>
                </c:pt>
                <c:pt idx="57">
                  <c:v>15</c:v>
                </c:pt>
                <c:pt idx="58">
                  <c:v>12</c:v>
                </c:pt>
                <c:pt idx="59">
                  <c:v>12</c:v>
                </c:pt>
                <c:pt idx="60">
                  <c:v>15</c:v>
                </c:pt>
                <c:pt idx="61">
                  <c:v>8</c:v>
                </c:pt>
                <c:pt idx="62">
                  <c:v>11</c:v>
                </c:pt>
                <c:pt idx="63">
                  <c:v>13</c:v>
                </c:pt>
                <c:pt idx="64">
                  <c:v>14</c:v>
                </c:pt>
                <c:pt idx="65">
                  <c:v>13</c:v>
                </c:pt>
                <c:pt idx="66">
                  <c:v>10</c:v>
                </c:pt>
                <c:pt idx="67">
                  <c:v>9</c:v>
                </c:pt>
                <c:pt idx="68">
                  <c:v>5</c:v>
                </c:pt>
                <c:pt idx="69">
                  <c:v>15</c:v>
                </c:pt>
                <c:pt idx="70">
                  <c:v>10</c:v>
                </c:pt>
                <c:pt idx="71">
                  <c:v>17</c:v>
                </c:pt>
                <c:pt idx="72">
                  <c:v>15</c:v>
                </c:pt>
                <c:pt idx="73">
                  <c:v>9</c:v>
                </c:pt>
                <c:pt idx="74">
                  <c:v>8</c:v>
                </c:pt>
                <c:pt idx="75">
                  <c:v>9</c:v>
                </c:pt>
                <c:pt idx="76">
                  <c:v>17</c:v>
                </c:pt>
                <c:pt idx="77">
                  <c:v>10</c:v>
                </c:pt>
                <c:pt idx="78">
                  <c:v>12</c:v>
                </c:pt>
                <c:pt idx="79">
                  <c:v>11</c:v>
                </c:pt>
                <c:pt idx="80">
                  <c:v>11</c:v>
                </c:pt>
                <c:pt idx="81">
                  <c:v>11</c:v>
                </c:pt>
                <c:pt idx="82">
                  <c:v>12</c:v>
                </c:pt>
                <c:pt idx="83">
                  <c:v>10</c:v>
                </c:pt>
                <c:pt idx="84">
                  <c:v>13</c:v>
                </c:pt>
                <c:pt idx="85">
                  <c:v>9</c:v>
                </c:pt>
                <c:pt idx="86">
                  <c:v>10</c:v>
                </c:pt>
                <c:pt idx="87">
                  <c:v>6</c:v>
                </c:pt>
                <c:pt idx="88">
                  <c:v>11</c:v>
                </c:pt>
                <c:pt idx="89">
                  <c:v>11</c:v>
                </c:pt>
                <c:pt idx="90">
                  <c:v>7</c:v>
                </c:pt>
                <c:pt idx="91">
                  <c:v>10</c:v>
                </c:pt>
                <c:pt idx="92">
                  <c:v>12</c:v>
                </c:pt>
                <c:pt idx="93">
                  <c:v>14</c:v>
                </c:pt>
                <c:pt idx="94">
                  <c:v>13</c:v>
                </c:pt>
                <c:pt idx="95">
                  <c:v>9</c:v>
                </c:pt>
                <c:pt idx="96">
                  <c:v>10</c:v>
                </c:pt>
                <c:pt idx="97">
                  <c:v>6</c:v>
                </c:pt>
                <c:pt idx="98">
                  <c:v>9</c:v>
                </c:pt>
                <c:pt idx="99">
                  <c:v>16</c:v>
                </c:pt>
                <c:pt idx="100">
                  <c:v>10</c:v>
                </c:pt>
                <c:pt idx="101">
                  <c:v>6</c:v>
                </c:pt>
                <c:pt idx="102">
                  <c:v>13</c:v>
                </c:pt>
                <c:pt idx="103">
                  <c:v>12</c:v>
                </c:pt>
                <c:pt idx="104">
                  <c:v>13</c:v>
                </c:pt>
                <c:pt idx="105">
                  <c:v>10</c:v>
                </c:pt>
                <c:pt idx="106">
                  <c:v>16</c:v>
                </c:pt>
                <c:pt idx="107">
                  <c:v>10</c:v>
                </c:pt>
                <c:pt idx="108">
                  <c:v>12</c:v>
                </c:pt>
                <c:pt idx="109">
                  <c:v>12</c:v>
                </c:pt>
                <c:pt idx="110">
                  <c:v>16</c:v>
                </c:pt>
                <c:pt idx="111">
                  <c:v>10</c:v>
                </c:pt>
                <c:pt idx="112">
                  <c:v>14</c:v>
                </c:pt>
                <c:pt idx="113">
                  <c:v>8</c:v>
                </c:pt>
                <c:pt idx="114">
                  <c:v>11</c:v>
                </c:pt>
                <c:pt idx="115">
                  <c:v>15</c:v>
                </c:pt>
                <c:pt idx="116">
                  <c:v>16</c:v>
                </c:pt>
                <c:pt idx="117">
                  <c:v>11</c:v>
                </c:pt>
                <c:pt idx="118">
                  <c:v>7</c:v>
                </c:pt>
                <c:pt idx="119">
                  <c:v>6</c:v>
                </c:pt>
                <c:pt idx="120">
                  <c:v>11</c:v>
                </c:pt>
                <c:pt idx="121">
                  <c:v>15</c:v>
                </c:pt>
                <c:pt idx="122">
                  <c:v>8</c:v>
                </c:pt>
                <c:pt idx="123">
                  <c:v>12</c:v>
                </c:pt>
                <c:pt idx="124">
                  <c:v>16</c:v>
                </c:pt>
                <c:pt idx="125">
                  <c:v>7</c:v>
                </c:pt>
                <c:pt idx="126">
                  <c:v>7</c:v>
                </c:pt>
                <c:pt idx="127">
                  <c:v>17</c:v>
                </c:pt>
                <c:pt idx="128">
                  <c:v>9</c:v>
                </c:pt>
                <c:pt idx="129">
                  <c:v>13</c:v>
                </c:pt>
                <c:pt idx="130">
                  <c:v>10</c:v>
                </c:pt>
                <c:pt idx="131">
                  <c:v>13</c:v>
                </c:pt>
                <c:pt idx="132">
                  <c:v>9</c:v>
                </c:pt>
                <c:pt idx="133">
                  <c:v>12</c:v>
                </c:pt>
                <c:pt idx="134">
                  <c:v>12</c:v>
                </c:pt>
                <c:pt idx="135">
                  <c:v>15</c:v>
                </c:pt>
                <c:pt idx="136">
                  <c:v>17</c:v>
                </c:pt>
                <c:pt idx="137">
                  <c:v>9</c:v>
                </c:pt>
                <c:pt idx="138">
                  <c:v>13</c:v>
                </c:pt>
                <c:pt idx="139">
                  <c:v>10</c:v>
                </c:pt>
                <c:pt idx="140">
                  <c:v>10</c:v>
                </c:pt>
                <c:pt idx="141">
                  <c:v>7</c:v>
                </c:pt>
                <c:pt idx="142">
                  <c:v>7</c:v>
                </c:pt>
                <c:pt idx="143">
                  <c:v>6</c:v>
                </c:pt>
                <c:pt idx="144">
                  <c:v>13</c:v>
                </c:pt>
                <c:pt idx="145">
                  <c:v>14</c:v>
                </c:pt>
                <c:pt idx="146">
                  <c:v>12</c:v>
                </c:pt>
                <c:pt idx="147">
                  <c:v>9</c:v>
                </c:pt>
                <c:pt idx="148">
                  <c:v>8</c:v>
                </c:pt>
                <c:pt idx="149">
                  <c:v>11</c:v>
                </c:pt>
                <c:pt idx="150">
                  <c:v>9</c:v>
                </c:pt>
                <c:pt idx="151">
                  <c:v>13</c:v>
                </c:pt>
                <c:pt idx="152">
                  <c:v>11</c:v>
                </c:pt>
                <c:pt idx="153">
                  <c:v>16</c:v>
                </c:pt>
                <c:pt idx="154">
                  <c:v>9</c:v>
                </c:pt>
                <c:pt idx="155">
                  <c:v>13</c:v>
                </c:pt>
                <c:pt idx="156">
                  <c:v>7</c:v>
                </c:pt>
                <c:pt idx="157">
                  <c:v>14</c:v>
                </c:pt>
                <c:pt idx="158">
                  <c:v>15</c:v>
                </c:pt>
                <c:pt idx="159">
                  <c:v>8</c:v>
                </c:pt>
                <c:pt idx="160">
                  <c:v>11</c:v>
                </c:pt>
                <c:pt idx="161">
                  <c:v>10</c:v>
                </c:pt>
                <c:pt idx="162">
                  <c:v>13</c:v>
                </c:pt>
                <c:pt idx="163">
                  <c:v>13</c:v>
                </c:pt>
                <c:pt idx="164">
                  <c:v>9</c:v>
                </c:pt>
                <c:pt idx="165">
                  <c:v>9</c:v>
                </c:pt>
                <c:pt idx="166">
                  <c:v>11</c:v>
                </c:pt>
                <c:pt idx="167">
                  <c:v>16</c:v>
                </c:pt>
                <c:pt idx="168">
                  <c:v>14</c:v>
                </c:pt>
                <c:pt idx="169">
                  <c:v>7</c:v>
                </c:pt>
                <c:pt idx="170">
                  <c:v>17</c:v>
                </c:pt>
                <c:pt idx="171">
                  <c:v>10</c:v>
                </c:pt>
                <c:pt idx="172">
                  <c:v>10</c:v>
                </c:pt>
                <c:pt idx="173">
                  <c:v>9</c:v>
                </c:pt>
                <c:pt idx="174">
                  <c:v>12</c:v>
                </c:pt>
                <c:pt idx="175">
                  <c:v>12</c:v>
                </c:pt>
                <c:pt idx="176">
                  <c:v>9</c:v>
                </c:pt>
                <c:pt idx="177">
                  <c:v>9</c:v>
                </c:pt>
                <c:pt idx="178">
                  <c:v>12</c:v>
                </c:pt>
                <c:pt idx="179">
                  <c:v>11</c:v>
                </c:pt>
                <c:pt idx="180">
                  <c:v>13</c:v>
                </c:pt>
                <c:pt idx="181">
                  <c:v>10</c:v>
                </c:pt>
                <c:pt idx="182">
                  <c:v>7</c:v>
                </c:pt>
                <c:pt idx="183">
                  <c:v>7</c:v>
                </c:pt>
                <c:pt idx="184">
                  <c:v>12</c:v>
                </c:pt>
                <c:pt idx="185">
                  <c:v>13</c:v>
                </c:pt>
                <c:pt idx="186">
                  <c:v>10</c:v>
                </c:pt>
                <c:pt idx="187">
                  <c:v>12</c:v>
                </c:pt>
                <c:pt idx="188">
                  <c:v>15</c:v>
                </c:pt>
                <c:pt idx="189">
                  <c:v>11</c:v>
                </c:pt>
                <c:pt idx="190">
                  <c:v>12</c:v>
                </c:pt>
                <c:pt idx="191">
                  <c:v>12</c:v>
                </c:pt>
                <c:pt idx="192">
                  <c:v>11</c:v>
                </c:pt>
                <c:pt idx="193">
                  <c:v>14</c:v>
                </c:pt>
                <c:pt idx="194">
                  <c:v>6</c:v>
                </c:pt>
                <c:pt idx="195">
                  <c:v>18</c:v>
                </c:pt>
                <c:pt idx="196">
                  <c:v>12</c:v>
                </c:pt>
                <c:pt idx="197">
                  <c:v>15</c:v>
                </c:pt>
                <c:pt idx="198">
                  <c:v>10</c:v>
                </c:pt>
                <c:pt idx="199">
                  <c:v>10</c:v>
                </c:pt>
                <c:pt idx="200">
                  <c:v>17</c:v>
                </c:pt>
                <c:pt idx="201">
                  <c:v>10</c:v>
                </c:pt>
                <c:pt idx="202">
                  <c:v>13</c:v>
                </c:pt>
                <c:pt idx="203">
                  <c:v>13</c:v>
                </c:pt>
                <c:pt idx="204">
                  <c:v>11</c:v>
                </c:pt>
                <c:pt idx="205">
                  <c:v>17</c:v>
                </c:pt>
                <c:pt idx="206">
                  <c:v>13</c:v>
                </c:pt>
                <c:pt idx="207">
                  <c:v>13</c:v>
                </c:pt>
                <c:pt idx="208">
                  <c:v>13</c:v>
                </c:pt>
                <c:pt idx="209">
                  <c:v>12</c:v>
                </c:pt>
                <c:pt idx="210">
                  <c:v>12</c:v>
                </c:pt>
                <c:pt idx="211">
                  <c:v>14</c:v>
                </c:pt>
                <c:pt idx="212">
                  <c:v>16</c:v>
                </c:pt>
                <c:pt idx="213">
                  <c:v>13</c:v>
                </c:pt>
                <c:pt idx="214">
                  <c:v>8</c:v>
                </c:pt>
                <c:pt idx="215">
                  <c:v>10</c:v>
                </c:pt>
                <c:pt idx="216">
                  <c:v>8</c:v>
                </c:pt>
                <c:pt idx="217">
                  <c:v>15</c:v>
                </c:pt>
                <c:pt idx="218">
                  <c:v>14</c:v>
                </c:pt>
                <c:pt idx="219">
                  <c:v>11</c:v>
                </c:pt>
                <c:pt idx="220">
                  <c:v>12</c:v>
                </c:pt>
                <c:pt idx="221">
                  <c:v>14</c:v>
                </c:pt>
                <c:pt idx="222">
                  <c:v>10</c:v>
                </c:pt>
                <c:pt idx="223">
                  <c:v>8</c:v>
                </c:pt>
                <c:pt idx="224">
                  <c:v>12</c:v>
                </c:pt>
                <c:pt idx="225">
                  <c:v>9</c:v>
                </c:pt>
                <c:pt idx="226">
                  <c:v>7</c:v>
                </c:pt>
                <c:pt idx="227">
                  <c:v>16</c:v>
                </c:pt>
                <c:pt idx="228">
                  <c:v>10</c:v>
                </c:pt>
                <c:pt idx="229">
                  <c:v>13</c:v>
                </c:pt>
                <c:pt idx="230">
                  <c:v>8</c:v>
                </c:pt>
                <c:pt idx="231">
                  <c:v>14</c:v>
                </c:pt>
                <c:pt idx="232">
                  <c:v>11</c:v>
                </c:pt>
                <c:pt idx="233">
                  <c:v>9</c:v>
                </c:pt>
                <c:pt idx="234">
                  <c:v>11</c:v>
                </c:pt>
                <c:pt idx="235">
                  <c:v>12</c:v>
                </c:pt>
                <c:pt idx="236">
                  <c:v>10</c:v>
                </c:pt>
                <c:pt idx="237">
                  <c:v>9</c:v>
                </c:pt>
                <c:pt idx="238">
                  <c:v>15</c:v>
                </c:pt>
                <c:pt idx="239">
                  <c:v>10</c:v>
                </c:pt>
                <c:pt idx="240">
                  <c:v>8</c:v>
                </c:pt>
                <c:pt idx="241">
                  <c:v>11</c:v>
                </c:pt>
                <c:pt idx="242">
                  <c:v>15</c:v>
                </c:pt>
                <c:pt idx="243">
                  <c:v>10</c:v>
                </c:pt>
                <c:pt idx="244">
                  <c:v>13</c:v>
                </c:pt>
                <c:pt idx="245">
                  <c:v>7</c:v>
                </c:pt>
                <c:pt idx="246">
                  <c:v>18</c:v>
                </c:pt>
                <c:pt idx="247">
                  <c:v>11</c:v>
                </c:pt>
                <c:pt idx="248">
                  <c:v>15</c:v>
                </c:pt>
                <c:pt idx="249">
                  <c:v>16</c:v>
                </c:pt>
                <c:pt idx="250">
                  <c:v>11</c:v>
                </c:pt>
                <c:pt idx="251">
                  <c:v>13</c:v>
                </c:pt>
                <c:pt idx="252">
                  <c:v>15</c:v>
                </c:pt>
                <c:pt idx="253">
                  <c:v>18</c:v>
                </c:pt>
                <c:pt idx="254">
                  <c:v>9</c:v>
                </c:pt>
                <c:pt idx="255">
                  <c:v>9</c:v>
                </c:pt>
                <c:pt idx="256">
                  <c:v>12</c:v>
                </c:pt>
                <c:pt idx="257">
                  <c:v>10</c:v>
                </c:pt>
                <c:pt idx="258">
                  <c:v>13</c:v>
                </c:pt>
                <c:pt idx="259">
                  <c:v>14</c:v>
                </c:pt>
                <c:pt idx="260">
                  <c:v>15</c:v>
                </c:pt>
                <c:pt idx="261">
                  <c:v>14</c:v>
                </c:pt>
                <c:pt idx="262">
                  <c:v>14</c:v>
                </c:pt>
                <c:pt idx="263">
                  <c:v>9</c:v>
                </c:pt>
                <c:pt idx="264">
                  <c:v>8</c:v>
                </c:pt>
                <c:pt idx="265">
                  <c:v>8</c:v>
                </c:pt>
                <c:pt idx="266">
                  <c:v>12</c:v>
                </c:pt>
                <c:pt idx="267">
                  <c:v>12</c:v>
                </c:pt>
                <c:pt idx="268">
                  <c:v>16</c:v>
                </c:pt>
                <c:pt idx="269">
                  <c:v>17</c:v>
                </c:pt>
                <c:pt idx="270">
                  <c:v>8</c:v>
                </c:pt>
                <c:pt idx="271">
                  <c:v>16</c:v>
                </c:pt>
                <c:pt idx="272">
                  <c:v>14</c:v>
                </c:pt>
                <c:pt idx="273">
                  <c:v>17</c:v>
                </c:pt>
                <c:pt idx="274">
                  <c:v>12</c:v>
                </c:pt>
                <c:pt idx="275">
                  <c:v>16</c:v>
                </c:pt>
                <c:pt idx="276">
                  <c:v>19</c:v>
                </c:pt>
                <c:pt idx="277">
                  <c:v>13</c:v>
                </c:pt>
                <c:pt idx="278">
                  <c:v>9</c:v>
                </c:pt>
                <c:pt idx="279">
                  <c:v>9</c:v>
                </c:pt>
                <c:pt idx="280">
                  <c:v>9</c:v>
                </c:pt>
                <c:pt idx="281">
                  <c:v>15</c:v>
                </c:pt>
                <c:pt idx="282">
                  <c:v>11</c:v>
                </c:pt>
                <c:pt idx="283">
                  <c:v>8</c:v>
                </c:pt>
                <c:pt idx="284">
                  <c:v>10</c:v>
                </c:pt>
                <c:pt idx="285">
                  <c:v>8</c:v>
                </c:pt>
                <c:pt idx="286">
                  <c:v>13</c:v>
                </c:pt>
                <c:pt idx="287">
                  <c:v>11</c:v>
                </c:pt>
                <c:pt idx="288">
                  <c:v>12</c:v>
                </c:pt>
                <c:pt idx="289">
                  <c:v>14</c:v>
                </c:pt>
                <c:pt idx="290">
                  <c:v>11</c:v>
                </c:pt>
                <c:pt idx="291">
                  <c:v>13</c:v>
                </c:pt>
                <c:pt idx="292">
                  <c:v>13</c:v>
                </c:pt>
                <c:pt idx="293">
                  <c:v>16</c:v>
                </c:pt>
                <c:pt idx="294">
                  <c:v>18</c:v>
                </c:pt>
                <c:pt idx="295">
                  <c:v>17</c:v>
                </c:pt>
                <c:pt idx="296">
                  <c:v>11</c:v>
                </c:pt>
                <c:pt idx="297">
                  <c:v>13</c:v>
                </c:pt>
                <c:pt idx="298">
                  <c:v>13</c:v>
                </c:pt>
                <c:pt idx="299">
                  <c:v>12</c:v>
                </c:pt>
                <c:pt idx="300">
                  <c:v>16</c:v>
                </c:pt>
                <c:pt idx="301">
                  <c:v>10</c:v>
                </c:pt>
                <c:pt idx="302">
                  <c:v>18</c:v>
                </c:pt>
                <c:pt idx="303">
                  <c:v>18</c:v>
                </c:pt>
                <c:pt idx="304">
                  <c:v>16</c:v>
                </c:pt>
                <c:pt idx="305">
                  <c:v>10</c:v>
                </c:pt>
                <c:pt idx="306">
                  <c:v>11</c:v>
                </c:pt>
                <c:pt idx="307">
                  <c:v>13</c:v>
                </c:pt>
                <c:pt idx="308">
                  <c:v>9</c:v>
                </c:pt>
                <c:pt idx="309">
                  <c:v>11</c:v>
                </c:pt>
                <c:pt idx="310">
                  <c:v>8</c:v>
                </c:pt>
                <c:pt idx="311">
                  <c:v>11</c:v>
                </c:pt>
                <c:pt idx="312">
                  <c:v>13</c:v>
                </c:pt>
                <c:pt idx="313">
                  <c:v>12</c:v>
                </c:pt>
                <c:pt idx="314">
                  <c:v>16</c:v>
                </c:pt>
                <c:pt idx="315">
                  <c:v>14</c:v>
                </c:pt>
                <c:pt idx="316">
                  <c:v>11</c:v>
                </c:pt>
                <c:pt idx="317">
                  <c:v>12</c:v>
                </c:pt>
                <c:pt idx="318">
                  <c:v>17</c:v>
                </c:pt>
                <c:pt idx="319">
                  <c:v>12</c:v>
                </c:pt>
                <c:pt idx="320">
                  <c:v>11</c:v>
                </c:pt>
                <c:pt idx="321">
                  <c:v>14</c:v>
                </c:pt>
                <c:pt idx="322">
                  <c:v>16</c:v>
                </c:pt>
                <c:pt idx="323">
                  <c:v>9</c:v>
                </c:pt>
                <c:pt idx="324">
                  <c:v>12</c:v>
                </c:pt>
                <c:pt idx="325">
                  <c:v>10</c:v>
                </c:pt>
                <c:pt idx="326">
                  <c:v>16</c:v>
                </c:pt>
                <c:pt idx="327">
                  <c:v>16</c:v>
                </c:pt>
                <c:pt idx="328">
                  <c:v>8</c:v>
                </c:pt>
                <c:pt idx="329">
                  <c:v>12</c:v>
                </c:pt>
                <c:pt idx="330">
                  <c:v>15</c:v>
                </c:pt>
                <c:pt idx="331">
                  <c:v>11</c:v>
                </c:pt>
                <c:pt idx="332">
                  <c:v>11</c:v>
                </c:pt>
                <c:pt idx="333">
                  <c:v>13</c:v>
                </c:pt>
                <c:pt idx="334">
                  <c:v>17</c:v>
                </c:pt>
                <c:pt idx="335">
                  <c:v>11</c:v>
                </c:pt>
                <c:pt idx="336">
                  <c:v>18</c:v>
                </c:pt>
                <c:pt idx="337">
                  <c:v>9</c:v>
                </c:pt>
                <c:pt idx="338">
                  <c:v>8</c:v>
                </c:pt>
                <c:pt idx="339">
                  <c:v>10</c:v>
                </c:pt>
                <c:pt idx="340">
                  <c:v>12</c:v>
                </c:pt>
                <c:pt idx="341">
                  <c:v>15</c:v>
                </c:pt>
                <c:pt idx="342">
                  <c:v>9</c:v>
                </c:pt>
                <c:pt idx="343">
                  <c:v>14</c:v>
                </c:pt>
                <c:pt idx="344">
                  <c:v>15</c:v>
                </c:pt>
                <c:pt idx="345">
                  <c:v>13</c:v>
                </c:pt>
                <c:pt idx="346">
                  <c:v>14</c:v>
                </c:pt>
                <c:pt idx="347">
                  <c:v>13</c:v>
                </c:pt>
                <c:pt idx="348">
                  <c:v>11</c:v>
                </c:pt>
                <c:pt idx="349">
                  <c:v>16</c:v>
                </c:pt>
                <c:pt idx="350">
                  <c:v>11</c:v>
                </c:pt>
                <c:pt idx="351">
                  <c:v>13</c:v>
                </c:pt>
                <c:pt idx="352">
                  <c:v>13</c:v>
                </c:pt>
                <c:pt idx="353">
                  <c:v>12</c:v>
                </c:pt>
                <c:pt idx="354">
                  <c:v>13</c:v>
                </c:pt>
                <c:pt idx="355">
                  <c:v>18</c:v>
                </c:pt>
                <c:pt idx="356">
                  <c:v>12</c:v>
                </c:pt>
                <c:pt idx="357">
                  <c:v>17</c:v>
                </c:pt>
                <c:pt idx="358">
                  <c:v>18</c:v>
                </c:pt>
                <c:pt idx="359">
                  <c:v>12</c:v>
                </c:pt>
                <c:pt idx="360">
                  <c:v>13</c:v>
                </c:pt>
                <c:pt idx="361">
                  <c:v>18</c:v>
                </c:pt>
                <c:pt idx="362">
                  <c:v>13</c:v>
                </c:pt>
                <c:pt idx="363">
                  <c:v>8</c:v>
                </c:pt>
                <c:pt idx="364">
                  <c:v>17</c:v>
                </c:pt>
              </c:numCache>
            </c:numRef>
          </c:yVal>
          <c:smooth val="0"/>
          <c:extLst>
            <c:ext xmlns:c16="http://schemas.microsoft.com/office/drawing/2014/chart" uri="{C3380CC4-5D6E-409C-BE32-E72D297353CC}">
              <c16:uniqueId val="{00000001-93CA-4D8F-84AD-E0B2EC3B2683}"/>
            </c:ext>
          </c:extLst>
        </c:ser>
        <c:dLbls>
          <c:showLegendKey val="0"/>
          <c:showVal val="0"/>
          <c:showCatName val="0"/>
          <c:showSerName val="0"/>
          <c:showPercent val="0"/>
          <c:showBubbleSize val="0"/>
        </c:dLbls>
        <c:axId val="1424104416"/>
        <c:axId val="1424090016"/>
      </c:scatterChart>
      <c:valAx>
        <c:axId val="14241044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DM Sans" pitchFamily="2" charset="0"/>
                    <a:ea typeface="+mn-ea"/>
                    <a:cs typeface="+mn-cs"/>
                  </a:defRPr>
                </a:pPr>
                <a:r>
                  <a:rPr lang="en-US">
                    <a:latin typeface="DM Sans" pitchFamily="2" charset="0"/>
                  </a:rPr>
                  <a:t>Clicks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DM Sans" pitchFamily="2"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4090016"/>
        <c:crosses val="autoZero"/>
        <c:crossBetween val="midCat"/>
      </c:valAx>
      <c:valAx>
        <c:axId val="14240900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DM Sans" pitchFamily="2" charset="0"/>
                    <a:ea typeface="+mn-ea"/>
                    <a:cs typeface="+mn-cs"/>
                  </a:defRPr>
                </a:pPr>
                <a:r>
                  <a:rPr lang="en-US">
                    <a:latin typeface="DM Sans" pitchFamily="2" charset="0"/>
                  </a:rPr>
                  <a:t>Conversions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DM Sans" pitchFamily="2"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4104416"/>
        <c:crosses val="autoZero"/>
        <c:crossBetween val="midCat"/>
      </c:valAx>
      <c:spPr>
        <a:noFill/>
        <a:ln>
          <a:noFill/>
        </a:ln>
        <a:effectLst/>
      </c:spPr>
    </c:plotArea>
    <c:legend>
      <c:legendPos val="r"/>
      <c:legendEntry>
        <c:idx val="1"/>
        <c:delete val="1"/>
      </c:legendEntry>
      <c:legendEntry>
        <c:idx val="2"/>
        <c:delete val="1"/>
      </c:legendEntry>
      <c:legendEntry>
        <c:idx val="3"/>
        <c:delete val="1"/>
      </c:legendEntry>
      <c:legendEntry>
        <c:idx val="4"/>
        <c:delete val="1"/>
      </c:legendEntry>
      <c:legendEntry>
        <c:idx val="5"/>
        <c:delete val="1"/>
      </c:legendEntry>
      <c:legendEntry>
        <c:idx val="6"/>
        <c:delete val="1"/>
      </c:legendEntry>
      <c:layout>
        <c:manualLayout>
          <c:xMode val="edge"/>
          <c:yMode val="edge"/>
          <c:x val="0.82535762379384825"/>
          <c:y val="0.35839234555743699"/>
          <c:w val="0.16147846915162764"/>
          <c:h val="0.2243261798108139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DM Sans" pitchFamily="2"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latin typeface="DM Sans" pitchFamily="2" charset="0"/>
              </a:rPr>
              <a:t>AdWords Ad Conversions v.</a:t>
            </a:r>
            <a:r>
              <a:rPr lang="en-US" baseline="0" dirty="0">
                <a:latin typeface="DM Sans" pitchFamily="2" charset="0"/>
              </a:rPr>
              <a:t> Clicks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715996273104235E-2"/>
          <c:y val="0.15184016824395374"/>
          <c:w val="0.75547475251957175"/>
          <c:h val="0.66948475289169296"/>
        </c:manualLayout>
      </c:layout>
      <c:scatterChart>
        <c:scatterStyle val="lineMarker"/>
        <c:varyColors val="0"/>
        <c:ser>
          <c:idx val="0"/>
          <c:order val="0"/>
          <c:tx>
            <c:strRef>
              <c:f>'Week 1 Analysis'!$J$1</c:f>
              <c:strCache>
                <c:ptCount val="1"/>
                <c:pt idx="0">
                  <c:v>AdWords Ad Conversions</c:v>
                </c:pt>
              </c:strCache>
            </c:strRef>
          </c:tx>
          <c:spPr>
            <a:ln w="19050" cap="rnd">
              <a:noFill/>
              <a:round/>
            </a:ln>
            <a:effectLst/>
          </c:spPr>
          <c:marker>
            <c:symbol val="circle"/>
            <c:size val="5"/>
            <c:spPr>
              <a:solidFill>
                <a:schemeClr val="accent5"/>
              </a:solidFill>
              <a:ln w="9525">
                <a:solidFill>
                  <a:schemeClr val="accent5"/>
                </a:solidFill>
              </a:ln>
              <a:effectLst/>
            </c:spPr>
          </c:marker>
          <c:trendline>
            <c:spPr>
              <a:ln w="19050" cap="rnd">
                <a:solidFill>
                  <a:schemeClr val="accent5"/>
                </a:solidFill>
                <a:prstDash val="sysDot"/>
              </a:ln>
              <a:effectLst/>
            </c:spPr>
            <c:trendlineType val="linear"/>
            <c:dispRSqr val="0"/>
            <c:dispEq val="0"/>
          </c:trendline>
          <c:trendline>
            <c:spPr>
              <a:ln w="19050" cap="rnd">
                <a:solidFill>
                  <a:schemeClr val="accent5"/>
                </a:solidFill>
                <a:prstDash val="sysDot"/>
              </a:ln>
              <a:effectLst/>
            </c:spPr>
            <c:trendlineType val="linear"/>
            <c:dispRSqr val="0"/>
            <c:dispEq val="0"/>
          </c:trendline>
          <c:xVal>
            <c:numRef>
              <c:f>'Week 1 Analysis'!$I$2:$I$1000</c:f>
              <c:numCache>
                <c:formatCode>General</c:formatCode>
                <c:ptCount val="999"/>
                <c:pt idx="0">
                  <c:v>59</c:v>
                </c:pt>
                <c:pt idx="1">
                  <c:v>71</c:v>
                </c:pt>
                <c:pt idx="2">
                  <c:v>44</c:v>
                </c:pt>
                <c:pt idx="3">
                  <c:v>49</c:v>
                </c:pt>
                <c:pt idx="4">
                  <c:v>55</c:v>
                </c:pt>
                <c:pt idx="5">
                  <c:v>51</c:v>
                </c:pt>
                <c:pt idx="6">
                  <c:v>66</c:v>
                </c:pt>
                <c:pt idx="7">
                  <c:v>69</c:v>
                </c:pt>
                <c:pt idx="8">
                  <c:v>82</c:v>
                </c:pt>
                <c:pt idx="9">
                  <c:v>48</c:v>
                </c:pt>
                <c:pt idx="10">
                  <c:v>58</c:v>
                </c:pt>
                <c:pt idx="11">
                  <c:v>68</c:v>
                </c:pt>
                <c:pt idx="12">
                  <c:v>83</c:v>
                </c:pt>
                <c:pt idx="13">
                  <c:v>78</c:v>
                </c:pt>
                <c:pt idx="14">
                  <c:v>36</c:v>
                </c:pt>
                <c:pt idx="15">
                  <c:v>48</c:v>
                </c:pt>
                <c:pt idx="16">
                  <c:v>49</c:v>
                </c:pt>
                <c:pt idx="17">
                  <c:v>68</c:v>
                </c:pt>
                <c:pt idx="18">
                  <c:v>81</c:v>
                </c:pt>
                <c:pt idx="19">
                  <c:v>49</c:v>
                </c:pt>
                <c:pt idx="20">
                  <c:v>43</c:v>
                </c:pt>
                <c:pt idx="21">
                  <c:v>63</c:v>
                </c:pt>
                <c:pt idx="22">
                  <c:v>80</c:v>
                </c:pt>
                <c:pt idx="23">
                  <c:v>50</c:v>
                </c:pt>
                <c:pt idx="24">
                  <c:v>53</c:v>
                </c:pt>
                <c:pt idx="25">
                  <c:v>77</c:v>
                </c:pt>
                <c:pt idx="26">
                  <c:v>44</c:v>
                </c:pt>
                <c:pt idx="27">
                  <c:v>78</c:v>
                </c:pt>
                <c:pt idx="28">
                  <c:v>42</c:v>
                </c:pt>
                <c:pt idx="29">
                  <c:v>50</c:v>
                </c:pt>
                <c:pt idx="30">
                  <c:v>72</c:v>
                </c:pt>
                <c:pt idx="31">
                  <c:v>76</c:v>
                </c:pt>
                <c:pt idx="32">
                  <c:v>41</c:v>
                </c:pt>
                <c:pt idx="33">
                  <c:v>49</c:v>
                </c:pt>
                <c:pt idx="34">
                  <c:v>78</c:v>
                </c:pt>
                <c:pt idx="35">
                  <c:v>69</c:v>
                </c:pt>
                <c:pt idx="36">
                  <c:v>58</c:v>
                </c:pt>
                <c:pt idx="37">
                  <c:v>48</c:v>
                </c:pt>
                <c:pt idx="38">
                  <c:v>44</c:v>
                </c:pt>
                <c:pt idx="39">
                  <c:v>43</c:v>
                </c:pt>
                <c:pt idx="40">
                  <c:v>71</c:v>
                </c:pt>
                <c:pt idx="41">
                  <c:v>74</c:v>
                </c:pt>
                <c:pt idx="42">
                  <c:v>74</c:v>
                </c:pt>
                <c:pt idx="43">
                  <c:v>80</c:v>
                </c:pt>
                <c:pt idx="44">
                  <c:v>40</c:v>
                </c:pt>
                <c:pt idx="45">
                  <c:v>63</c:v>
                </c:pt>
                <c:pt idx="46">
                  <c:v>36</c:v>
                </c:pt>
                <c:pt idx="47">
                  <c:v>74</c:v>
                </c:pt>
                <c:pt idx="48">
                  <c:v>62</c:v>
                </c:pt>
                <c:pt idx="49">
                  <c:v>67</c:v>
                </c:pt>
                <c:pt idx="50">
                  <c:v>64</c:v>
                </c:pt>
                <c:pt idx="51">
                  <c:v>61</c:v>
                </c:pt>
                <c:pt idx="52">
                  <c:v>74</c:v>
                </c:pt>
                <c:pt idx="53">
                  <c:v>71</c:v>
                </c:pt>
                <c:pt idx="54">
                  <c:v>52</c:v>
                </c:pt>
                <c:pt idx="55">
                  <c:v>66</c:v>
                </c:pt>
                <c:pt idx="56">
                  <c:v>47</c:v>
                </c:pt>
                <c:pt idx="57">
                  <c:v>32</c:v>
                </c:pt>
                <c:pt idx="58">
                  <c:v>68</c:v>
                </c:pt>
                <c:pt idx="59">
                  <c:v>51</c:v>
                </c:pt>
                <c:pt idx="60">
                  <c:v>42</c:v>
                </c:pt>
                <c:pt idx="61">
                  <c:v>50</c:v>
                </c:pt>
                <c:pt idx="62">
                  <c:v>56</c:v>
                </c:pt>
                <c:pt idx="63">
                  <c:v>71</c:v>
                </c:pt>
                <c:pt idx="64">
                  <c:v>33</c:v>
                </c:pt>
                <c:pt idx="65">
                  <c:v>70</c:v>
                </c:pt>
                <c:pt idx="66">
                  <c:v>33</c:v>
                </c:pt>
                <c:pt idx="67">
                  <c:v>62</c:v>
                </c:pt>
                <c:pt idx="68">
                  <c:v>87</c:v>
                </c:pt>
                <c:pt idx="69">
                  <c:v>65</c:v>
                </c:pt>
                <c:pt idx="70">
                  <c:v>60</c:v>
                </c:pt>
                <c:pt idx="71">
                  <c:v>44</c:v>
                </c:pt>
                <c:pt idx="72">
                  <c:v>66</c:v>
                </c:pt>
                <c:pt idx="73">
                  <c:v>58</c:v>
                </c:pt>
                <c:pt idx="74">
                  <c:v>54</c:v>
                </c:pt>
                <c:pt idx="75">
                  <c:v>70</c:v>
                </c:pt>
                <c:pt idx="76">
                  <c:v>45</c:v>
                </c:pt>
                <c:pt idx="77">
                  <c:v>34</c:v>
                </c:pt>
                <c:pt idx="78">
                  <c:v>41</c:v>
                </c:pt>
                <c:pt idx="79">
                  <c:v>66</c:v>
                </c:pt>
                <c:pt idx="80">
                  <c:v>55</c:v>
                </c:pt>
                <c:pt idx="81">
                  <c:v>78</c:v>
                </c:pt>
                <c:pt idx="82">
                  <c:v>41</c:v>
                </c:pt>
                <c:pt idx="83">
                  <c:v>68</c:v>
                </c:pt>
                <c:pt idx="84">
                  <c:v>74</c:v>
                </c:pt>
                <c:pt idx="85">
                  <c:v>62</c:v>
                </c:pt>
                <c:pt idx="86">
                  <c:v>40</c:v>
                </c:pt>
                <c:pt idx="87">
                  <c:v>67</c:v>
                </c:pt>
                <c:pt idx="88">
                  <c:v>79</c:v>
                </c:pt>
                <c:pt idx="89">
                  <c:v>59</c:v>
                </c:pt>
                <c:pt idx="90">
                  <c:v>73</c:v>
                </c:pt>
                <c:pt idx="91">
                  <c:v>56</c:v>
                </c:pt>
                <c:pt idx="92">
                  <c:v>82</c:v>
                </c:pt>
                <c:pt idx="93">
                  <c:v>62</c:v>
                </c:pt>
                <c:pt idx="94">
                  <c:v>76</c:v>
                </c:pt>
                <c:pt idx="95">
                  <c:v>35</c:v>
                </c:pt>
                <c:pt idx="96">
                  <c:v>61</c:v>
                </c:pt>
                <c:pt idx="97">
                  <c:v>65</c:v>
                </c:pt>
                <c:pt idx="98">
                  <c:v>83</c:v>
                </c:pt>
                <c:pt idx="99">
                  <c:v>35</c:v>
                </c:pt>
                <c:pt idx="100">
                  <c:v>44</c:v>
                </c:pt>
                <c:pt idx="101">
                  <c:v>57</c:v>
                </c:pt>
                <c:pt idx="102">
                  <c:v>76</c:v>
                </c:pt>
                <c:pt idx="103">
                  <c:v>48</c:v>
                </c:pt>
                <c:pt idx="104">
                  <c:v>62</c:v>
                </c:pt>
                <c:pt idx="105">
                  <c:v>45</c:v>
                </c:pt>
                <c:pt idx="106">
                  <c:v>34</c:v>
                </c:pt>
                <c:pt idx="107">
                  <c:v>51</c:v>
                </c:pt>
                <c:pt idx="108">
                  <c:v>85</c:v>
                </c:pt>
                <c:pt idx="109">
                  <c:v>59</c:v>
                </c:pt>
                <c:pt idx="110">
                  <c:v>67</c:v>
                </c:pt>
                <c:pt idx="111">
                  <c:v>77</c:v>
                </c:pt>
                <c:pt idx="112">
                  <c:v>60</c:v>
                </c:pt>
                <c:pt idx="113">
                  <c:v>53</c:v>
                </c:pt>
                <c:pt idx="114">
                  <c:v>84</c:v>
                </c:pt>
                <c:pt idx="115">
                  <c:v>37</c:v>
                </c:pt>
                <c:pt idx="116">
                  <c:v>67</c:v>
                </c:pt>
                <c:pt idx="117">
                  <c:v>57</c:v>
                </c:pt>
                <c:pt idx="118">
                  <c:v>83</c:v>
                </c:pt>
                <c:pt idx="119">
                  <c:v>70</c:v>
                </c:pt>
                <c:pt idx="120">
                  <c:v>67</c:v>
                </c:pt>
                <c:pt idx="121">
                  <c:v>37</c:v>
                </c:pt>
                <c:pt idx="122">
                  <c:v>58</c:v>
                </c:pt>
                <c:pt idx="123">
                  <c:v>68</c:v>
                </c:pt>
                <c:pt idx="124">
                  <c:v>72</c:v>
                </c:pt>
                <c:pt idx="125">
                  <c:v>60</c:v>
                </c:pt>
                <c:pt idx="126">
                  <c:v>41</c:v>
                </c:pt>
                <c:pt idx="127">
                  <c:v>40</c:v>
                </c:pt>
                <c:pt idx="128">
                  <c:v>49</c:v>
                </c:pt>
                <c:pt idx="129">
                  <c:v>52</c:v>
                </c:pt>
                <c:pt idx="130">
                  <c:v>78</c:v>
                </c:pt>
                <c:pt idx="131">
                  <c:v>83</c:v>
                </c:pt>
                <c:pt idx="132">
                  <c:v>38</c:v>
                </c:pt>
                <c:pt idx="133">
                  <c:v>41</c:v>
                </c:pt>
                <c:pt idx="134">
                  <c:v>72</c:v>
                </c:pt>
                <c:pt idx="135">
                  <c:v>54</c:v>
                </c:pt>
                <c:pt idx="136">
                  <c:v>36</c:v>
                </c:pt>
                <c:pt idx="137">
                  <c:v>54</c:v>
                </c:pt>
                <c:pt idx="138">
                  <c:v>55</c:v>
                </c:pt>
                <c:pt idx="139">
                  <c:v>45</c:v>
                </c:pt>
                <c:pt idx="140">
                  <c:v>83</c:v>
                </c:pt>
                <c:pt idx="141">
                  <c:v>55</c:v>
                </c:pt>
                <c:pt idx="142">
                  <c:v>41</c:v>
                </c:pt>
                <c:pt idx="143">
                  <c:v>73</c:v>
                </c:pt>
                <c:pt idx="144">
                  <c:v>77</c:v>
                </c:pt>
                <c:pt idx="145">
                  <c:v>88</c:v>
                </c:pt>
                <c:pt idx="146">
                  <c:v>63</c:v>
                </c:pt>
                <c:pt idx="147">
                  <c:v>60</c:v>
                </c:pt>
                <c:pt idx="148">
                  <c:v>76</c:v>
                </c:pt>
                <c:pt idx="149">
                  <c:v>48</c:v>
                </c:pt>
                <c:pt idx="150">
                  <c:v>58</c:v>
                </c:pt>
                <c:pt idx="151">
                  <c:v>45</c:v>
                </c:pt>
                <c:pt idx="152">
                  <c:v>56</c:v>
                </c:pt>
                <c:pt idx="153">
                  <c:v>73</c:v>
                </c:pt>
                <c:pt idx="154">
                  <c:v>48</c:v>
                </c:pt>
                <c:pt idx="155">
                  <c:v>71</c:v>
                </c:pt>
                <c:pt idx="156">
                  <c:v>70</c:v>
                </c:pt>
                <c:pt idx="157">
                  <c:v>60</c:v>
                </c:pt>
                <c:pt idx="158">
                  <c:v>56</c:v>
                </c:pt>
                <c:pt idx="159">
                  <c:v>85</c:v>
                </c:pt>
                <c:pt idx="160">
                  <c:v>53</c:v>
                </c:pt>
                <c:pt idx="161">
                  <c:v>80</c:v>
                </c:pt>
                <c:pt idx="162">
                  <c:v>54</c:v>
                </c:pt>
                <c:pt idx="163">
                  <c:v>59</c:v>
                </c:pt>
                <c:pt idx="164">
                  <c:v>40</c:v>
                </c:pt>
                <c:pt idx="165">
                  <c:v>75</c:v>
                </c:pt>
                <c:pt idx="166">
                  <c:v>53</c:v>
                </c:pt>
                <c:pt idx="167">
                  <c:v>84</c:v>
                </c:pt>
                <c:pt idx="168">
                  <c:v>78</c:v>
                </c:pt>
                <c:pt idx="169">
                  <c:v>76</c:v>
                </c:pt>
                <c:pt idx="170">
                  <c:v>67</c:v>
                </c:pt>
                <c:pt idx="171">
                  <c:v>80</c:v>
                </c:pt>
                <c:pt idx="172">
                  <c:v>52</c:v>
                </c:pt>
                <c:pt idx="173">
                  <c:v>50</c:v>
                </c:pt>
                <c:pt idx="174">
                  <c:v>71</c:v>
                </c:pt>
                <c:pt idx="175">
                  <c:v>50</c:v>
                </c:pt>
                <c:pt idx="176">
                  <c:v>81</c:v>
                </c:pt>
                <c:pt idx="177">
                  <c:v>65</c:v>
                </c:pt>
                <c:pt idx="178">
                  <c:v>48</c:v>
                </c:pt>
                <c:pt idx="179">
                  <c:v>54</c:v>
                </c:pt>
                <c:pt idx="180">
                  <c:v>75</c:v>
                </c:pt>
                <c:pt idx="181">
                  <c:v>74</c:v>
                </c:pt>
                <c:pt idx="182">
                  <c:v>85</c:v>
                </c:pt>
                <c:pt idx="183">
                  <c:v>54</c:v>
                </c:pt>
                <c:pt idx="184">
                  <c:v>43</c:v>
                </c:pt>
                <c:pt idx="185">
                  <c:v>54</c:v>
                </c:pt>
                <c:pt idx="186">
                  <c:v>54</c:v>
                </c:pt>
                <c:pt idx="187">
                  <c:v>55</c:v>
                </c:pt>
                <c:pt idx="188">
                  <c:v>57</c:v>
                </c:pt>
                <c:pt idx="189">
                  <c:v>49</c:v>
                </c:pt>
                <c:pt idx="190">
                  <c:v>79</c:v>
                </c:pt>
                <c:pt idx="191">
                  <c:v>80</c:v>
                </c:pt>
                <c:pt idx="192">
                  <c:v>47</c:v>
                </c:pt>
                <c:pt idx="193">
                  <c:v>73</c:v>
                </c:pt>
                <c:pt idx="194">
                  <c:v>46</c:v>
                </c:pt>
                <c:pt idx="195">
                  <c:v>67</c:v>
                </c:pt>
                <c:pt idx="196">
                  <c:v>72</c:v>
                </c:pt>
                <c:pt idx="197">
                  <c:v>81</c:v>
                </c:pt>
                <c:pt idx="198">
                  <c:v>38</c:v>
                </c:pt>
                <c:pt idx="199">
                  <c:v>41</c:v>
                </c:pt>
                <c:pt idx="200">
                  <c:v>78</c:v>
                </c:pt>
                <c:pt idx="201">
                  <c:v>75</c:v>
                </c:pt>
                <c:pt idx="202">
                  <c:v>56</c:v>
                </c:pt>
                <c:pt idx="203">
                  <c:v>57</c:v>
                </c:pt>
                <c:pt idx="204">
                  <c:v>53</c:v>
                </c:pt>
                <c:pt idx="205">
                  <c:v>74</c:v>
                </c:pt>
                <c:pt idx="206">
                  <c:v>75</c:v>
                </c:pt>
                <c:pt idx="207">
                  <c:v>78</c:v>
                </c:pt>
                <c:pt idx="208">
                  <c:v>37</c:v>
                </c:pt>
                <c:pt idx="209">
                  <c:v>78</c:v>
                </c:pt>
                <c:pt idx="210">
                  <c:v>83</c:v>
                </c:pt>
                <c:pt idx="211">
                  <c:v>41</c:v>
                </c:pt>
                <c:pt idx="212">
                  <c:v>59</c:v>
                </c:pt>
                <c:pt idx="213">
                  <c:v>68</c:v>
                </c:pt>
                <c:pt idx="214">
                  <c:v>62</c:v>
                </c:pt>
                <c:pt idx="215">
                  <c:v>46</c:v>
                </c:pt>
                <c:pt idx="216">
                  <c:v>88</c:v>
                </c:pt>
                <c:pt idx="217">
                  <c:v>42</c:v>
                </c:pt>
                <c:pt idx="218">
                  <c:v>54</c:v>
                </c:pt>
                <c:pt idx="219">
                  <c:v>46</c:v>
                </c:pt>
                <c:pt idx="220">
                  <c:v>57</c:v>
                </c:pt>
                <c:pt idx="221">
                  <c:v>50</c:v>
                </c:pt>
                <c:pt idx="222">
                  <c:v>62</c:v>
                </c:pt>
                <c:pt idx="223">
                  <c:v>85</c:v>
                </c:pt>
                <c:pt idx="224">
                  <c:v>81</c:v>
                </c:pt>
                <c:pt idx="225">
                  <c:v>41</c:v>
                </c:pt>
                <c:pt idx="226">
                  <c:v>76</c:v>
                </c:pt>
                <c:pt idx="227">
                  <c:v>66</c:v>
                </c:pt>
                <c:pt idx="228">
                  <c:v>70</c:v>
                </c:pt>
                <c:pt idx="229">
                  <c:v>68</c:v>
                </c:pt>
                <c:pt idx="230">
                  <c:v>61</c:v>
                </c:pt>
                <c:pt idx="231">
                  <c:v>32</c:v>
                </c:pt>
                <c:pt idx="232">
                  <c:v>47</c:v>
                </c:pt>
                <c:pt idx="233">
                  <c:v>43</c:v>
                </c:pt>
                <c:pt idx="234">
                  <c:v>42</c:v>
                </c:pt>
                <c:pt idx="235">
                  <c:v>63</c:v>
                </c:pt>
                <c:pt idx="236">
                  <c:v>71</c:v>
                </c:pt>
                <c:pt idx="237">
                  <c:v>69</c:v>
                </c:pt>
                <c:pt idx="238">
                  <c:v>57</c:v>
                </c:pt>
                <c:pt idx="239">
                  <c:v>58</c:v>
                </c:pt>
                <c:pt idx="240">
                  <c:v>39</c:v>
                </c:pt>
                <c:pt idx="241">
                  <c:v>81</c:v>
                </c:pt>
                <c:pt idx="242">
                  <c:v>80</c:v>
                </c:pt>
                <c:pt idx="243">
                  <c:v>48</c:v>
                </c:pt>
                <c:pt idx="244">
                  <c:v>74</c:v>
                </c:pt>
                <c:pt idx="245">
                  <c:v>53</c:v>
                </c:pt>
                <c:pt idx="246">
                  <c:v>52</c:v>
                </c:pt>
                <c:pt idx="247">
                  <c:v>82</c:v>
                </c:pt>
                <c:pt idx="248">
                  <c:v>57</c:v>
                </c:pt>
                <c:pt idx="249">
                  <c:v>48</c:v>
                </c:pt>
                <c:pt idx="250">
                  <c:v>80</c:v>
                </c:pt>
                <c:pt idx="251">
                  <c:v>45</c:v>
                </c:pt>
                <c:pt idx="252">
                  <c:v>56</c:v>
                </c:pt>
                <c:pt idx="253">
                  <c:v>44</c:v>
                </c:pt>
                <c:pt idx="254">
                  <c:v>70</c:v>
                </c:pt>
                <c:pt idx="255">
                  <c:v>64</c:v>
                </c:pt>
                <c:pt idx="256">
                  <c:v>65</c:v>
                </c:pt>
                <c:pt idx="257">
                  <c:v>61</c:v>
                </c:pt>
                <c:pt idx="258">
                  <c:v>84</c:v>
                </c:pt>
                <c:pt idx="259">
                  <c:v>78</c:v>
                </c:pt>
                <c:pt idx="260">
                  <c:v>78</c:v>
                </c:pt>
                <c:pt idx="261">
                  <c:v>44</c:v>
                </c:pt>
                <c:pt idx="262">
                  <c:v>51</c:v>
                </c:pt>
                <c:pt idx="263">
                  <c:v>60</c:v>
                </c:pt>
                <c:pt idx="264">
                  <c:v>78</c:v>
                </c:pt>
                <c:pt idx="265">
                  <c:v>75</c:v>
                </c:pt>
                <c:pt idx="266">
                  <c:v>58</c:v>
                </c:pt>
                <c:pt idx="267">
                  <c:v>65</c:v>
                </c:pt>
                <c:pt idx="268">
                  <c:v>66</c:v>
                </c:pt>
                <c:pt idx="269">
                  <c:v>81</c:v>
                </c:pt>
                <c:pt idx="270">
                  <c:v>38</c:v>
                </c:pt>
                <c:pt idx="271">
                  <c:v>60</c:v>
                </c:pt>
                <c:pt idx="272">
                  <c:v>53</c:v>
                </c:pt>
                <c:pt idx="273">
                  <c:v>71</c:v>
                </c:pt>
                <c:pt idx="274">
                  <c:v>50</c:v>
                </c:pt>
                <c:pt idx="275">
                  <c:v>43</c:v>
                </c:pt>
                <c:pt idx="276">
                  <c:v>77</c:v>
                </c:pt>
                <c:pt idx="277">
                  <c:v>40</c:v>
                </c:pt>
                <c:pt idx="278">
                  <c:v>70</c:v>
                </c:pt>
                <c:pt idx="279">
                  <c:v>71</c:v>
                </c:pt>
                <c:pt idx="280">
                  <c:v>66</c:v>
                </c:pt>
                <c:pt idx="281">
                  <c:v>80</c:v>
                </c:pt>
                <c:pt idx="282">
                  <c:v>43</c:v>
                </c:pt>
                <c:pt idx="283">
                  <c:v>50</c:v>
                </c:pt>
                <c:pt idx="284">
                  <c:v>89</c:v>
                </c:pt>
                <c:pt idx="285">
                  <c:v>68</c:v>
                </c:pt>
                <c:pt idx="286">
                  <c:v>52</c:v>
                </c:pt>
                <c:pt idx="287">
                  <c:v>51</c:v>
                </c:pt>
                <c:pt idx="288">
                  <c:v>40</c:v>
                </c:pt>
                <c:pt idx="289">
                  <c:v>40</c:v>
                </c:pt>
                <c:pt idx="290">
                  <c:v>50</c:v>
                </c:pt>
                <c:pt idx="291">
                  <c:v>65</c:v>
                </c:pt>
                <c:pt idx="292">
                  <c:v>47</c:v>
                </c:pt>
                <c:pt idx="293">
                  <c:v>77</c:v>
                </c:pt>
                <c:pt idx="294">
                  <c:v>55</c:v>
                </c:pt>
                <c:pt idx="295">
                  <c:v>74</c:v>
                </c:pt>
                <c:pt idx="296">
                  <c:v>76</c:v>
                </c:pt>
                <c:pt idx="297">
                  <c:v>52</c:v>
                </c:pt>
                <c:pt idx="298">
                  <c:v>67</c:v>
                </c:pt>
                <c:pt idx="299">
                  <c:v>48</c:v>
                </c:pt>
                <c:pt idx="300">
                  <c:v>63</c:v>
                </c:pt>
                <c:pt idx="301">
                  <c:v>54</c:v>
                </c:pt>
                <c:pt idx="302">
                  <c:v>38</c:v>
                </c:pt>
                <c:pt idx="303">
                  <c:v>75</c:v>
                </c:pt>
                <c:pt idx="304">
                  <c:v>73</c:v>
                </c:pt>
                <c:pt idx="305">
                  <c:v>52</c:v>
                </c:pt>
                <c:pt idx="306">
                  <c:v>49</c:v>
                </c:pt>
                <c:pt idx="307">
                  <c:v>47</c:v>
                </c:pt>
                <c:pt idx="308">
                  <c:v>65</c:v>
                </c:pt>
                <c:pt idx="309">
                  <c:v>79</c:v>
                </c:pt>
                <c:pt idx="310">
                  <c:v>43</c:v>
                </c:pt>
                <c:pt idx="311">
                  <c:v>58</c:v>
                </c:pt>
                <c:pt idx="312">
                  <c:v>52</c:v>
                </c:pt>
                <c:pt idx="313">
                  <c:v>44</c:v>
                </c:pt>
                <c:pt idx="314">
                  <c:v>44</c:v>
                </c:pt>
                <c:pt idx="315">
                  <c:v>61</c:v>
                </c:pt>
                <c:pt idx="316">
                  <c:v>84</c:v>
                </c:pt>
                <c:pt idx="317">
                  <c:v>53</c:v>
                </c:pt>
                <c:pt idx="318">
                  <c:v>60</c:v>
                </c:pt>
                <c:pt idx="319">
                  <c:v>79</c:v>
                </c:pt>
                <c:pt idx="320">
                  <c:v>85</c:v>
                </c:pt>
                <c:pt idx="321">
                  <c:v>74</c:v>
                </c:pt>
                <c:pt idx="322">
                  <c:v>69</c:v>
                </c:pt>
                <c:pt idx="323">
                  <c:v>51</c:v>
                </c:pt>
                <c:pt idx="324">
                  <c:v>51</c:v>
                </c:pt>
                <c:pt idx="325">
                  <c:v>81</c:v>
                </c:pt>
                <c:pt idx="326">
                  <c:v>70</c:v>
                </c:pt>
                <c:pt idx="327">
                  <c:v>58</c:v>
                </c:pt>
                <c:pt idx="328">
                  <c:v>77</c:v>
                </c:pt>
                <c:pt idx="329">
                  <c:v>58</c:v>
                </c:pt>
                <c:pt idx="330">
                  <c:v>46</c:v>
                </c:pt>
                <c:pt idx="331">
                  <c:v>41</c:v>
                </c:pt>
                <c:pt idx="332">
                  <c:v>68</c:v>
                </c:pt>
                <c:pt idx="333">
                  <c:v>67</c:v>
                </c:pt>
                <c:pt idx="334">
                  <c:v>45</c:v>
                </c:pt>
                <c:pt idx="335">
                  <c:v>42</c:v>
                </c:pt>
                <c:pt idx="336">
                  <c:v>50</c:v>
                </c:pt>
                <c:pt idx="337">
                  <c:v>75</c:v>
                </c:pt>
                <c:pt idx="338">
                  <c:v>59</c:v>
                </c:pt>
                <c:pt idx="339">
                  <c:v>70</c:v>
                </c:pt>
                <c:pt idx="340">
                  <c:v>44</c:v>
                </c:pt>
                <c:pt idx="341">
                  <c:v>85</c:v>
                </c:pt>
                <c:pt idx="342">
                  <c:v>31</c:v>
                </c:pt>
                <c:pt idx="343">
                  <c:v>50</c:v>
                </c:pt>
                <c:pt idx="344">
                  <c:v>54</c:v>
                </c:pt>
                <c:pt idx="345">
                  <c:v>55</c:v>
                </c:pt>
                <c:pt idx="346">
                  <c:v>59</c:v>
                </c:pt>
                <c:pt idx="347">
                  <c:v>77</c:v>
                </c:pt>
                <c:pt idx="348">
                  <c:v>89</c:v>
                </c:pt>
                <c:pt idx="349">
                  <c:v>64</c:v>
                </c:pt>
                <c:pt idx="350">
                  <c:v>57</c:v>
                </c:pt>
                <c:pt idx="351">
                  <c:v>74</c:v>
                </c:pt>
                <c:pt idx="352">
                  <c:v>59</c:v>
                </c:pt>
                <c:pt idx="353">
                  <c:v>41</c:v>
                </c:pt>
                <c:pt idx="354">
                  <c:v>64</c:v>
                </c:pt>
                <c:pt idx="355">
                  <c:v>45</c:v>
                </c:pt>
                <c:pt idx="356">
                  <c:v>34</c:v>
                </c:pt>
                <c:pt idx="357">
                  <c:v>77</c:v>
                </c:pt>
                <c:pt idx="358">
                  <c:v>38</c:v>
                </c:pt>
                <c:pt idx="359">
                  <c:v>72</c:v>
                </c:pt>
                <c:pt idx="360">
                  <c:v>49</c:v>
                </c:pt>
                <c:pt idx="361">
                  <c:v>62</c:v>
                </c:pt>
                <c:pt idx="362">
                  <c:v>71</c:v>
                </c:pt>
                <c:pt idx="363">
                  <c:v>47</c:v>
                </c:pt>
              </c:numCache>
            </c:numRef>
          </c:xVal>
          <c:yVal>
            <c:numRef>
              <c:f>'Week 1 Analysis'!$J$2:$J$1000</c:f>
              <c:numCache>
                <c:formatCode>General</c:formatCode>
                <c:ptCount val="999"/>
                <c:pt idx="0">
                  <c:v>5</c:v>
                </c:pt>
                <c:pt idx="1">
                  <c:v>6</c:v>
                </c:pt>
                <c:pt idx="2">
                  <c:v>4</c:v>
                </c:pt>
                <c:pt idx="3">
                  <c:v>5</c:v>
                </c:pt>
                <c:pt idx="4">
                  <c:v>7</c:v>
                </c:pt>
                <c:pt idx="5">
                  <c:v>4</c:v>
                </c:pt>
                <c:pt idx="6">
                  <c:v>7</c:v>
                </c:pt>
                <c:pt idx="7">
                  <c:v>4</c:v>
                </c:pt>
                <c:pt idx="8">
                  <c:v>9</c:v>
                </c:pt>
                <c:pt idx="9">
                  <c:v>5</c:v>
                </c:pt>
                <c:pt idx="10">
                  <c:v>7</c:v>
                </c:pt>
                <c:pt idx="11">
                  <c:v>8</c:v>
                </c:pt>
                <c:pt idx="12">
                  <c:v>7</c:v>
                </c:pt>
                <c:pt idx="13">
                  <c:v>9</c:v>
                </c:pt>
                <c:pt idx="14">
                  <c:v>3</c:v>
                </c:pt>
                <c:pt idx="15">
                  <c:v>6</c:v>
                </c:pt>
                <c:pt idx="16">
                  <c:v>6</c:v>
                </c:pt>
                <c:pt idx="17">
                  <c:v>4</c:v>
                </c:pt>
                <c:pt idx="18">
                  <c:v>7</c:v>
                </c:pt>
                <c:pt idx="19">
                  <c:v>3</c:v>
                </c:pt>
                <c:pt idx="20">
                  <c:v>4</c:v>
                </c:pt>
                <c:pt idx="21">
                  <c:v>7</c:v>
                </c:pt>
                <c:pt idx="22">
                  <c:v>6</c:v>
                </c:pt>
                <c:pt idx="23">
                  <c:v>7</c:v>
                </c:pt>
                <c:pt idx="24">
                  <c:v>4</c:v>
                </c:pt>
                <c:pt idx="25">
                  <c:v>6</c:v>
                </c:pt>
                <c:pt idx="26">
                  <c:v>7</c:v>
                </c:pt>
                <c:pt idx="27">
                  <c:v>8</c:v>
                </c:pt>
                <c:pt idx="28">
                  <c:v>5</c:v>
                </c:pt>
                <c:pt idx="29">
                  <c:v>4</c:v>
                </c:pt>
                <c:pt idx="30">
                  <c:v>6</c:v>
                </c:pt>
                <c:pt idx="31">
                  <c:v>6</c:v>
                </c:pt>
                <c:pt idx="32">
                  <c:v>5</c:v>
                </c:pt>
                <c:pt idx="33">
                  <c:v>5</c:v>
                </c:pt>
                <c:pt idx="34">
                  <c:v>9</c:v>
                </c:pt>
                <c:pt idx="35">
                  <c:v>7</c:v>
                </c:pt>
                <c:pt idx="36">
                  <c:v>7</c:v>
                </c:pt>
                <c:pt idx="37">
                  <c:v>4</c:v>
                </c:pt>
                <c:pt idx="38">
                  <c:v>4</c:v>
                </c:pt>
                <c:pt idx="39">
                  <c:v>5</c:v>
                </c:pt>
                <c:pt idx="40">
                  <c:v>8</c:v>
                </c:pt>
                <c:pt idx="41">
                  <c:v>5</c:v>
                </c:pt>
                <c:pt idx="42">
                  <c:v>5</c:v>
                </c:pt>
                <c:pt idx="43">
                  <c:v>8</c:v>
                </c:pt>
                <c:pt idx="44">
                  <c:v>3</c:v>
                </c:pt>
                <c:pt idx="45">
                  <c:v>8</c:v>
                </c:pt>
                <c:pt idx="46">
                  <c:v>7</c:v>
                </c:pt>
                <c:pt idx="47">
                  <c:v>7</c:v>
                </c:pt>
                <c:pt idx="48">
                  <c:v>4</c:v>
                </c:pt>
                <c:pt idx="49">
                  <c:v>7</c:v>
                </c:pt>
                <c:pt idx="50">
                  <c:v>7</c:v>
                </c:pt>
                <c:pt idx="51">
                  <c:v>8</c:v>
                </c:pt>
                <c:pt idx="52">
                  <c:v>5</c:v>
                </c:pt>
                <c:pt idx="53">
                  <c:v>9</c:v>
                </c:pt>
                <c:pt idx="54">
                  <c:v>4</c:v>
                </c:pt>
                <c:pt idx="55">
                  <c:v>7</c:v>
                </c:pt>
                <c:pt idx="56">
                  <c:v>7</c:v>
                </c:pt>
                <c:pt idx="57">
                  <c:v>3</c:v>
                </c:pt>
                <c:pt idx="58">
                  <c:v>4</c:v>
                </c:pt>
                <c:pt idx="59">
                  <c:v>6</c:v>
                </c:pt>
                <c:pt idx="60">
                  <c:v>6</c:v>
                </c:pt>
                <c:pt idx="61">
                  <c:v>4</c:v>
                </c:pt>
                <c:pt idx="62">
                  <c:v>8</c:v>
                </c:pt>
                <c:pt idx="63">
                  <c:v>6</c:v>
                </c:pt>
                <c:pt idx="64">
                  <c:v>5</c:v>
                </c:pt>
                <c:pt idx="65">
                  <c:v>9</c:v>
                </c:pt>
                <c:pt idx="66">
                  <c:v>7</c:v>
                </c:pt>
                <c:pt idx="67">
                  <c:v>5</c:v>
                </c:pt>
                <c:pt idx="68">
                  <c:v>5</c:v>
                </c:pt>
                <c:pt idx="69">
                  <c:v>7</c:v>
                </c:pt>
                <c:pt idx="70">
                  <c:v>4</c:v>
                </c:pt>
                <c:pt idx="71">
                  <c:v>5</c:v>
                </c:pt>
                <c:pt idx="72">
                  <c:v>8</c:v>
                </c:pt>
                <c:pt idx="73">
                  <c:v>4</c:v>
                </c:pt>
                <c:pt idx="74">
                  <c:v>4</c:v>
                </c:pt>
                <c:pt idx="75">
                  <c:v>7</c:v>
                </c:pt>
                <c:pt idx="76">
                  <c:v>4</c:v>
                </c:pt>
                <c:pt idx="77">
                  <c:v>4</c:v>
                </c:pt>
                <c:pt idx="78">
                  <c:v>6</c:v>
                </c:pt>
                <c:pt idx="79">
                  <c:v>4</c:v>
                </c:pt>
                <c:pt idx="80">
                  <c:v>8</c:v>
                </c:pt>
                <c:pt idx="81">
                  <c:v>9</c:v>
                </c:pt>
                <c:pt idx="82">
                  <c:v>3</c:v>
                </c:pt>
                <c:pt idx="83">
                  <c:v>5</c:v>
                </c:pt>
                <c:pt idx="84">
                  <c:v>7</c:v>
                </c:pt>
                <c:pt idx="85">
                  <c:v>5</c:v>
                </c:pt>
                <c:pt idx="86">
                  <c:v>5</c:v>
                </c:pt>
                <c:pt idx="87">
                  <c:v>5</c:v>
                </c:pt>
                <c:pt idx="88">
                  <c:v>9</c:v>
                </c:pt>
                <c:pt idx="89">
                  <c:v>5</c:v>
                </c:pt>
                <c:pt idx="90">
                  <c:v>9</c:v>
                </c:pt>
                <c:pt idx="91">
                  <c:v>7</c:v>
                </c:pt>
                <c:pt idx="92">
                  <c:v>5</c:v>
                </c:pt>
                <c:pt idx="93">
                  <c:v>5</c:v>
                </c:pt>
                <c:pt idx="94">
                  <c:v>6</c:v>
                </c:pt>
                <c:pt idx="95">
                  <c:v>5</c:v>
                </c:pt>
                <c:pt idx="96">
                  <c:v>4</c:v>
                </c:pt>
                <c:pt idx="97">
                  <c:v>7</c:v>
                </c:pt>
                <c:pt idx="98">
                  <c:v>9</c:v>
                </c:pt>
                <c:pt idx="99">
                  <c:v>5</c:v>
                </c:pt>
                <c:pt idx="100">
                  <c:v>3</c:v>
                </c:pt>
                <c:pt idx="101">
                  <c:v>5</c:v>
                </c:pt>
                <c:pt idx="102">
                  <c:v>7</c:v>
                </c:pt>
                <c:pt idx="103">
                  <c:v>7</c:v>
                </c:pt>
                <c:pt idx="104">
                  <c:v>8</c:v>
                </c:pt>
                <c:pt idx="105">
                  <c:v>7</c:v>
                </c:pt>
                <c:pt idx="106">
                  <c:v>4</c:v>
                </c:pt>
                <c:pt idx="107">
                  <c:v>8</c:v>
                </c:pt>
                <c:pt idx="108">
                  <c:v>8</c:v>
                </c:pt>
                <c:pt idx="109">
                  <c:v>4</c:v>
                </c:pt>
                <c:pt idx="110">
                  <c:v>8</c:v>
                </c:pt>
                <c:pt idx="111">
                  <c:v>9</c:v>
                </c:pt>
                <c:pt idx="112">
                  <c:v>7</c:v>
                </c:pt>
                <c:pt idx="113">
                  <c:v>6</c:v>
                </c:pt>
                <c:pt idx="114">
                  <c:v>5</c:v>
                </c:pt>
                <c:pt idx="115">
                  <c:v>3</c:v>
                </c:pt>
                <c:pt idx="116">
                  <c:v>8</c:v>
                </c:pt>
                <c:pt idx="117">
                  <c:v>7</c:v>
                </c:pt>
                <c:pt idx="118">
                  <c:v>8</c:v>
                </c:pt>
                <c:pt idx="119">
                  <c:v>5</c:v>
                </c:pt>
                <c:pt idx="120">
                  <c:v>5</c:v>
                </c:pt>
                <c:pt idx="121">
                  <c:v>5</c:v>
                </c:pt>
                <c:pt idx="122">
                  <c:v>4</c:v>
                </c:pt>
                <c:pt idx="123">
                  <c:v>4</c:v>
                </c:pt>
                <c:pt idx="124">
                  <c:v>9</c:v>
                </c:pt>
                <c:pt idx="125">
                  <c:v>5</c:v>
                </c:pt>
                <c:pt idx="126">
                  <c:v>5</c:v>
                </c:pt>
                <c:pt idx="127">
                  <c:v>5</c:v>
                </c:pt>
                <c:pt idx="128">
                  <c:v>7</c:v>
                </c:pt>
                <c:pt idx="129">
                  <c:v>5</c:v>
                </c:pt>
                <c:pt idx="130">
                  <c:v>7</c:v>
                </c:pt>
                <c:pt idx="131">
                  <c:v>8</c:v>
                </c:pt>
                <c:pt idx="132">
                  <c:v>6</c:v>
                </c:pt>
                <c:pt idx="133">
                  <c:v>7</c:v>
                </c:pt>
                <c:pt idx="134">
                  <c:v>5</c:v>
                </c:pt>
                <c:pt idx="135">
                  <c:v>6</c:v>
                </c:pt>
                <c:pt idx="136">
                  <c:v>4</c:v>
                </c:pt>
                <c:pt idx="137">
                  <c:v>5</c:v>
                </c:pt>
                <c:pt idx="138">
                  <c:v>5</c:v>
                </c:pt>
                <c:pt idx="139">
                  <c:v>6</c:v>
                </c:pt>
                <c:pt idx="140">
                  <c:v>8</c:v>
                </c:pt>
                <c:pt idx="141">
                  <c:v>8</c:v>
                </c:pt>
                <c:pt idx="142">
                  <c:v>6</c:v>
                </c:pt>
                <c:pt idx="143">
                  <c:v>6</c:v>
                </c:pt>
                <c:pt idx="144">
                  <c:v>5</c:v>
                </c:pt>
                <c:pt idx="145">
                  <c:v>5</c:v>
                </c:pt>
                <c:pt idx="146">
                  <c:v>4</c:v>
                </c:pt>
                <c:pt idx="147">
                  <c:v>7</c:v>
                </c:pt>
                <c:pt idx="148">
                  <c:v>8</c:v>
                </c:pt>
                <c:pt idx="149">
                  <c:v>4</c:v>
                </c:pt>
                <c:pt idx="150">
                  <c:v>6</c:v>
                </c:pt>
                <c:pt idx="151">
                  <c:v>5</c:v>
                </c:pt>
                <c:pt idx="152">
                  <c:v>7</c:v>
                </c:pt>
                <c:pt idx="153">
                  <c:v>5</c:v>
                </c:pt>
                <c:pt idx="154">
                  <c:v>7</c:v>
                </c:pt>
                <c:pt idx="155">
                  <c:v>5</c:v>
                </c:pt>
                <c:pt idx="156">
                  <c:v>5</c:v>
                </c:pt>
                <c:pt idx="157">
                  <c:v>5</c:v>
                </c:pt>
                <c:pt idx="158">
                  <c:v>7</c:v>
                </c:pt>
                <c:pt idx="159">
                  <c:v>5</c:v>
                </c:pt>
                <c:pt idx="160">
                  <c:v>7</c:v>
                </c:pt>
                <c:pt idx="161">
                  <c:v>6</c:v>
                </c:pt>
                <c:pt idx="162">
                  <c:v>8</c:v>
                </c:pt>
                <c:pt idx="163">
                  <c:v>4</c:v>
                </c:pt>
                <c:pt idx="164">
                  <c:v>4</c:v>
                </c:pt>
                <c:pt idx="165">
                  <c:v>9</c:v>
                </c:pt>
                <c:pt idx="166">
                  <c:v>8</c:v>
                </c:pt>
                <c:pt idx="167">
                  <c:v>7</c:v>
                </c:pt>
                <c:pt idx="168">
                  <c:v>9</c:v>
                </c:pt>
                <c:pt idx="169">
                  <c:v>6</c:v>
                </c:pt>
                <c:pt idx="170">
                  <c:v>8</c:v>
                </c:pt>
                <c:pt idx="171">
                  <c:v>6</c:v>
                </c:pt>
                <c:pt idx="172">
                  <c:v>5</c:v>
                </c:pt>
                <c:pt idx="173">
                  <c:v>7</c:v>
                </c:pt>
                <c:pt idx="174">
                  <c:v>5</c:v>
                </c:pt>
                <c:pt idx="175">
                  <c:v>4</c:v>
                </c:pt>
                <c:pt idx="176">
                  <c:v>9</c:v>
                </c:pt>
                <c:pt idx="177">
                  <c:v>5</c:v>
                </c:pt>
                <c:pt idx="178">
                  <c:v>7</c:v>
                </c:pt>
                <c:pt idx="179">
                  <c:v>6</c:v>
                </c:pt>
                <c:pt idx="180">
                  <c:v>7</c:v>
                </c:pt>
                <c:pt idx="181">
                  <c:v>8</c:v>
                </c:pt>
                <c:pt idx="182">
                  <c:v>6</c:v>
                </c:pt>
                <c:pt idx="183">
                  <c:v>6</c:v>
                </c:pt>
                <c:pt idx="184">
                  <c:v>7</c:v>
                </c:pt>
                <c:pt idx="185">
                  <c:v>6</c:v>
                </c:pt>
                <c:pt idx="186">
                  <c:v>8</c:v>
                </c:pt>
                <c:pt idx="187">
                  <c:v>5</c:v>
                </c:pt>
                <c:pt idx="188">
                  <c:v>7</c:v>
                </c:pt>
                <c:pt idx="189">
                  <c:v>4</c:v>
                </c:pt>
                <c:pt idx="190">
                  <c:v>8</c:v>
                </c:pt>
                <c:pt idx="191">
                  <c:v>7</c:v>
                </c:pt>
                <c:pt idx="192">
                  <c:v>3</c:v>
                </c:pt>
                <c:pt idx="193">
                  <c:v>5</c:v>
                </c:pt>
                <c:pt idx="194">
                  <c:v>4</c:v>
                </c:pt>
                <c:pt idx="195">
                  <c:v>7</c:v>
                </c:pt>
                <c:pt idx="196">
                  <c:v>6</c:v>
                </c:pt>
                <c:pt idx="197">
                  <c:v>9</c:v>
                </c:pt>
                <c:pt idx="198">
                  <c:v>7</c:v>
                </c:pt>
                <c:pt idx="199">
                  <c:v>4</c:v>
                </c:pt>
                <c:pt idx="200">
                  <c:v>5</c:v>
                </c:pt>
                <c:pt idx="201">
                  <c:v>5</c:v>
                </c:pt>
                <c:pt idx="202">
                  <c:v>6</c:v>
                </c:pt>
                <c:pt idx="203">
                  <c:v>8</c:v>
                </c:pt>
                <c:pt idx="204">
                  <c:v>6</c:v>
                </c:pt>
                <c:pt idx="205">
                  <c:v>7</c:v>
                </c:pt>
                <c:pt idx="206">
                  <c:v>7</c:v>
                </c:pt>
                <c:pt idx="207">
                  <c:v>9</c:v>
                </c:pt>
                <c:pt idx="208">
                  <c:v>3</c:v>
                </c:pt>
                <c:pt idx="209">
                  <c:v>8</c:v>
                </c:pt>
                <c:pt idx="210">
                  <c:v>8</c:v>
                </c:pt>
                <c:pt idx="211">
                  <c:v>6</c:v>
                </c:pt>
                <c:pt idx="212">
                  <c:v>8</c:v>
                </c:pt>
                <c:pt idx="213">
                  <c:v>6</c:v>
                </c:pt>
                <c:pt idx="214">
                  <c:v>5</c:v>
                </c:pt>
                <c:pt idx="215">
                  <c:v>3</c:v>
                </c:pt>
                <c:pt idx="216">
                  <c:v>9</c:v>
                </c:pt>
                <c:pt idx="217">
                  <c:v>7</c:v>
                </c:pt>
                <c:pt idx="218">
                  <c:v>7</c:v>
                </c:pt>
                <c:pt idx="219">
                  <c:v>3</c:v>
                </c:pt>
                <c:pt idx="220">
                  <c:v>5</c:v>
                </c:pt>
                <c:pt idx="221">
                  <c:v>3</c:v>
                </c:pt>
                <c:pt idx="222">
                  <c:v>6</c:v>
                </c:pt>
                <c:pt idx="223">
                  <c:v>8</c:v>
                </c:pt>
                <c:pt idx="224">
                  <c:v>5</c:v>
                </c:pt>
                <c:pt idx="225">
                  <c:v>3</c:v>
                </c:pt>
                <c:pt idx="226">
                  <c:v>9</c:v>
                </c:pt>
                <c:pt idx="227">
                  <c:v>7</c:v>
                </c:pt>
                <c:pt idx="228">
                  <c:v>6</c:v>
                </c:pt>
                <c:pt idx="229">
                  <c:v>5</c:v>
                </c:pt>
                <c:pt idx="230">
                  <c:v>4</c:v>
                </c:pt>
                <c:pt idx="231">
                  <c:v>4</c:v>
                </c:pt>
                <c:pt idx="232">
                  <c:v>7</c:v>
                </c:pt>
                <c:pt idx="233">
                  <c:v>6</c:v>
                </c:pt>
                <c:pt idx="234">
                  <c:v>7</c:v>
                </c:pt>
                <c:pt idx="235">
                  <c:v>7</c:v>
                </c:pt>
                <c:pt idx="236">
                  <c:v>7</c:v>
                </c:pt>
                <c:pt idx="237">
                  <c:v>7</c:v>
                </c:pt>
                <c:pt idx="238">
                  <c:v>8</c:v>
                </c:pt>
                <c:pt idx="239">
                  <c:v>6</c:v>
                </c:pt>
                <c:pt idx="240">
                  <c:v>3</c:v>
                </c:pt>
                <c:pt idx="241">
                  <c:v>6</c:v>
                </c:pt>
                <c:pt idx="242">
                  <c:v>9</c:v>
                </c:pt>
                <c:pt idx="243">
                  <c:v>7</c:v>
                </c:pt>
                <c:pt idx="244">
                  <c:v>8</c:v>
                </c:pt>
                <c:pt idx="245">
                  <c:v>7</c:v>
                </c:pt>
                <c:pt idx="246">
                  <c:v>5</c:v>
                </c:pt>
                <c:pt idx="247">
                  <c:v>7</c:v>
                </c:pt>
                <c:pt idx="248">
                  <c:v>4</c:v>
                </c:pt>
                <c:pt idx="249">
                  <c:v>3</c:v>
                </c:pt>
                <c:pt idx="250">
                  <c:v>9</c:v>
                </c:pt>
                <c:pt idx="251">
                  <c:v>7</c:v>
                </c:pt>
                <c:pt idx="252">
                  <c:v>8</c:v>
                </c:pt>
                <c:pt idx="253">
                  <c:v>6</c:v>
                </c:pt>
                <c:pt idx="254">
                  <c:v>4</c:v>
                </c:pt>
                <c:pt idx="255">
                  <c:v>5</c:v>
                </c:pt>
                <c:pt idx="256">
                  <c:v>4</c:v>
                </c:pt>
                <c:pt idx="257">
                  <c:v>8</c:v>
                </c:pt>
                <c:pt idx="258">
                  <c:v>5</c:v>
                </c:pt>
                <c:pt idx="259">
                  <c:v>7</c:v>
                </c:pt>
                <c:pt idx="260">
                  <c:v>6</c:v>
                </c:pt>
                <c:pt idx="261">
                  <c:v>5</c:v>
                </c:pt>
                <c:pt idx="262">
                  <c:v>7</c:v>
                </c:pt>
                <c:pt idx="263">
                  <c:v>8</c:v>
                </c:pt>
                <c:pt idx="264">
                  <c:v>6</c:v>
                </c:pt>
                <c:pt idx="265">
                  <c:v>9</c:v>
                </c:pt>
                <c:pt idx="266">
                  <c:v>5</c:v>
                </c:pt>
                <c:pt idx="267">
                  <c:v>8</c:v>
                </c:pt>
                <c:pt idx="268">
                  <c:v>4</c:v>
                </c:pt>
                <c:pt idx="269">
                  <c:v>6</c:v>
                </c:pt>
                <c:pt idx="270">
                  <c:v>4</c:v>
                </c:pt>
                <c:pt idx="271">
                  <c:v>6</c:v>
                </c:pt>
                <c:pt idx="272">
                  <c:v>6</c:v>
                </c:pt>
                <c:pt idx="273">
                  <c:v>7</c:v>
                </c:pt>
                <c:pt idx="274">
                  <c:v>7</c:v>
                </c:pt>
                <c:pt idx="275">
                  <c:v>5</c:v>
                </c:pt>
                <c:pt idx="276">
                  <c:v>5</c:v>
                </c:pt>
                <c:pt idx="277">
                  <c:v>5</c:v>
                </c:pt>
                <c:pt idx="278">
                  <c:v>6</c:v>
                </c:pt>
                <c:pt idx="279">
                  <c:v>7</c:v>
                </c:pt>
                <c:pt idx="280">
                  <c:v>5</c:v>
                </c:pt>
                <c:pt idx="281">
                  <c:v>6</c:v>
                </c:pt>
                <c:pt idx="282">
                  <c:v>6</c:v>
                </c:pt>
                <c:pt idx="283">
                  <c:v>4</c:v>
                </c:pt>
                <c:pt idx="284">
                  <c:v>6</c:v>
                </c:pt>
                <c:pt idx="285">
                  <c:v>8</c:v>
                </c:pt>
                <c:pt idx="286">
                  <c:v>4</c:v>
                </c:pt>
                <c:pt idx="287">
                  <c:v>8</c:v>
                </c:pt>
                <c:pt idx="288">
                  <c:v>7</c:v>
                </c:pt>
                <c:pt idx="289">
                  <c:v>3</c:v>
                </c:pt>
                <c:pt idx="290">
                  <c:v>5</c:v>
                </c:pt>
                <c:pt idx="291">
                  <c:v>5</c:v>
                </c:pt>
                <c:pt idx="292">
                  <c:v>7</c:v>
                </c:pt>
                <c:pt idx="293">
                  <c:v>5</c:v>
                </c:pt>
                <c:pt idx="294">
                  <c:v>6</c:v>
                </c:pt>
                <c:pt idx="295">
                  <c:v>6</c:v>
                </c:pt>
                <c:pt idx="296">
                  <c:v>8</c:v>
                </c:pt>
                <c:pt idx="297">
                  <c:v>8</c:v>
                </c:pt>
                <c:pt idx="298">
                  <c:v>7</c:v>
                </c:pt>
                <c:pt idx="299">
                  <c:v>4</c:v>
                </c:pt>
                <c:pt idx="300">
                  <c:v>7</c:v>
                </c:pt>
                <c:pt idx="301">
                  <c:v>6</c:v>
                </c:pt>
                <c:pt idx="302">
                  <c:v>5</c:v>
                </c:pt>
                <c:pt idx="303">
                  <c:v>8</c:v>
                </c:pt>
                <c:pt idx="304">
                  <c:v>6</c:v>
                </c:pt>
                <c:pt idx="305">
                  <c:v>4</c:v>
                </c:pt>
                <c:pt idx="306">
                  <c:v>6</c:v>
                </c:pt>
                <c:pt idx="307">
                  <c:v>3</c:v>
                </c:pt>
                <c:pt idx="308">
                  <c:v>8</c:v>
                </c:pt>
                <c:pt idx="309">
                  <c:v>9</c:v>
                </c:pt>
                <c:pt idx="310">
                  <c:v>5</c:v>
                </c:pt>
                <c:pt idx="311">
                  <c:v>4</c:v>
                </c:pt>
                <c:pt idx="312">
                  <c:v>4</c:v>
                </c:pt>
                <c:pt idx="313">
                  <c:v>4</c:v>
                </c:pt>
                <c:pt idx="314">
                  <c:v>4</c:v>
                </c:pt>
                <c:pt idx="315">
                  <c:v>5</c:v>
                </c:pt>
                <c:pt idx="316">
                  <c:v>6</c:v>
                </c:pt>
                <c:pt idx="317">
                  <c:v>7</c:v>
                </c:pt>
                <c:pt idx="318">
                  <c:v>6</c:v>
                </c:pt>
                <c:pt idx="319">
                  <c:v>8</c:v>
                </c:pt>
                <c:pt idx="320">
                  <c:v>8</c:v>
                </c:pt>
                <c:pt idx="321">
                  <c:v>8</c:v>
                </c:pt>
                <c:pt idx="322">
                  <c:v>5</c:v>
                </c:pt>
                <c:pt idx="323">
                  <c:v>5</c:v>
                </c:pt>
                <c:pt idx="324">
                  <c:v>6</c:v>
                </c:pt>
                <c:pt idx="325">
                  <c:v>8</c:v>
                </c:pt>
                <c:pt idx="326">
                  <c:v>7</c:v>
                </c:pt>
                <c:pt idx="327">
                  <c:v>5</c:v>
                </c:pt>
                <c:pt idx="328">
                  <c:v>5</c:v>
                </c:pt>
                <c:pt idx="329">
                  <c:v>8</c:v>
                </c:pt>
                <c:pt idx="330">
                  <c:v>3</c:v>
                </c:pt>
                <c:pt idx="331">
                  <c:v>7</c:v>
                </c:pt>
                <c:pt idx="332">
                  <c:v>5</c:v>
                </c:pt>
                <c:pt idx="333">
                  <c:v>5</c:v>
                </c:pt>
                <c:pt idx="334">
                  <c:v>3</c:v>
                </c:pt>
                <c:pt idx="335">
                  <c:v>6</c:v>
                </c:pt>
                <c:pt idx="336">
                  <c:v>5</c:v>
                </c:pt>
                <c:pt idx="337">
                  <c:v>9</c:v>
                </c:pt>
                <c:pt idx="338">
                  <c:v>6</c:v>
                </c:pt>
                <c:pt idx="339">
                  <c:v>5</c:v>
                </c:pt>
                <c:pt idx="340">
                  <c:v>3</c:v>
                </c:pt>
                <c:pt idx="341">
                  <c:v>7</c:v>
                </c:pt>
                <c:pt idx="342">
                  <c:v>4</c:v>
                </c:pt>
                <c:pt idx="343">
                  <c:v>5</c:v>
                </c:pt>
                <c:pt idx="344">
                  <c:v>4</c:v>
                </c:pt>
                <c:pt idx="345">
                  <c:v>7</c:v>
                </c:pt>
                <c:pt idx="346">
                  <c:v>5</c:v>
                </c:pt>
                <c:pt idx="347">
                  <c:v>5</c:v>
                </c:pt>
                <c:pt idx="348">
                  <c:v>5</c:v>
                </c:pt>
                <c:pt idx="349">
                  <c:v>6</c:v>
                </c:pt>
                <c:pt idx="350">
                  <c:v>5</c:v>
                </c:pt>
                <c:pt idx="351">
                  <c:v>7</c:v>
                </c:pt>
                <c:pt idx="352">
                  <c:v>7</c:v>
                </c:pt>
                <c:pt idx="353">
                  <c:v>3</c:v>
                </c:pt>
                <c:pt idx="354">
                  <c:v>8</c:v>
                </c:pt>
                <c:pt idx="355">
                  <c:v>3</c:v>
                </c:pt>
                <c:pt idx="356">
                  <c:v>6</c:v>
                </c:pt>
                <c:pt idx="357">
                  <c:v>5</c:v>
                </c:pt>
                <c:pt idx="358">
                  <c:v>7</c:v>
                </c:pt>
                <c:pt idx="359">
                  <c:v>9</c:v>
                </c:pt>
                <c:pt idx="360">
                  <c:v>6</c:v>
                </c:pt>
                <c:pt idx="361">
                  <c:v>6</c:v>
                </c:pt>
                <c:pt idx="362">
                  <c:v>6</c:v>
                </c:pt>
                <c:pt idx="363">
                  <c:v>6</c:v>
                </c:pt>
              </c:numCache>
            </c:numRef>
          </c:yVal>
          <c:smooth val="0"/>
          <c:extLst>
            <c:ext xmlns:c16="http://schemas.microsoft.com/office/drawing/2014/chart" uri="{C3380CC4-5D6E-409C-BE32-E72D297353CC}">
              <c16:uniqueId val="{00000002-FF45-4A13-9301-A116B0DCE96E}"/>
            </c:ext>
          </c:extLst>
        </c:ser>
        <c:dLbls>
          <c:showLegendKey val="0"/>
          <c:showVal val="0"/>
          <c:showCatName val="0"/>
          <c:showSerName val="0"/>
          <c:showPercent val="0"/>
          <c:showBubbleSize val="0"/>
        </c:dLbls>
        <c:axId val="1424111136"/>
        <c:axId val="1424106336"/>
      </c:scatterChart>
      <c:valAx>
        <c:axId val="142411113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DM Sans" pitchFamily="2" charset="0"/>
                    <a:ea typeface="+mn-ea"/>
                    <a:cs typeface="+mn-cs"/>
                  </a:defRPr>
                </a:pPr>
                <a:r>
                  <a:rPr lang="en-US">
                    <a:latin typeface="DM Sans" pitchFamily="2" charset="0"/>
                  </a:rPr>
                  <a:t>Clicks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DM Sans" pitchFamily="2"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4106336"/>
        <c:crosses val="autoZero"/>
        <c:crossBetween val="midCat"/>
      </c:valAx>
      <c:valAx>
        <c:axId val="14241063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DM Sans" pitchFamily="2" charset="0"/>
                    <a:ea typeface="+mn-ea"/>
                    <a:cs typeface="+mn-cs"/>
                  </a:defRPr>
                </a:pPr>
                <a:r>
                  <a:rPr lang="en-US">
                    <a:latin typeface="DM Sans" pitchFamily="2" charset="0"/>
                  </a:rPr>
                  <a:t>Conversion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DM Sans" pitchFamily="2"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4111136"/>
        <c:crosses val="autoZero"/>
        <c:crossBetween val="midCat"/>
      </c:valAx>
      <c:spPr>
        <a:noFill/>
        <a:ln>
          <a:noFill/>
        </a:ln>
        <a:effectLst/>
      </c:spPr>
    </c:plotArea>
    <c:legend>
      <c:legendPos val="r"/>
      <c:legendEntry>
        <c:idx val="1"/>
        <c:delete val="1"/>
      </c:legendEntry>
      <c:legendEntry>
        <c:idx val="2"/>
        <c:delete val="1"/>
      </c:legendEntry>
      <c:layout>
        <c:manualLayout>
          <c:xMode val="edge"/>
          <c:yMode val="edge"/>
          <c:x val="0.82435971958746734"/>
          <c:y val="0.33252376118234772"/>
          <c:w val="0.15787317222623265"/>
          <c:h val="0.2249293812476063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DM Sans"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'Week 2 Analysis'!$B$2:$B$366</cx:f>
        <cx:lvl ptCount="365" formatCode="0.00">
          <cx:pt idx="0">18</cx:pt>
          <cx:pt idx="1">36</cx:pt>
          <cx:pt idx="2">26</cx:pt>
          <cx:pt idx="3">27</cx:pt>
          <cx:pt idx="4">15</cx:pt>
          <cx:pt idx="5">37</cx:pt>
          <cx:pt idx="6">49</cx:pt>
          <cx:pt idx="7">49</cx:pt>
          <cx:pt idx="8">36</cx:pt>
          <cx:pt idx="9">41</cx:pt>
          <cx:pt idx="10">51</cx:pt>
          <cx:pt idx="11">56</cx:pt>
          <cx:pt idx="12">48</cx:pt>
          <cx:pt idx="13">42</cx:pt>
          <cx:pt idx="14">56</cx:pt>
          <cx:pt idx="15">31</cx:pt>
          <cx:pt idx="16">28</cx:pt>
          <cx:pt idx="17">40</cx:pt>
          <cx:pt idx="18">30</cx:pt>
          <cx:pt idx="19">50</cx:pt>
          <cx:pt idx="20">33</cx:pt>
          <cx:pt idx="21">46</cx:pt>
          <cx:pt idx="22">28</cx:pt>
          <cx:pt idx="23">43</cx:pt>
          <cx:pt idx="24">52</cx:pt>
          <cx:pt idx="25">24</cx:pt>
          <cx:pt idx="26">45</cx:pt>
          <cx:pt idx="27">55</cx:pt>
          <cx:pt idx="28">43</cx:pt>
          <cx:pt idx="29">28</cx:pt>
          <cx:pt idx="30">31</cx:pt>
          <cx:pt idx="31">25</cx:pt>
          <cx:pt idx="32">26</cx:pt>
          <cx:pt idx="33">25</cx:pt>
          <cx:pt idx="34">56</cx:pt>
          <cx:pt idx="35">41</cx:pt>
          <cx:pt idx="36">34</cx:pt>
          <cx:pt idx="37">31</cx:pt>
          <cx:pt idx="38">41</cx:pt>
          <cx:pt idx="39">41</cx:pt>
          <cx:pt idx="40">35</cx:pt>
          <cx:pt idx="41">29</cx:pt>
          <cx:pt idx="42">54</cx:pt>
          <cx:pt idx="43">40</cx:pt>
          <cx:pt idx="44">31</cx:pt>
          <cx:pt idx="45">42</cx:pt>
          <cx:pt idx="46">26</cx:pt>
          <cx:pt idx="47">31</cx:pt>
          <cx:pt idx="48">31</cx:pt>
          <cx:pt idx="49">48</cx:pt>
          <cx:pt idx="50">34</cx:pt>
          <cx:pt idx="51">32</cx:pt>
          <cx:pt idx="52">48</cx:pt>
          <cx:pt idx="53">28</cx:pt>
          <cx:pt idx="54">51</cx:pt>
          <cx:pt idx="55">44</cx:pt>
          <cx:pt idx="56">35</cx:pt>
          <cx:pt idx="57">55</cx:pt>
          <cx:pt idx="58">54</cx:pt>
          <cx:pt idx="59">46</cx:pt>
          <cx:pt idx="60">57</cx:pt>
          <cx:pt idx="61">28</cx:pt>
          <cx:pt idx="62">40</cx:pt>
          <cx:pt idx="63">43</cx:pt>
          <cx:pt idx="64">51</cx:pt>
          <cx:pt idx="65">44</cx:pt>
          <cx:pt idx="66">24</cx:pt>
          <cx:pt idx="67">29</cx:pt>
          <cx:pt idx="68">22</cx:pt>
          <cx:pt idx="69">59</cx:pt>
          <cx:pt idx="70">43</cx:pt>
          <cx:pt idx="71">61</cx:pt>
          <cx:pt idx="72">54</cx:pt>
          <cx:pt idx="73">39</cx:pt>
          <cx:pt idx="74">33</cx:pt>
          <cx:pt idx="75">32</cx:pt>
          <cx:pt idx="76">59</cx:pt>
          <cx:pt idx="77">28</cx:pt>
          <cx:pt idx="78">37</cx:pt>
          <cx:pt idx="79">48</cx:pt>
          <cx:pt idx="80">35</cx:pt>
          <cx:pt idx="81">36</cx:pt>
          <cx:pt idx="82">54</cx:pt>
          <cx:pt idx="83">41</cx:pt>
          <cx:pt idx="84">40</cx:pt>
          <cx:pt idx="85">36</cx:pt>
          <cx:pt idx="86">39</cx:pt>
          <cx:pt idx="87">25</cx:pt>
          <cx:pt idx="88">41</cx:pt>
          <cx:pt idx="89">42</cx:pt>
          <cx:pt idx="90">30</cx:pt>
          <cx:pt idx="91">39</cx:pt>
          <cx:pt idx="92">34</cx:pt>
          <cx:pt idx="93">52</cx:pt>
          <cx:pt idx="94">53</cx:pt>
          <cx:pt idx="95">35</cx:pt>
          <cx:pt idx="96">44</cx:pt>
          <cx:pt idx="97">26</cx:pt>
          <cx:pt idx="98">40</cx:pt>
          <cx:pt idx="99">57</cx:pt>
          <cx:pt idx="100">36</cx:pt>
          <cx:pt idx="101">22</cx:pt>
          <cx:pt idx="102">43</cx:pt>
          <cx:pt idx="103">57</cx:pt>
          <cx:pt idx="104">39</cx:pt>
          <cx:pt idx="105">36</cx:pt>
          <cx:pt idx="106">58</cx:pt>
          <cx:pt idx="107">36</cx:pt>
          <cx:pt idx="108">33</cx:pt>
          <cx:pt idx="109">43</cx:pt>
          <cx:pt idx="110">62</cx:pt>
          <cx:pt idx="111">45</cx:pt>
          <cx:pt idx="112">51</cx:pt>
          <cx:pt idx="113">19</cx:pt>
          <cx:pt idx="114">39</cx:pt>
          <cx:pt idx="115">59</cx:pt>
          <cx:pt idx="116">53</cx:pt>
          <cx:pt idx="117">36</cx:pt>
          <cx:pt idx="118">31</cx:pt>
          <cx:pt idx="119">21</cx:pt>
          <cx:pt idx="120">52</cx:pt>
          <cx:pt idx="121">54</cx:pt>
          <cx:pt idx="122">35</cx:pt>
          <cx:pt idx="123">48</cx:pt>
          <cx:pt idx="124">53</cx:pt>
          <cx:pt idx="125">25</cx:pt>
          <cx:pt idx="126">25</cx:pt>
          <cx:pt idx="127">58</cx:pt>
          <cx:pt idx="128">41</cx:pt>
          <cx:pt idx="129">47</cx:pt>
          <cx:pt idx="130">34</cx:pt>
          <cx:pt idx="131">42</cx:pt>
          <cx:pt idx="132">33</cx:pt>
          <cx:pt idx="133">54</cx:pt>
          <cx:pt idx="134">44</cx:pt>
          <cx:pt idx="135">50</cx:pt>
          <cx:pt idx="136">59</cx:pt>
          <cx:pt idx="137">23</cx:pt>
          <cx:pt idx="138">59</cx:pt>
          <cx:pt idx="139">36</cx:pt>
          <cx:pt idx="140">42</cx:pt>
          <cx:pt idx="141">29</cx:pt>
          <cx:pt idx="142">26</cx:pt>
          <cx:pt idx="143">23</cx:pt>
          <cx:pt idx="144">48</cx:pt>
          <cx:pt idx="145">46</cx:pt>
          <cx:pt idx="146">37</cx:pt>
          <cx:pt idx="147">36</cx:pt>
          <cx:pt idx="148">37</cx:pt>
          <cx:pt idx="149">41</cx:pt>
          <cx:pt idx="150">23</cx:pt>
          <cx:pt idx="151">40</cx:pt>
          <cx:pt idx="152">35</cx:pt>
          <cx:pt idx="153">61</cx:pt>
          <cx:pt idx="154">36</cx:pt>
          <cx:pt idx="155">48</cx:pt>
          <cx:pt idx="156">22</cx:pt>
          <cx:pt idx="157">46</cx:pt>
          <cx:pt idx="158">56</cx:pt>
          <cx:pt idx="159">35</cx:pt>
          <cx:pt idx="160">29</cx:pt>
          <cx:pt idx="161">44</cx:pt>
          <cx:pt idx="162">40</cx:pt>
          <cx:pt idx="163">50</cx:pt>
          <cx:pt idx="164">31</cx:pt>
          <cx:pt idx="165">33</cx:pt>
          <cx:pt idx="166">39</cx:pt>
          <cx:pt idx="167">54</cx:pt>
          <cx:pt idx="168">54</cx:pt>
          <cx:pt idx="169">30</cx:pt>
          <cx:pt idx="170">58</cx:pt>
          <cx:pt idx="171">36</cx:pt>
          <cx:pt idx="172">34</cx:pt>
          <cx:pt idx="173">33</cx:pt>
          <cx:pt idx="174">53</cx:pt>
          <cx:pt idx="175">48</cx:pt>
          <cx:pt idx="176">40</cx:pt>
          <cx:pt idx="177">39</cx:pt>
          <cx:pt idx="178">34</cx:pt>
          <cx:pt idx="179">46</cx:pt>
          <cx:pt idx="180">55</cx:pt>
          <cx:pt idx="181">42</cx:pt>
          <cx:pt idx="182">31</cx:pt>
          <cx:pt idx="183">30</cx:pt>
          <cx:pt idx="184">47</cx:pt>
          <cx:pt idx="185">40</cx:pt>
          <cx:pt idx="186">33</cx:pt>
          <cx:pt idx="187">46</cx:pt>
          <cx:pt idx="188">53</cx:pt>
          <cx:pt idx="189">39</cx:pt>
          <cx:pt idx="190">56</cx:pt>
          <cx:pt idx="191">55</cx:pt>
          <cx:pt idx="192">39</cx:pt>
          <cx:pt idx="193">50</cx:pt>
          <cx:pt idx="194">27</cx:pt>
          <cx:pt idx="195">65</cx:pt>
          <cx:pt idx="196">54</cx:pt>
          <cx:pt idx="197">56</cx:pt>
          <cx:pt idx="198">36</cx:pt>
          <cx:pt idx="199">30</cx:pt>
          <cx:pt idx="200">62</cx:pt>
          <cx:pt idx="201">36</cx:pt>
          <cx:pt idx="202">54</cx:pt>
          <cx:pt idx="203">60</cx:pt>
          <cx:pt idx="204">49</cx:pt>
          <cx:pt idx="205">64</cx:pt>
          <cx:pt idx="206">42</cx:pt>
          <cx:pt idx="207">60</cx:pt>
          <cx:pt idx="208">40</cx:pt>
          <cx:pt idx="209">38</cx:pt>
          <cx:pt idx="210">46</cx:pt>
          <cx:pt idx="211">51</cx:pt>
          <cx:pt idx="212">66</cx:pt>
          <cx:pt idx="213">53</cx:pt>
          <cx:pt idx="214">35</cx:pt>
          <cx:pt idx="215">23</cx:pt>
          <cx:pt idx="216">33</cx:pt>
          <cx:pt idx="217">55</cx:pt>
          <cx:pt idx="218">58</cx:pt>
          <cx:pt idx="219">36</cx:pt>
          <cx:pt idx="220">42</cx:pt>
          <cx:pt idx="221">52</cx:pt>
          <cx:pt idx="222">35</cx:pt>
          <cx:pt idx="223">34</cx:pt>
          <cx:pt idx="224">45</cx:pt>
          <cx:pt idx="225">26</cx:pt>
          <cx:pt idx="226">23</cx:pt>
          <cx:pt idx="227">56</cx:pt>
          <cx:pt idx="228">47</cx:pt>
          <cx:pt idx="229">51</cx:pt>
          <cx:pt idx="230">34</cx:pt>
          <cx:pt idx="231">59</cx:pt>
          <cx:pt idx="232">41</cx:pt>
          <cx:pt idx="233">40</cx:pt>
          <cx:pt idx="234">35</cx:pt>
          <cx:pt idx="235">40</cx:pt>
          <cx:pt idx="236">29</cx:pt>
          <cx:pt idx="237">28</cx:pt>
          <cx:pt idx="238">51</cx:pt>
          <cx:pt idx="239">41</cx:pt>
          <cx:pt idx="240">32</cx:pt>
          <cx:pt idx="241">39</cx:pt>
          <cx:pt idx="242">63</cx:pt>
          <cx:pt idx="243">42</cx:pt>
          <cx:pt idx="244">51</cx:pt>
          <cx:pt idx="245">29</cx:pt>
          <cx:pt idx="246">63</cx:pt>
          <cx:pt idx="247">33</cx:pt>
          <cx:pt idx="248">56</cx:pt>
          <cx:pt idx="249">54</cx:pt>
          <cx:pt idx="250">37</cx:pt>
          <cx:pt idx="251">60</cx:pt>
          <cx:pt idx="252">56</cx:pt>
          <cx:pt idx="253">65</cx:pt>
          <cx:pt idx="254">33</cx:pt>
          <cx:pt idx="255">40</cx:pt>
          <cx:pt idx="256">44</cx:pt>
          <cx:pt idx="257">30</cx:pt>
          <cx:pt idx="258">43</cx:pt>
          <cx:pt idx="259">56</cx:pt>
          <cx:pt idx="260">53</cx:pt>
          <cx:pt idx="261">57</cx:pt>
          <cx:pt idx="262">57</cx:pt>
          <cx:pt idx="263">38</cx:pt>
          <cx:pt idx="264">36</cx:pt>
          <cx:pt idx="265">34</cx:pt>
          <cx:pt idx="266">36</cx:pt>
          <cx:pt idx="267">47</cx:pt>
          <cx:pt idx="268">57</cx:pt>
          <cx:pt idx="269">62</cx:pt>
          <cx:pt idx="270">30</cx:pt>
          <cx:pt idx="271">61</cx:pt>
          <cx:pt idx="272">52</cx:pt>
          <cx:pt idx="273">62</cx:pt>
          <cx:pt idx="274">56</cx:pt>
          <cx:pt idx="275">58</cx:pt>
          <cx:pt idx="276">69</cx:pt>
          <cx:pt idx="277">57</cx:pt>
          <cx:pt idx="278">25</cx:pt>
          <cx:pt idx="279">35</cx:pt>
          <cx:pt idx="280">42</cx:pt>
          <cx:pt idx="281">55</cx:pt>
          <cx:pt idx="282">36</cx:pt>
          <cx:pt idx="283">28</cx:pt>
          <cx:pt idx="284">39</cx:pt>
          <cx:pt idx="285">36</cx:pt>
          <cx:pt idx="286">58</cx:pt>
          <cx:pt idx="287">44</cx:pt>
          <cx:pt idx="288">51</cx:pt>
          <cx:pt idx="289">46</cx:pt>
          <cx:pt idx="290">51</cx:pt>
          <cx:pt idx="291">53</cx:pt>
          <cx:pt idx="292">49</cx:pt>
          <cx:pt idx="293">65</cx:pt>
          <cx:pt idx="294">63</cx:pt>
          <cx:pt idx="295">70</cx:pt>
          <cx:pt idx="296">43</cx:pt>
          <cx:pt idx="297">46</cx:pt>
          <cx:pt idx="298">62</cx:pt>
          <cx:pt idx="299">56</cx:pt>
          <cx:pt idx="300">54</cx:pt>
          <cx:pt idx="301">34</cx:pt>
          <cx:pt idx="302">64</cx:pt>
          <cx:pt idx="303">64</cx:pt>
          <cx:pt idx="304">71</cx:pt>
          <cx:pt idx="305">28</cx:pt>
          <cx:pt idx="306">39</cx:pt>
          <cx:pt idx="307">53</cx:pt>
          <cx:pt idx="308">35</cx:pt>
          <cx:pt idx="309">46</cx:pt>
          <cx:pt idx="310">33</cx:pt>
          <cx:pt idx="311">40</cx:pt>
          <cx:pt idx="312">38</cx:pt>
          <cx:pt idx="313">57</cx:pt>
          <cx:pt idx="314">65</cx:pt>
          <cx:pt idx="315">61</cx:pt>
          <cx:pt idx="316">43</cx:pt>
          <cx:pt idx="317">48</cx:pt>
          <cx:pt idx="318">64</cx:pt>
          <cx:pt idx="319">37</cx:pt>
          <cx:pt idx="320">51</cx:pt>
          <cx:pt idx="321">59</cx:pt>
          <cx:pt idx="322">59</cx:pt>
          <cx:pt idx="323">34</cx:pt>
          <cx:pt idx="324">57</cx:pt>
          <cx:pt idx="325">36</cx:pt>
          <cx:pt idx="326">57</cx:pt>
          <cx:pt idx="327">55</cx:pt>
          <cx:pt idx="328">32</cx:pt>
          <cx:pt idx="329">56</cx:pt>
          <cx:pt idx="330">68</cx:pt>
          <cx:pt idx="331">49</cx:pt>
          <cx:pt idx="332">40</cx:pt>
          <cx:pt idx="333">56</cx:pt>
          <cx:pt idx="334">59</cx:pt>
          <cx:pt idx="335">37</cx:pt>
          <cx:pt idx="336">67</cx:pt>
          <cx:pt idx="337">36</cx:pt>
          <cx:pt idx="338">33</cx:pt>
          <cx:pt idx="339">37</cx:pt>
          <cx:pt idx="340">45</cx:pt>
          <cx:pt idx="341">67</cx:pt>
          <cx:pt idx="342">36</cx:pt>
          <cx:pt idx="343">67</cx:pt>
          <cx:pt idx="344">61</cx:pt>
          <cx:pt idx="345">53</cx:pt>
          <cx:pt idx="346">64</cx:pt>
          <cx:pt idx="347">46</cx:pt>
          <cx:pt idx="348">45</cx:pt>
          <cx:pt idx="349">72</cx:pt>
          <cx:pt idx="350">40</cx:pt>
          <cx:pt idx="351">54</cx:pt>
          <cx:pt idx="352">58</cx:pt>
          <cx:pt idx="353">39</cx:pt>
          <cx:pt idx="354">62</cx:pt>
          <cx:pt idx="355">73</cx:pt>
          <cx:pt idx="356">48</cx:pt>
          <cx:pt idx="357">63</cx:pt>
          <cx:pt idx="358">63</cx:pt>
          <cx:pt idx="359">33</cx:pt>
          <cx:pt idx="360">51</cx:pt>
          <cx:pt idx="361">69</cx:pt>
          <cx:pt idx="362">44</cx:pt>
          <cx:pt idx="363">37</cx:pt>
          <cx:pt idx="364">60</cx:pt>
        </cx:lvl>
      </cx:numDim>
    </cx:data>
  </cx:chartData>
  <cx:chart>
    <cx:title pos="t" align="ctr" overlay="0">
      <cx:tx>
        <cx:rich>
          <a:bodyPr spcFirstLastPara="1" vertOverflow="ellipsis" horzOverflow="overflow" wrap="square" lIns="0" tIns="0" rIns="0" bIns="0" anchor="ctr" anchorCtr="1"/>
          <a:lstStyle/>
          <a:p>
            <a:pPr algn="ctr" rtl="0">
              <a:defRPr/>
            </a:pPr>
            <a:r>
              <a:rPr lang="en-US" sz="1400" b="0" i="0" u="none" strike="noStrike" baseline="0" dirty="0">
                <a:solidFill>
                  <a:srgbClr val="000000">
                    <a:lumMod val="65000"/>
                    <a:lumOff val="35000"/>
                  </a:srgbClr>
                </a:solidFill>
                <a:latin typeface="DM Sans" pitchFamily="2" charset="0"/>
                <a:cs typeface="Arial"/>
              </a:rPr>
              <a:t>Distribution of </a:t>
            </a:r>
            <a:r>
              <a:rPr lang="en-US" sz="1400" b="0" i="0" u="none" strike="noStrike" baseline="0" dirty="0">
                <a:solidFill>
                  <a:srgbClr val="000000">
                    <a:lumMod val="65000"/>
                    <a:lumOff val="35000"/>
                  </a:srgbClr>
                </a:solidFill>
                <a:effectLst/>
                <a:latin typeface="DM Sans" pitchFamily="2" charset="0"/>
                <a:ea typeface="Arial"/>
                <a:cs typeface="Arial"/>
              </a:rPr>
              <a:t>Facebook Ad </a:t>
            </a:r>
            <a:r>
              <a:rPr lang="en-US" sz="1400" b="0" i="0" u="none" strike="noStrike" baseline="0" dirty="0">
                <a:solidFill>
                  <a:srgbClr val="000000">
                    <a:lumMod val="65000"/>
                    <a:lumOff val="35000"/>
                  </a:srgbClr>
                </a:solidFill>
                <a:latin typeface="DM Sans" pitchFamily="2" charset="0"/>
                <a:cs typeface="Arial"/>
              </a:rPr>
              <a:t>Clicks </a:t>
            </a:r>
          </a:p>
        </cx:rich>
      </cx:tx>
    </cx:title>
    <cx:plotArea>
      <cx:plotAreaRegion>
        <cx:series layoutId="clusteredColumn" uniqueId="{06BF55AB-A205-4A28-9A07-3F54B2BA8F28}">
          <cx:tx>
            <cx:txData>
              <cx:f>'Week 2 Analysis'!$B$1</cx:f>
              <cx:v>Facebook Ad Clicks</cx:v>
            </cx:txData>
          </cx:tx>
          <cx:dataLabels>
            <cx:visibility seriesName="0" categoryName="0" value="1"/>
          </cx:dataLabels>
          <cx:dataId val="0"/>
          <cx:layoutPr>
            <cx:binning intervalClosed="r">
              <cx:binSize val="10"/>
            </cx:binning>
          </cx:layoutPr>
        </cx:series>
      </cx:plotAreaRegion>
      <cx:axis id="0">
        <cx:catScaling gapWidth="0"/>
        <cx:tickLabels/>
        <cx:numFmt formatCode="0" sourceLinked="0"/>
      </cx:axis>
      <cx:axis id="1">
        <cx:valScaling/>
        <cx:majorGridlines/>
        <cx:tickLabels/>
      </cx:axis>
    </cx:plotArea>
  </cx:chart>
  <cx:spPr>
    <a:ln>
      <a:solidFill>
        <a:schemeClr val="accent5"/>
      </a:solidFill>
    </a:ln>
  </cx:spPr>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'Week 2 Analysis'!$C$2:$C$366</cx:f>
        <cx:lvl ptCount="365" formatCode="General">
          <cx:pt idx="0">8</cx:pt>
          <cx:pt idx="1">12</cx:pt>
          <cx:pt idx="2">8</cx:pt>
          <cx:pt idx="3">9</cx:pt>
          <cx:pt idx="4">7</cx:pt>
          <cx:pt idx="5">10</cx:pt>
          <cx:pt idx="6">15</cx:pt>
          <cx:pt idx="7">12</cx:pt>
          <cx:pt idx="8">12</cx:pt>
          <cx:pt idx="9">13</cx:pt>
          <cx:pt idx="10">14</cx:pt>
          <cx:pt idx="11">14</cx:pt>
          <cx:pt idx="12">12</cx:pt>
          <cx:pt idx="13">11</cx:pt>
          <cx:pt idx="14">12</cx:pt>
          <cx:pt idx="15">7</cx:pt>
          <cx:pt idx="16">10</cx:pt>
          <cx:pt idx="17">13</cx:pt>
          <cx:pt idx="18">8</cx:pt>
          <cx:pt idx="19">13</cx:pt>
          <cx:pt idx="20">8</cx:pt>
          <cx:pt idx="21">12</cx:pt>
          <cx:pt idx="22">10</cx:pt>
          <cx:pt idx="23">12</cx:pt>
          <cx:pt idx="24">13</cx:pt>
          <cx:pt idx="25">6</cx:pt>
          <cx:pt idx="26">11</cx:pt>
          <cx:pt idx="27">13</cx:pt>
          <cx:pt idx="28">11</cx:pt>
          <cx:pt idx="29">11</cx:pt>
          <cx:pt idx="30">7</cx:pt>
          <cx:pt idx="31">9</cx:pt>
          <cx:pt idx="32">7</cx:pt>
          <cx:pt idx="33">10</cx:pt>
          <cx:pt idx="34">13</cx:pt>
          <cx:pt idx="35">11</cx:pt>
          <cx:pt idx="36">9</cx:pt>
          <cx:pt idx="37">10</cx:pt>
          <cx:pt idx="38">13</cx:pt>
          <cx:pt idx="39">13</cx:pt>
          <cx:pt idx="40">12</cx:pt>
          <cx:pt idx="41">9</cx:pt>
          <cx:pt idx="42">16</cx:pt>
          <cx:pt idx="43">10</cx:pt>
          <cx:pt idx="44">8</cx:pt>
          <cx:pt idx="45">10</cx:pt>
          <cx:pt idx="46">7</cx:pt>
          <cx:pt idx="47">10</cx:pt>
          <cx:pt idx="48">9</cx:pt>
          <cx:pt idx="49">11</cx:pt>
          <cx:pt idx="50">11</cx:pt>
          <cx:pt idx="51">8</cx:pt>
          <cx:pt idx="52">11</cx:pt>
          <cx:pt idx="53">7</cx:pt>
          <cx:pt idx="54">14</cx:pt>
          <cx:pt idx="55">11</cx:pt>
          <cx:pt idx="56">12</cx:pt>
          <cx:pt idx="57">15</cx:pt>
          <cx:pt idx="58">12</cx:pt>
          <cx:pt idx="59">12</cx:pt>
          <cx:pt idx="60">15</cx:pt>
          <cx:pt idx="61">8</cx:pt>
          <cx:pt idx="62">11</cx:pt>
          <cx:pt idx="63">13</cx:pt>
          <cx:pt idx="64">14</cx:pt>
          <cx:pt idx="65">13</cx:pt>
          <cx:pt idx="66">10</cx:pt>
          <cx:pt idx="67">9</cx:pt>
          <cx:pt idx="68">5</cx:pt>
          <cx:pt idx="69">15</cx:pt>
          <cx:pt idx="70">10</cx:pt>
          <cx:pt idx="71">17</cx:pt>
          <cx:pt idx="72">15</cx:pt>
          <cx:pt idx="73">9</cx:pt>
          <cx:pt idx="74">8</cx:pt>
          <cx:pt idx="75">9</cx:pt>
          <cx:pt idx="76">17</cx:pt>
          <cx:pt idx="77">10</cx:pt>
          <cx:pt idx="78">12</cx:pt>
          <cx:pt idx="79">11</cx:pt>
          <cx:pt idx="80">11</cx:pt>
          <cx:pt idx="81">11</cx:pt>
          <cx:pt idx="82">12</cx:pt>
          <cx:pt idx="83">10</cx:pt>
          <cx:pt idx="84">13</cx:pt>
          <cx:pt idx="85">9</cx:pt>
          <cx:pt idx="86">10</cx:pt>
          <cx:pt idx="87">6</cx:pt>
          <cx:pt idx="88">11</cx:pt>
          <cx:pt idx="89">11</cx:pt>
          <cx:pt idx="90">7</cx:pt>
          <cx:pt idx="91">10</cx:pt>
          <cx:pt idx="92">12</cx:pt>
          <cx:pt idx="93">14</cx:pt>
          <cx:pt idx="94">13</cx:pt>
          <cx:pt idx="95">9</cx:pt>
          <cx:pt idx="96">10</cx:pt>
          <cx:pt idx="97">6</cx:pt>
          <cx:pt idx="98">9</cx:pt>
          <cx:pt idx="99">16</cx:pt>
          <cx:pt idx="100">10</cx:pt>
          <cx:pt idx="101">6</cx:pt>
          <cx:pt idx="102">13</cx:pt>
          <cx:pt idx="103">12</cx:pt>
          <cx:pt idx="104">13</cx:pt>
          <cx:pt idx="105">10</cx:pt>
          <cx:pt idx="106">16</cx:pt>
          <cx:pt idx="107">10</cx:pt>
          <cx:pt idx="108">12</cx:pt>
          <cx:pt idx="109">12</cx:pt>
          <cx:pt idx="110">16</cx:pt>
          <cx:pt idx="111">10</cx:pt>
          <cx:pt idx="112">14</cx:pt>
          <cx:pt idx="113">8</cx:pt>
          <cx:pt idx="114">11</cx:pt>
          <cx:pt idx="115">15</cx:pt>
          <cx:pt idx="116">16</cx:pt>
          <cx:pt idx="117">11</cx:pt>
          <cx:pt idx="118">7</cx:pt>
          <cx:pt idx="119">6</cx:pt>
          <cx:pt idx="120">11</cx:pt>
          <cx:pt idx="121">15</cx:pt>
          <cx:pt idx="122">8</cx:pt>
          <cx:pt idx="123">12</cx:pt>
          <cx:pt idx="124">16</cx:pt>
          <cx:pt idx="125">7</cx:pt>
          <cx:pt idx="126">7</cx:pt>
          <cx:pt idx="127">17</cx:pt>
          <cx:pt idx="128">9</cx:pt>
          <cx:pt idx="129">13</cx:pt>
          <cx:pt idx="130">10</cx:pt>
          <cx:pt idx="131">13</cx:pt>
          <cx:pt idx="132">9</cx:pt>
          <cx:pt idx="133">12</cx:pt>
          <cx:pt idx="134">12</cx:pt>
          <cx:pt idx="135">15</cx:pt>
          <cx:pt idx="136">17</cx:pt>
          <cx:pt idx="137">9</cx:pt>
          <cx:pt idx="138">13</cx:pt>
          <cx:pt idx="139">10</cx:pt>
          <cx:pt idx="140">10</cx:pt>
          <cx:pt idx="141">7</cx:pt>
          <cx:pt idx="142">7</cx:pt>
          <cx:pt idx="143">6</cx:pt>
          <cx:pt idx="144">13</cx:pt>
          <cx:pt idx="145">14</cx:pt>
          <cx:pt idx="146">12</cx:pt>
          <cx:pt idx="147">9</cx:pt>
          <cx:pt idx="148">8</cx:pt>
          <cx:pt idx="149">11</cx:pt>
          <cx:pt idx="150">9</cx:pt>
          <cx:pt idx="151">13</cx:pt>
          <cx:pt idx="152">11</cx:pt>
          <cx:pt idx="153">16</cx:pt>
          <cx:pt idx="154">9</cx:pt>
          <cx:pt idx="155">13</cx:pt>
          <cx:pt idx="156">7</cx:pt>
          <cx:pt idx="157">14</cx:pt>
          <cx:pt idx="158">15</cx:pt>
          <cx:pt idx="159">8</cx:pt>
          <cx:pt idx="160">11</cx:pt>
          <cx:pt idx="161">10</cx:pt>
          <cx:pt idx="162">13</cx:pt>
          <cx:pt idx="163">13</cx:pt>
          <cx:pt idx="164">9</cx:pt>
          <cx:pt idx="165">9</cx:pt>
          <cx:pt idx="166">11</cx:pt>
          <cx:pt idx="167">16</cx:pt>
          <cx:pt idx="168">14</cx:pt>
          <cx:pt idx="169">7</cx:pt>
          <cx:pt idx="170">17</cx:pt>
          <cx:pt idx="171">10</cx:pt>
          <cx:pt idx="172">10</cx:pt>
          <cx:pt idx="173">9</cx:pt>
          <cx:pt idx="174">12</cx:pt>
          <cx:pt idx="175">12</cx:pt>
          <cx:pt idx="176">9</cx:pt>
          <cx:pt idx="177">9</cx:pt>
          <cx:pt idx="178">12</cx:pt>
          <cx:pt idx="179">11</cx:pt>
          <cx:pt idx="180">13</cx:pt>
          <cx:pt idx="181">10</cx:pt>
          <cx:pt idx="182">7</cx:pt>
          <cx:pt idx="183">7</cx:pt>
          <cx:pt idx="184">12</cx:pt>
          <cx:pt idx="185">13</cx:pt>
          <cx:pt idx="186">10</cx:pt>
          <cx:pt idx="187">12</cx:pt>
          <cx:pt idx="188">15</cx:pt>
          <cx:pt idx="189">11</cx:pt>
          <cx:pt idx="190">12</cx:pt>
          <cx:pt idx="191">12</cx:pt>
          <cx:pt idx="192">11</cx:pt>
          <cx:pt idx="193">14</cx:pt>
          <cx:pt idx="194">6</cx:pt>
          <cx:pt idx="195">18</cx:pt>
          <cx:pt idx="196">12</cx:pt>
          <cx:pt idx="197">15</cx:pt>
          <cx:pt idx="198">10</cx:pt>
          <cx:pt idx="199">10</cx:pt>
          <cx:pt idx="200">17</cx:pt>
          <cx:pt idx="201">10</cx:pt>
          <cx:pt idx="202">13</cx:pt>
          <cx:pt idx="203">13</cx:pt>
          <cx:pt idx="204">11</cx:pt>
          <cx:pt idx="205">17</cx:pt>
          <cx:pt idx="206">13</cx:pt>
          <cx:pt idx="207">13</cx:pt>
          <cx:pt idx="208">13</cx:pt>
          <cx:pt idx="209">12</cx:pt>
          <cx:pt idx="210">12</cx:pt>
          <cx:pt idx="211">14</cx:pt>
          <cx:pt idx="212">16</cx:pt>
          <cx:pt idx="213">13</cx:pt>
          <cx:pt idx="214">8</cx:pt>
          <cx:pt idx="215">10</cx:pt>
          <cx:pt idx="216">8</cx:pt>
          <cx:pt idx="217">15</cx:pt>
          <cx:pt idx="218">14</cx:pt>
          <cx:pt idx="219">11</cx:pt>
          <cx:pt idx="220">12</cx:pt>
          <cx:pt idx="221">14</cx:pt>
          <cx:pt idx="222">10</cx:pt>
          <cx:pt idx="223">8</cx:pt>
          <cx:pt idx="224">12</cx:pt>
          <cx:pt idx="225">9</cx:pt>
          <cx:pt idx="226">7</cx:pt>
          <cx:pt idx="227">16</cx:pt>
          <cx:pt idx="228">10</cx:pt>
          <cx:pt idx="229">13</cx:pt>
          <cx:pt idx="230">8</cx:pt>
          <cx:pt idx="231">14</cx:pt>
          <cx:pt idx="232">11</cx:pt>
          <cx:pt idx="233">9</cx:pt>
          <cx:pt idx="234">11</cx:pt>
          <cx:pt idx="235">12</cx:pt>
          <cx:pt idx="236">10</cx:pt>
          <cx:pt idx="237">9</cx:pt>
          <cx:pt idx="238">15</cx:pt>
          <cx:pt idx="239">10</cx:pt>
          <cx:pt idx="240">8</cx:pt>
          <cx:pt idx="241">11</cx:pt>
          <cx:pt idx="242">15</cx:pt>
          <cx:pt idx="243">10</cx:pt>
          <cx:pt idx="244">13</cx:pt>
          <cx:pt idx="245">7</cx:pt>
          <cx:pt idx="246">18</cx:pt>
          <cx:pt idx="247">11</cx:pt>
          <cx:pt idx="248">15</cx:pt>
          <cx:pt idx="249">16</cx:pt>
          <cx:pt idx="250">11</cx:pt>
          <cx:pt idx="251">13</cx:pt>
          <cx:pt idx="252">15</cx:pt>
          <cx:pt idx="253">18</cx:pt>
          <cx:pt idx="254">9</cx:pt>
          <cx:pt idx="255">9</cx:pt>
          <cx:pt idx="256">12</cx:pt>
          <cx:pt idx="257">10</cx:pt>
          <cx:pt idx="258">13</cx:pt>
          <cx:pt idx="259">14</cx:pt>
          <cx:pt idx="260">15</cx:pt>
          <cx:pt idx="261">14</cx:pt>
          <cx:pt idx="262">14</cx:pt>
          <cx:pt idx="263">9</cx:pt>
          <cx:pt idx="264">8</cx:pt>
          <cx:pt idx="265">8</cx:pt>
          <cx:pt idx="266">12</cx:pt>
          <cx:pt idx="267">12</cx:pt>
          <cx:pt idx="268">16</cx:pt>
          <cx:pt idx="269">17</cx:pt>
          <cx:pt idx="270">8</cx:pt>
          <cx:pt idx="271">16</cx:pt>
          <cx:pt idx="272">14</cx:pt>
          <cx:pt idx="273">17</cx:pt>
          <cx:pt idx="274">12</cx:pt>
          <cx:pt idx="275">16</cx:pt>
          <cx:pt idx="276">19</cx:pt>
          <cx:pt idx="277">13</cx:pt>
          <cx:pt idx="278">9</cx:pt>
          <cx:pt idx="279">9</cx:pt>
          <cx:pt idx="280">9</cx:pt>
          <cx:pt idx="281">15</cx:pt>
          <cx:pt idx="282">11</cx:pt>
          <cx:pt idx="283">8</cx:pt>
          <cx:pt idx="284">10</cx:pt>
          <cx:pt idx="285">8</cx:pt>
          <cx:pt idx="286">13</cx:pt>
          <cx:pt idx="287">11</cx:pt>
          <cx:pt idx="288">12</cx:pt>
          <cx:pt idx="289">14</cx:pt>
          <cx:pt idx="290">11</cx:pt>
          <cx:pt idx="291">13</cx:pt>
          <cx:pt idx="292">13</cx:pt>
          <cx:pt idx="293">16</cx:pt>
          <cx:pt idx="294">18</cx:pt>
          <cx:pt idx="295">17</cx:pt>
          <cx:pt idx="296">11</cx:pt>
          <cx:pt idx="297">13</cx:pt>
          <cx:pt idx="298">13</cx:pt>
          <cx:pt idx="299">12</cx:pt>
          <cx:pt idx="300">16</cx:pt>
          <cx:pt idx="301">10</cx:pt>
          <cx:pt idx="302">18</cx:pt>
          <cx:pt idx="303">18</cx:pt>
          <cx:pt idx="304">16</cx:pt>
          <cx:pt idx="305">10</cx:pt>
          <cx:pt idx="306">11</cx:pt>
          <cx:pt idx="307">13</cx:pt>
          <cx:pt idx="308">9</cx:pt>
          <cx:pt idx="309">11</cx:pt>
          <cx:pt idx="310">8</cx:pt>
          <cx:pt idx="311">11</cx:pt>
          <cx:pt idx="312">13</cx:pt>
          <cx:pt idx="313">12</cx:pt>
          <cx:pt idx="314">16</cx:pt>
          <cx:pt idx="315">14</cx:pt>
          <cx:pt idx="316">11</cx:pt>
          <cx:pt idx="317">12</cx:pt>
          <cx:pt idx="318">17</cx:pt>
          <cx:pt idx="319">12</cx:pt>
          <cx:pt idx="320">11</cx:pt>
          <cx:pt idx="321">14</cx:pt>
          <cx:pt idx="322">16</cx:pt>
          <cx:pt idx="323">9</cx:pt>
          <cx:pt idx="324">12</cx:pt>
          <cx:pt idx="325">10</cx:pt>
          <cx:pt idx="326">16</cx:pt>
          <cx:pt idx="327">16</cx:pt>
          <cx:pt idx="328">8</cx:pt>
          <cx:pt idx="329">12</cx:pt>
          <cx:pt idx="330">15</cx:pt>
          <cx:pt idx="331">11</cx:pt>
          <cx:pt idx="332">11</cx:pt>
          <cx:pt idx="333">13</cx:pt>
          <cx:pt idx="334">17</cx:pt>
          <cx:pt idx="335">11</cx:pt>
          <cx:pt idx="336">18</cx:pt>
          <cx:pt idx="337">9</cx:pt>
          <cx:pt idx="338">8</cx:pt>
          <cx:pt idx="339">10</cx:pt>
          <cx:pt idx="340">12</cx:pt>
          <cx:pt idx="341">15</cx:pt>
          <cx:pt idx="342">9</cx:pt>
          <cx:pt idx="343">14</cx:pt>
          <cx:pt idx="344">15</cx:pt>
          <cx:pt idx="345">13</cx:pt>
          <cx:pt idx="346">14</cx:pt>
          <cx:pt idx="347">13</cx:pt>
          <cx:pt idx="348">11</cx:pt>
          <cx:pt idx="349">16</cx:pt>
          <cx:pt idx="350">11</cx:pt>
          <cx:pt idx="351">13</cx:pt>
          <cx:pt idx="352">13</cx:pt>
          <cx:pt idx="353">12</cx:pt>
          <cx:pt idx="354">13</cx:pt>
          <cx:pt idx="355">18</cx:pt>
          <cx:pt idx="356">12</cx:pt>
          <cx:pt idx="357">17</cx:pt>
          <cx:pt idx="358">18</cx:pt>
          <cx:pt idx="359">12</cx:pt>
          <cx:pt idx="360">13</cx:pt>
          <cx:pt idx="361">18</cx:pt>
          <cx:pt idx="362">13</cx:pt>
          <cx:pt idx="363">8</cx:pt>
          <cx:pt idx="364">17</cx:pt>
        </cx:lvl>
      </cx:numDim>
    </cx:data>
  </cx:chartData>
  <cx:chart>
    <cx:title pos="t" align="ctr" overlay="0">
      <cx:tx>
        <cx:rich>
          <a:bodyPr spcFirstLastPara="1" vertOverflow="ellipsis" horzOverflow="overflow" wrap="square" lIns="0" tIns="0" rIns="0" bIns="0" anchor="ctr" anchorCtr="1"/>
          <a:lstStyle/>
          <a:p>
            <a:pPr algn="ctr" rtl="0">
              <a:buNone/>
            </a:pPr>
            <a:r>
              <a:rPr lang="en-US" sz="1400" b="0" i="0" baseline="0" dirty="0">
                <a:solidFill>
                  <a:srgbClr val="595959"/>
                </a:solidFill>
                <a:effectLst/>
                <a:latin typeface="DM Sans" pitchFamily="2" charset="0"/>
                <a:ea typeface="Arial" panose="020B0604020202020204" pitchFamily="34" charset="0"/>
                <a:cs typeface="Arial" panose="020B0604020202020204" pitchFamily="34" charset="0"/>
              </a:rPr>
              <a:t>Distribution of Facebook Ad Conversions</a:t>
            </a:r>
            <a:endParaRPr lang="en-US" sz="1400" dirty="0">
              <a:effectLst/>
              <a:latin typeface="DM Sans" pitchFamily="2" charset="0"/>
            </a:endParaRPr>
          </a:p>
        </cx:rich>
      </cx:tx>
    </cx:title>
    <cx:plotArea>
      <cx:plotAreaRegion>
        <cx:series layoutId="clusteredColumn" uniqueId="{3B6969BA-E96C-45AB-929D-DDD7275C7ED3}">
          <cx:tx>
            <cx:txData>
              <cx:f>'Week 2 Analysis'!$C$1</cx:f>
              <cx:v>Facebook Ad Conversions</cx:v>
            </cx:txData>
          </cx:tx>
          <cx:dataLabels>
            <cx:visibility seriesName="0" categoryName="0" value="1"/>
          </cx:dataLabels>
          <cx:dataId val="0"/>
          <cx:layoutPr>
            <cx:binning intervalClosed="r">
              <cx:binSize val="2"/>
            </cx:binning>
          </cx:layoutPr>
        </cx:series>
      </cx:plotAreaRegion>
      <cx:axis id="0">
        <cx:catScaling gapWidth="0"/>
        <cx:tickLabels/>
        <cx:numFmt formatCode="0" sourceLinked="0"/>
      </cx:axis>
      <cx:axis id="1">
        <cx:valScaling/>
        <cx:majorGridlines/>
        <cx:tickLabels/>
      </cx:axis>
    </cx:plotArea>
  </cx:chart>
  <cx:spPr>
    <a:ln>
      <a:solidFill>
        <a:schemeClr val="accent5"/>
      </a:solidFill>
    </a:ln>
  </cx:spPr>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'Week 2 Analysis'!$J$2:$J$366</cx:f>
        <cx:lvl ptCount="365" formatCode="General">
          <cx:pt idx="0">59</cx:pt>
          <cx:pt idx="1">71</cx:pt>
          <cx:pt idx="2">44</cx:pt>
          <cx:pt idx="3">49</cx:pt>
          <cx:pt idx="4">55</cx:pt>
          <cx:pt idx="5">51</cx:pt>
          <cx:pt idx="6">66</cx:pt>
          <cx:pt idx="7">69</cx:pt>
          <cx:pt idx="8">82</cx:pt>
          <cx:pt idx="9">48</cx:pt>
          <cx:pt idx="10">58</cx:pt>
          <cx:pt idx="11">68</cx:pt>
          <cx:pt idx="12">83</cx:pt>
          <cx:pt idx="13">78</cx:pt>
          <cx:pt idx="14">36</cx:pt>
          <cx:pt idx="15">48</cx:pt>
          <cx:pt idx="16">49</cx:pt>
          <cx:pt idx="17">68</cx:pt>
          <cx:pt idx="18">81</cx:pt>
          <cx:pt idx="19">49</cx:pt>
          <cx:pt idx="20">43</cx:pt>
          <cx:pt idx="21">63</cx:pt>
          <cx:pt idx="22">80</cx:pt>
          <cx:pt idx="23">50</cx:pt>
          <cx:pt idx="24">53</cx:pt>
          <cx:pt idx="25">77</cx:pt>
          <cx:pt idx="26">44</cx:pt>
          <cx:pt idx="27">78</cx:pt>
          <cx:pt idx="28">42</cx:pt>
          <cx:pt idx="29">50</cx:pt>
          <cx:pt idx="30">72</cx:pt>
          <cx:pt idx="31">76</cx:pt>
          <cx:pt idx="32">41</cx:pt>
          <cx:pt idx="33">49</cx:pt>
          <cx:pt idx="34">78</cx:pt>
          <cx:pt idx="35">69</cx:pt>
          <cx:pt idx="36">58</cx:pt>
          <cx:pt idx="37">48</cx:pt>
          <cx:pt idx="38">44</cx:pt>
          <cx:pt idx="39">43</cx:pt>
          <cx:pt idx="40">71</cx:pt>
          <cx:pt idx="41">74</cx:pt>
          <cx:pt idx="42">74</cx:pt>
          <cx:pt idx="43">80</cx:pt>
          <cx:pt idx="44">40</cx:pt>
          <cx:pt idx="45">63</cx:pt>
          <cx:pt idx="46">36</cx:pt>
          <cx:pt idx="47">74</cx:pt>
          <cx:pt idx="48">62</cx:pt>
          <cx:pt idx="49">67</cx:pt>
          <cx:pt idx="50">64</cx:pt>
          <cx:pt idx="51">61</cx:pt>
          <cx:pt idx="52">74</cx:pt>
          <cx:pt idx="53">71</cx:pt>
          <cx:pt idx="54">52</cx:pt>
          <cx:pt idx="55">66</cx:pt>
          <cx:pt idx="56">47</cx:pt>
          <cx:pt idx="57">32</cx:pt>
          <cx:pt idx="58">68</cx:pt>
          <cx:pt idx="59">51</cx:pt>
          <cx:pt idx="60">42</cx:pt>
          <cx:pt idx="61">50</cx:pt>
          <cx:pt idx="62">56</cx:pt>
          <cx:pt idx="63">71</cx:pt>
          <cx:pt idx="64">33</cx:pt>
          <cx:pt idx="65">70</cx:pt>
          <cx:pt idx="66">33</cx:pt>
          <cx:pt idx="67">62</cx:pt>
          <cx:pt idx="68">87</cx:pt>
          <cx:pt idx="69">65</cx:pt>
          <cx:pt idx="70">60</cx:pt>
          <cx:pt idx="71">44</cx:pt>
          <cx:pt idx="72">66</cx:pt>
          <cx:pt idx="73">58</cx:pt>
          <cx:pt idx="74">54</cx:pt>
          <cx:pt idx="75">70</cx:pt>
          <cx:pt idx="76">45</cx:pt>
          <cx:pt idx="77">34</cx:pt>
          <cx:pt idx="78">41</cx:pt>
          <cx:pt idx="79">66</cx:pt>
          <cx:pt idx="80">55</cx:pt>
          <cx:pt idx="81">78</cx:pt>
          <cx:pt idx="82">41</cx:pt>
          <cx:pt idx="83">68</cx:pt>
          <cx:pt idx="84">74</cx:pt>
          <cx:pt idx="85">62</cx:pt>
          <cx:pt idx="86">40</cx:pt>
          <cx:pt idx="87">67</cx:pt>
          <cx:pt idx="88">79</cx:pt>
          <cx:pt idx="89">59</cx:pt>
          <cx:pt idx="90">73</cx:pt>
          <cx:pt idx="91">56</cx:pt>
          <cx:pt idx="92">82</cx:pt>
          <cx:pt idx="93">62</cx:pt>
          <cx:pt idx="94">76</cx:pt>
          <cx:pt idx="95">35</cx:pt>
          <cx:pt idx="96">61</cx:pt>
          <cx:pt idx="97">65</cx:pt>
          <cx:pt idx="98">83</cx:pt>
          <cx:pt idx="99">35</cx:pt>
          <cx:pt idx="100">44</cx:pt>
          <cx:pt idx="101">57</cx:pt>
          <cx:pt idx="102">76</cx:pt>
          <cx:pt idx="103">48</cx:pt>
          <cx:pt idx="104">62</cx:pt>
          <cx:pt idx="105">45</cx:pt>
          <cx:pt idx="106">34</cx:pt>
          <cx:pt idx="107">51</cx:pt>
          <cx:pt idx="108">85</cx:pt>
          <cx:pt idx="109">59</cx:pt>
          <cx:pt idx="110">67</cx:pt>
          <cx:pt idx="111">77</cx:pt>
          <cx:pt idx="112">60</cx:pt>
          <cx:pt idx="113">53</cx:pt>
          <cx:pt idx="114">84</cx:pt>
          <cx:pt idx="115">37</cx:pt>
          <cx:pt idx="116">67</cx:pt>
          <cx:pt idx="117">57</cx:pt>
          <cx:pt idx="118">83</cx:pt>
          <cx:pt idx="119">70</cx:pt>
          <cx:pt idx="120">67</cx:pt>
          <cx:pt idx="121">37</cx:pt>
          <cx:pt idx="122">58</cx:pt>
          <cx:pt idx="123">68</cx:pt>
          <cx:pt idx="124">72</cx:pt>
          <cx:pt idx="125">60</cx:pt>
          <cx:pt idx="126">41</cx:pt>
          <cx:pt idx="127">40</cx:pt>
          <cx:pt idx="128">49</cx:pt>
          <cx:pt idx="129">52</cx:pt>
          <cx:pt idx="130">78</cx:pt>
          <cx:pt idx="131">83</cx:pt>
          <cx:pt idx="132">38</cx:pt>
          <cx:pt idx="133">41</cx:pt>
          <cx:pt idx="134">72</cx:pt>
          <cx:pt idx="135">54</cx:pt>
          <cx:pt idx="136">36</cx:pt>
          <cx:pt idx="137">54</cx:pt>
          <cx:pt idx="138">55</cx:pt>
          <cx:pt idx="139">45</cx:pt>
          <cx:pt idx="140">83</cx:pt>
          <cx:pt idx="141">55</cx:pt>
          <cx:pt idx="142">41</cx:pt>
          <cx:pt idx="143">73</cx:pt>
          <cx:pt idx="144">77</cx:pt>
          <cx:pt idx="145">88</cx:pt>
          <cx:pt idx="146">63</cx:pt>
          <cx:pt idx="147">60</cx:pt>
          <cx:pt idx="148">76</cx:pt>
          <cx:pt idx="149">48</cx:pt>
          <cx:pt idx="150">58</cx:pt>
          <cx:pt idx="151">45</cx:pt>
          <cx:pt idx="152">56</cx:pt>
          <cx:pt idx="153">73</cx:pt>
          <cx:pt idx="154">48</cx:pt>
          <cx:pt idx="155">71</cx:pt>
          <cx:pt idx="156">70</cx:pt>
          <cx:pt idx="157">60</cx:pt>
          <cx:pt idx="158">56</cx:pt>
          <cx:pt idx="159">85</cx:pt>
          <cx:pt idx="160">53</cx:pt>
          <cx:pt idx="161">80</cx:pt>
          <cx:pt idx="162">54</cx:pt>
          <cx:pt idx="163">59</cx:pt>
          <cx:pt idx="164">40</cx:pt>
          <cx:pt idx="165">75</cx:pt>
          <cx:pt idx="166">53</cx:pt>
          <cx:pt idx="167">84</cx:pt>
          <cx:pt idx="168">78</cx:pt>
          <cx:pt idx="169">76</cx:pt>
          <cx:pt idx="170">67</cx:pt>
          <cx:pt idx="171">80</cx:pt>
          <cx:pt idx="172">52</cx:pt>
          <cx:pt idx="173">50</cx:pt>
          <cx:pt idx="174">71</cx:pt>
          <cx:pt idx="175">50</cx:pt>
          <cx:pt idx="176">81</cx:pt>
          <cx:pt idx="177">65</cx:pt>
          <cx:pt idx="178">48</cx:pt>
          <cx:pt idx="179">54</cx:pt>
          <cx:pt idx="180">75</cx:pt>
          <cx:pt idx="181">74</cx:pt>
          <cx:pt idx="182">85</cx:pt>
          <cx:pt idx="183">54</cx:pt>
          <cx:pt idx="184">43</cx:pt>
          <cx:pt idx="185">54</cx:pt>
          <cx:pt idx="186">54</cx:pt>
          <cx:pt idx="187">55</cx:pt>
          <cx:pt idx="188">57</cx:pt>
          <cx:pt idx="189">49</cx:pt>
          <cx:pt idx="190">79</cx:pt>
          <cx:pt idx="191">80</cx:pt>
          <cx:pt idx="192">47</cx:pt>
          <cx:pt idx="193">73</cx:pt>
          <cx:pt idx="194">46</cx:pt>
          <cx:pt idx="195">67</cx:pt>
          <cx:pt idx="196">72</cx:pt>
          <cx:pt idx="197">81</cx:pt>
          <cx:pt idx="198">38</cx:pt>
          <cx:pt idx="199">41</cx:pt>
          <cx:pt idx="200">78</cx:pt>
          <cx:pt idx="201">75</cx:pt>
          <cx:pt idx="202">56</cx:pt>
          <cx:pt idx="203">57</cx:pt>
          <cx:pt idx="204">53</cx:pt>
          <cx:pt idx="205">74</cx:pt>
          <cx:pt idx="206">75</cx:pt>
          <cx:pt idx="207">78</cx:pt>
          <cx:pt idx="208">37</cx:pt>
          <cx:pt idx="209">78</cx:pt>
          <cx:pt idx="210">83</cx:pt>
          <cx:pt idx="211">41</cx:pt>
          <cx:pt idx="212">59</cx:pt>
          <cx:pt idx="213">68</cx:pt>
          <cx:pt idx="214">62</cx:pt>
          <cx:pt idx="215">46</cx:pt>
          <cx:pt idx="216">88</cx:pt>
          <cx:pt idx="217">42</cx:pt>
          <cx:pt idx="218">54</cx:pt>
          <cx:pt idx="219">46</cx:pt>
          <cx:pt idx="220">57</cx:pt>
          <cx:pt idx="221">50</cx:pt>
          <cx:pt idx="222">62</cx:pt>
          <cx:pt idx="223">85</cx:pt>
          <cx:pt idx="224">81</cx:pt>
          <cx:pt idx="225">41</cx:pt>
          <cx:pt idx="226">76</cx:pt>
          <cx:pt idx="227">66</cx:pt>
          <cx:pt idx="228">70</cx:pt>
          <cx:pt idx="229">68</cx:pt>
          <cx:pt idx="230">61</cx:pt>
          <cx:pt idx="231">32</cx:pt>
          <cx:pt idx="232">47</cx:pt>
          <cx:pt idx="233">43</cx:pt>
          <cx:pt idx="234">42</cx:pt>
          <cx:pt idx="235">63</cx:pt>
          <cx:pt idx="236">71</cx:pt>
          <cx:pt idx="237">69</cx:pt>
          <cx:pt idx="238">57</cx:pt>
          <cx:pt idx="239">58</cx:pt>
          <cx:pt idx="240">39</cx:pt>
          <cx:pt idx="241">81</cx:pt>
          <cx:pt idx="242">80</cx:pt>
          <cx:pt idx="243">48</cx:pt>
          <cx:pt idx="244">74</cx:pt>
          <cx:pt idx="245">53</cx:pt>
          <cx:pt idx="246">52</cx:pt>
          <cx:pt idx="247">82</cx:pt>
          <cx:pt idx="248">57</cx:pt>
          <cx:pt idx="249">48</cx:pt>
          <cx:pt idx="250">80</cx:pt>
          <cx:pt idx="251">45</cx:pt>
          <cx:pt idx="252">56</cx:pt>
          <cx:pt idx="253">44</cx:pt>
          <cx:pt idx="254">70</cx:pt>
          <cx:pt idx="255">64</cx:pt>
          <cx:pt idx="256">65</cx:pt>
          <cx:pt idx="257">61</cx:pt>
          <cx:pt idx="258">84</cx:pt>
          <cx:pt idx="259">78</cx:pt>
          <cx:pt idx="260">78</cx:pt>
          <cx:pt idx="261">44</cx:pt>
          <cx:pt idx="262">51</cx:pt>
          <cx:pt idx="263">60</cx:pt>
          <cx:pt idx="264">78</cx:pt>
          <cx:pt idx="265">75</cx:pt>
          <cx:pt idx="266">58</cx:pt>
          <cx:pt idx="267">65</cx:pt>
          <cx:pt idx="268">66</cx:pt>
          <cx:pt idx="269">81</cx:pt>
          <cx:pt idx="270">38</cx:pt>
          <cx:pt idx="271">60</cx:pt>
          <cx:pt idx="272">53</cx:pt>
          <cx:pt idx="273">71</cx:pt>
          <cx:pt idx="274">50</cx:pt>
          <cx:pt idx="275">43</cx:pt>
          <cx:pt idx="276">77</cx:pt>
          <cx:pt idx="277">40</cx:pt>
          <cx:pt idx="278">70</cx:pt>
          <cx:pt idx="279">71</cx:pt>
          <cx:pt idx="280">66</cx:pt>
          <cx:pt idx="281">80</cx:pt>
          <cx:pt idx="282">43</cx:pt>
          <cx:pt idx="283">50</cx:pt>
          <cx:pt idx="284">89</cx:pt>
          <cx:pt idx="285">68</cx:pt>
          <cx:pt idx="286">52</cx:pt>
          <cx:pt idx="287">51</cx:pt>
          <cx:pt idx="288">40</cx:pt>
          <cx:pt idx="289">40</cx:pt>
          <cx:pt idx="290">50</cx:pt>
          <cx:pt idx="291">65</cx:pt>
          <cx:pt idx="292">47</cx:pt>
          <cx:pt idx="293">77</cx:pt>
          <cx:pt idx="294">55</cx:pt>
          <cx:pt idx="295">74</cx:pt>
          <cx:pt idx="296">76</cx:pt>
          <cx:pt idx="297">52</cx:pt>
          <cx:pt idx="298">67</cx:pt>
          <cx:pt idx="299">48</cx:pt>
          <cx:pt idx="300">63</cx:pt>
          <cx:pt idx="301">54</cx:pt>
          <cx:pt idx="302">38</cx:pt>
          <cx:pt idx="303">75</cx:pt>
          <cx:pt idx="304">73</cx:pt>
          <cx:pt idx="305">52</cx:pt>
          <cx:pt idx="306">49</cx:pt>
          <cx:pt idx="307">47</cx:pt>
          <cx:pt idx="308">65</cx:pt>
          <cx:pt idx="309">79</cx:pt>
          <cx:pt idx="310">43</cx:pt>
          <cx:pt idx="311">58</cx:pt>
          <cx:pt idx="312">52</cx:pt>
          <cx:pt idx="313">44</cx:pt>
          <cx:pt idx="314">44</cx:pt>
          <cx:pt idx="315">61</cx:pt>
          <cx:pt idx="316">84</cx:pt>
          <cx:pt idx="317">53</cx:pt>
          <cx:pt idx="318">60</cx:pt>
          <cx:pt idx="319">79</cx:pt>
          <cx:pt idx="320">85</cx:pt>
          <cx:pt idx="321">74</cx:pt>
          <cx:pt idx="322">69</cx:pt>
          <cx:pt idx="323">51</cx:pt>
          <cx:pt idx="324">51</cx:pt>
          <cx:pt idx="325">81</cx:pt>
          <cx:pt idx="326">70</cx:pt>
          <cx:pt idx="327">58</cx:pt>
          <cx:pt idx="328">77</cx:pt>
          <cx:pt idx="329">58</cx:pt>
          <cx:pt idx="330">46</cx:pt>
          <cx:pt idx="331">41</cx:pt>
          <cx:pt idx="332">68</cx:pt>
          <cx:pt idx="333">67</cx:pt>
          <cx:pt idx="334">45</cx:pt>
          <cx:pt idx="335">42</cx:pt>
          <cx:pt idx="336">50</cx:pt>
          <cx:pt idx="337">75</cx:pt>
          <cx:pt idx="338">59</cx:pt>
          <cx:pt idx="339">70</cx:pt>
          <cx:pt idx="340">44</cx:pt>
          <cx:pt idx="341">85</cx:pt>
          <cx:pt idx="342">31</cx:pt>
          <cx:pt idx="343">50</cx:pt>
          <cx:pt idx="344">54</cx:pt>
          <cx:pt idx="345">55</cx:pt>
          <cx:pt idx="346">59</cx:pt>
          <cx:pt idx="347">77</cx:pt>
          <cx:pt idx="348">89</cx:pt>
          <cx:pt idx="349">64</cx:pt>
          <cx:pt idx="350">57</cx:pt>
          <cx:pt idx="351">74</cx:pt>
          <cx:pt idx="352">59</cx:pt>
          <cx:pt idx="353">41</cx:pt>
          <cx:pt idx="354">64</cx:pt>
          <cx:pt idx="355">45</cx:pt>
          <cx:pt idx="356">34</cx:pt>
          <cx:pt idx="357">77</cx:pt>
          <cx:pt idx="358">38</cx:pt>
          <cx:pt idx="359">72</cx:pt>
          <cx:pt idx="360">49</cx:pt>
          <cx:pt idx="361">62</cx:pt>
          <cx:pt idx="362">71</cx:pt>
          <cx:pt idx="363">47</cx:pt>
        </cx:lvl>
      </cx:numDim>
    </cx:data>
  </cx:chartData>
  <cx:chart>
    <cx:title pos="t" align="ctr" overlay="0">
      <cx:tx>
        <cx:rich>
          <a:bodyPr spcFirstLastPara="1" vertOverflow="ellipsis" horzOverflow="overflow" wrap="square" lIns="0" tIns="0" rIns="0" bIns="0" anchor="ctr" anchorCtr="1"/>
          <a:lstStyle/>
          <a:p>
            <a:pPr algn="ctr" rtl="0">
              <a:buNone/>
            </a:pPr>
            <a:r>
              <a:rPr lang="en-US" sz="1400" b="0" i="0" baseline="0" dirty="0">
                <a:solidFill>
                  <a:srgbClr val="595959"/>
                </a:solidFill>
                <a:effectLst/>
                <a:latin typeface="DM Sans" pitchFamily="2" charset="0"/>
                <a:ea typeface="Arial" panose="020B0604020202020204" pitchFamily="34" charset="0"/>
                <a:cs typeface="Arial" panose="020B0604020202020204" pitchFamily="34" charset="0"/>
              </a:rPr>
              <a:t>Distribution of AdWords Ad Clicks </a:t>
            </a:r>
            <a:endParaRPr lang="en-US" sz="1400" dirty="0">
              <a:effectLst/>
              <a:latin typeface="DM Sans" pitchFamily="2" charset="0"/>
            </a:endParaRPr>
          </a:p>
        </cx:rich>
      </cx:tx>
    </cx:title>
    <cx:plotArea>
      <cx:plotAreaRegion>
        <cx:series layoutId="clusteredColumn" uniqueId="{2440EF40-32A3-428B-A62E-43D5993E8383}">
          <cx:tx>
            <cx:txData>
              <cx:f>'Week 2 Analysis'!$J$1</cx:f>
              <cx:v>AdWords Ad Clicks</cx:v>
            </cx:txData>
          </cx:tx>
          <cx:dataLabels>
            <cx:visibility seriesName="0" categoryName="0" value="1"/>
          </cx:dataLabels>
          <cx:dataId val="0"/>
          <cx:layoutPr>
            <cx:binning intervalClosed="r">
              <cx:binSize val="10"/>
            </cx:binning>
          </cx:layoutPr>
        </cx:series>
      </cx:plotAreaRegion>
      <cx:axis id="0">
        <cx:catScaling gapWidth="0"/>
        <cx:tickLabels/>
        <cx:numFmt formatCode="0" sourceLinked="0"/>
      </cx:axis>
      <cx:axis id="1">
        <cx:valScaling/>
        <cx:majorGridlines/>
        <cx:tickLabels/>
      </cx:axis>
    </cx:plotArea>
  </cx:chart>
  <cx:spPr>
    <a:ln>
      <a:solidFill>
        <a:schemeClr val="accent5"/>
      </a:solidFill>
    </a:ln>
  </cx:spPr>
</cx:chartSpace>
</file>

<file path=ppt/charts/chartEx4.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'Week 2 Analysis'!$K$2:$K$366</cx:f>
        <cx:lvl ptCount="365" formatCode="General">
          <cx:pt idx="0">5</cx:pt>
          <cx:pt idx="1">6</cx:pt>
          <cx:pt idx="2">4</cx:pt>
          <cx:pt idx="3">5</cx:pt>
          <cx:pt idx="4">7</cx:pt>
          <cx:pt idx="5">4</cx:pt>
          <cx:pt idx="6">7</cx:pt>
          <cx:pt idx="7">4</cx:pt>
          <cx:pt idx="8">9</cx:pt>
          <cx:pt idx="9">5</cx:pt>
          <cx:pt idx="10">7</cx:pt>
          <cx:pt idx="11">8</cx:pt>
          <cx:pt idx="12">7</cx:pt>
          <cx:pt idx="13">9</cx:pt>
          <cx:pt idx="14">3</cx:pt>
          <cx:pt idx="15">6</cx:pt>
          <cx:pt idx="16">6</cx:pt>
          <cx:pt idx="17">4</cx:pt>
          <cx:pt idx="18">7</cx:pt>
          <cx:pt idx="19">3</cx:pt>
          <cx:pt idx="20">4</cx:pt>
          <cx:pt idx="21">7</cx:pt>
          <cx:pt idx="22">6</cx:pt>
          <cx:pt idx="23">7</cx:pt>
          <cx:pt idx="24">4</cx:pt>
          <cx:pt idx="25">6</cx:pt>
          <cx:pt idx="26">7</cx:pt>
          <cx:pt idx="27">8</cx:pt>
          <cx:pt idx="28">5</cx:pt>
          <cx:pt idx="29">4</cx:pt>
          <cx:pt idx="30">6</cx:pt>
          <cx:pt idx="31">6</cx:pt>
          <cx:pt idx="32">5</cx:pt>
          <cx:pt idx="33">5</cx:pt>
          <cx:pt idx="34">9</cx:pt>
          <cx:pt idx="35">7</cx:pt>
          <cx:pt idx="36">7</cx:pt>
          <cx:pt idx="37">4</cx:pt>
          <cx:pt idx="38">4</cx:pt>
          <cx:pt idx="39">5</cx:pt>
          <cx:pt idx="40">8</cx:pt>
          <cx:pt idx="41">5</cx:pt>
          <cx:pt idx="42">5</cx:pt>
          <cx:pt idx="43">8</cx:pt>
          <cx:pt idx="44">3</cx:pt>
          <cx:pt idx="45">8</cx:pt>
          <cx:pt idx="46">7</cx:pt>
          <cx:pt idx="47">7</cx:pt>
          <cx:pt idx="48">4</cx:pt>
          <cx:pt idx="49">7</cx:pt>
          <cx:pt idx="50">7</cx:pt>
          <cx:pt idx="51">8</cx:pt>
          <cx:pt idx="52">5</cx:pt>
          <cx:pt idx="53">9</cx:pt>
          <cx:pt idx="54">4</cx:pt>
          <cx:pt idx="55">7</cx:pt>
          <cx:pt idx="56">7</cx:pt>
          <cx:pt idx="57">3</cx:pt>
          <cx:pt idx="58">4</cx:pt>
          <cx:pt idx="59">6</cx:pt>
          <cx:pt idx="60">6</cx:pt>
          <cx:pt idx="61">4</cx:pt>
          <cx:pt idx="62">8</cx:pt>
          <cx:pt idx="63">6</cx:pt>
          <cx:pt idx="64">5</cx:pt>
          <cx:pt idx="65">9</cx:pt>
          <cx:pt idx="66">7</cx:pt>
          <cx:pt idx="67">5</cx:pt>
          <cx:pt idx="68">5</cx:pt>
          <cx:pt idx="69">7</cx:pt>
          <cx:pt idx="70">4</cx:pt>
          <cx:pt idx="71">5</cx:pt>
          <cx:pt idx="72">8</cx:pt>
          <cx:pt idx="73">4</cx:pt>
          <cx:pt idx="74">4</cx:pt>
          <cx:pt idx="75">7</cx:pt>
          <cx:pt idx="76">4</cx:pt>
          <cx:pt idx="77">4</cx:pt>
          <cx:pt idx="78">6</cx:pt>
          <cx:pt idx="79">4</cx:pt>
          <cx:pt idx="80">8</cx:pt>
          <cx:pt idx="81">9</cx:pt>
          <cx:pt idx="82">3</cx:pt>
          <cx:pt idx="83">5</cx:pt>
          <cx:pt idx="84">7</cx:pt>
          <cx:pt idx="85">5</cx:pt>
          <cx:pt idx="86">5</cx:pt>
          <cx:pt idx="87">5</cx:pt>
          <cx:pt idx="88">9</cx:pt>
          <cx:pt idx="89">5</cx:pt>
          <cx:pt idx="90">9</cx:pt>
          <cx:pt idx="91">7</cx:pt>
          <cx:pt idx="92">5</cx:pt>
          <cx:pt idx="93">5</cx:pt>
          <cx:pt idx="94">6</cx:pt>
          <cx:pt idx="95">5</cx:pt>
          <cx:pt idx="96">4</cx:pt>
          <cx:pt idx="97">7</cx:pt>
          <cx:pt idx="98">9</cx:pt>
          <cx:pt idx="99">5</cx:pt>
          <cx:pt idx="100">3</cx:pt>
          <cx:pt idx="101">5</cx:pt>
          <cx:pt idx="102">7</cx:pt>
          <cx:pt idx="103">7</cx:pt>
          <cx:pt idx="104">8</cx:pt>
          <cx:pt idx="105">7</cx:pt>
          <cx:pt idx="106">4</cx:pt>
          <cx:pt idx="107">8</cx:pt>
          <cx:pt idx="108">8</cx:pt>
          <cx:pt idx="109">4</cx:pt>
          <cx:pt idx="110">8</cx:pt>
          <cx:pt idx="111">9</cx:pt>
          <cx:pt idx="112">7</cx:pt>
          <cx:pt idx="113">6</cx:pt>
          <cx:pt idx="114">5</cx:pt>
          <cx:pt idx="115">3</cx:pt>
          <cx:pt idx="116">8</cx:pt>
          <cx:pt idx="117">7</cx:pt>
          <cx:pt idx="118">8</cx:pt>
          <cx:pt idx="119">5</cx:pt>
          <cx:pt idx="120">5</cx:pt>
          <cx:pt idx="121">5</cx:pt>
          <cx:pt idx="122">4</cx:pt>
          <cx:pt idx="123">4</cx:pt>
          <cx:pt idx="124">9</cx:pt>
          <cx:pt idx="125">5</cx:pt>
          <cx:pt idx="126">5</cx:pt>
          <cx:pt idx="127">5</cx:pt>
          <cx:pt idx="128">7</cx:pt>
          <cx:pt idx="129">5</cx:pt>
          <cx:pt idx="130">7</cx:pt>
          <cx:pt idx="131">8</cx:pt>
          <cx:pt idx="132">6</cx:pt>
          <cx:pt idx="133">7</cx:pt>
          <cx:pt idx="134">5</cx:pt>
          <cx:pt idx="135">6</cx:pt>
          <cx:pt idx="136">4</cx:pt>
          <cx:pt idx="137">5</cx:pt>
          <cx:pt idx="138">5</cx:pt>
          <cx:pt idx="139">6</cx:pt>
          <cx:pt idx="140">8</cx:pt>
          <cx:pt idx="141">8</cx:pt>
          <cx:pt idx="142">6</cx:pt>
          <cx:pt idx="143">6</cx:pt>
          <cx:pt idx="144">5</cx:pt>
          <cx:pt idx="145">5</cx:pt>
          <cx:pt idx="146">4</cx:pt>
          <cx:pt idx="147">7</cx:pt>
          <cx:pt idx="148">8</cx:pt>
          <cx:pt idx="149">4</cx:pt>
          <cx:pt idx="150">6</cx:pt>
          <cx:pt idx="151">5</cx:pt>
          <cx:pt idx="152">7</cx:pt>
          <cx:pt idx="153">5</cx:pt>
          <cx:pt idx="154">7</cx:pt>
          <cx:pt idx="155">5</cx:pt>
          <cx:pt idx="156">5</cx:pt>
          <cx:pt idx="157">5</cx:pt>
          <cx:pt idx="158">7</cx:pt>
          <cx:pt idx="159">5</cx:pt>
          <cx:pt idx="160">7</cx:pt>
          <cx:pt idx="161">6</cx:pt>
          <cx:pt idx="162">8</cx:pt>
          <cx:pt idx="163">4</cx:pt>
          <cx:pt idx="164">4</cx:pt>
          <cx:pt idx="165">9</cx:pt>
          <cx:pt idx="166">8</cx:pt>
          <cx:pt idx="167">7</cx:pt>
          <cx:pt idx="168">9</cx:pt>
          <cx:pt idx="169">6</cx:pt>
          <cx:pt idx="170">8</cx:pt>
          <cx:pt idx="171">6</cx:pt>
          <cx:pt idx="172">5</cx:pt>
          <cx:pt idx="173">7</cx:pt>
          <cx:pt idx="174">5</cx:pt>
          <cx:pt idx="175">4</cx:pt>
          <cx:pt idx="176">9</cx:pt>
          <cx:pt idx="177">5</cx:pt>
          <cx:pt idx="178">7</cx:pt>
          <cx:pt idx="179">6</cx:pt>
          <cx:pt idx="180">7</cx:pt>
          <cx:pt idx="181">8</cx:pt>
          <cx:pt idx="182">6</cx:pt>
          <cx:pt idx="183">6</cx:pt>
          <cx:pt idx="184">7</cx:pt>
          <cx:pt idx="185">6</cx:pt>
          <cx:pt idx="186">8</cx:pt>
          <cx:pt idx="187">5</cx:pt>
          <cx:pt idx="188">7</cx:pt>
          <cx:pt idx="189">4</cx:pt>
          <cx:pt idx="190">8</cx:pt>
          <cx:pt idx="191">7</cx:pt>
          <cx:pt idx="192">3</cx:pt>
          <cx:pt idx="193">5</cx:pt>
          <cx:pt idx="194">4</cx:pt>
          <cx:pt idx="195">7</cx:pt>
          <cx:pt idx="196">6</cx:pt>
          <cx:pt idx="197">9</cx:pt>
          <cx:pt idx="198">7</cx:pt>
          <cx:pt idx="199">4</cx:pt>
          <cx:pt idx="200">5</cx:pt>
          <cx:pt idx="201">5</cx:pt>
          <cx:pt idx="202">6</cx:pt>
          <cx:pt idx="203">8</cx:pt>
          <cx:pt idx="204">6</cx:pt>
          <cx:pt idx="205">7</cx:pt>
          <cx:pt idx="206">7</cx:pt>
          <cx:pt idx="207">9</cx:pt>
          <cx:pt idx="208">3</cx:pt>
          <cx:pt idx="209">8</cx:pt>
          <cx:pt idx="210">8</cx:pt>
          <cx:pt idx="211">6</cx:pt>
          <cx:pt idx="212">8</cx:pt>
          <cx:pt idx="213">6</cx:pt>
          <cx:pt idx="214">5</cx:pt>
          <cx:pt idx="215">3</cx:pt>
          <cx:pt idx="216">9</cx:pt>
          <cx:pt idx="217">7</cx:pt>
          <cx:pt idx="218">7</cx:pt>
          <cx:pt idx="219">3</cx:pt>
          <cx:pt idx="220">5</cx:pt>
          <cx:pt idx="221">3</cx:pt>
          <cx:pt idx="222">6</cx:pt>
          <cx:pt idx="223">8</cx:pt>
          <cx:pt idx="224">5</cx:pt>
          <cx:pt idx="225">3</cx:pt>
          <cx:pt idx="226">9</cx:pt>
          <cx:pt idx="227">7</cx:pt>
          <cx:pt idx="228">6</cx:pt>
          <cx:pt idx="229">5</cx:pt>
          <cx:pt idx="230">4</cx:pt>
          <cx:pt idx="231">4</cx:pt>
          <cx:pt idx="232">7</cx:pt>
          <cx:pt idx="233">6</cx:pt>
          <cx:pt idx="234">7</cx:pt>
          <cx:pt idx="235">7</cx:pt>
          <cx:pt idx="236">7</cx:pt>
          <cx:pt idx="237">7</cx:pt>
          <cx:pt idx="238">8</cx:pt>
          <cx:pt idx="239">6</cx:pt>
          <cx:pt idx="240">3</cx:pt>
          <cx:pt idx="241">6</cx:pt>
          <cx:pt idx="242">9</cx:pt>
          <cx:pt idx="243">7</cx:pt>
          <cx:pt idx="244">8</cx:pt>
          <cx:pt idx="245">7</cx:pt>
          <cx:pt idx="246">5</cx:pt>
          <cx:pt idx="247">7</cx:pt>
          <cx:pt idx="248">4</cx:pt>
          <cx:pt idx="249">3</cx:pt>
          <cx:pt idx="250">9</cx:pt>
          <cx:pt idx="251">7</cx:pt>
          <cx:pt idx="252">8</cx:pt>
          <cx:pt idx="253">6</cx:pt>
          <cx:pt idx="254">4</cx:pt>
          <cx:pt idx="255">5</cx:pt>
          <cx:pt idx="256">4</cx:pt>
          <cx:pt idx="257">8</cx:pt>
          <cx:pt idx="258">5</cx:pt>
          <cx:pt idx="259">7</cx:pt>
          <cx:pt idx="260">6</cx:pt>
          <cx:pt idx="261">5</cx:pt>
          <cx:pt idx="262">7</cx:pt>
          <cx:pt idx="263">8</cx:pt>
          <cx:pt idx="264">6</cx:pt>
          <cx:pt idx="265">9</cx:pt>
          <cx:pt idx="266">5</cx:pt>
          <cx:pt idx="267">8</cx:pt>
          <cx:pt idx="268">4</cx:pt>
          <cx:pt idx="269">6</cx:pt>
          <cx:pt idx="270">4</cx:pt>
          <cx:pt idx="271">6</cx:pt>
          <cx:pt idx="272">6</cx:pt>
          <cx:pt idx="273">7</cx:pt>
          <cx:pt idx="274">7</cx:pt>
          <cx:pt idx="275">5</cx:pt>
          <cx:pt idx="276">5</cx:pt>
          <cx:pt idx="277">5</cx:pt>
          <cx:pt idx="278">6</cx:pt>
          <cx:pt idx="279">7</cx:pt>
          <cx:pt idx="280">5</cx:pt>
          <cx:pt idx="281">6</cx:pt>
          <cx:pt idx="282">6</cx:pt>
          <cx:pt idx="283">4</cx:pt>
          <cx:pt idx="284">6</cx:pt>
          <cx:pt idx="285">8</cx:pt>
          <cx:pt idx="286">4</cx:pt>
          <cx:pt idx="287">8</cx:pt>
          <cx:pt idx="288">7</cx:pt>
          <cx:pt idx="289">3</cx:pt>
          <cx:pt idx="290">5</cx:pt>
          <cx:pt idx="291">5</cx:pt>
          <cx:pt idx="292">7</cx:pt>
          <cx:pt idx="293">5</cx:pt>
          <cx:pt idx="294">6</cx:pt>
          <cx:pt idx="295">6</cx:pt>
          <cx:pt idx="296">8</cx:pt>
          <cx:pt idx="297">8</cx:pt>
          <cx:pt idx="298">7</cx:pt>
          <cx:pt idx="299">4</cx:pt>
          <cx:pt idx="300">7</cx:pt>
          <cx:pt idx="301">6</cx:pt>
          <cx:pt idx="302">5</cx:pt>
          <cx:pt idx="303">8</cx:pt>
          <cx:pt idx="304">6</cx:pt>
          <cx:pt idx="305">4</cx:pt>
          <cx:pt idx="306">6</cx:pt>
          <cx:pt idx="307">3</cx:pt>
          <cx:pt idx="308">8</cx:pt>
          <cx:pt idx="309">9</cx:pt>
          <cx:pt idx="310">5</cx:pt>
          <cx:pt idx="311">4</cx:pt>
          <cx:pt idx="312">4</cx:pt>
          <cx:pt idx="313">4</cx:pt>
          <cx:pt idx="314">4</cx:pt>
          <cx:pt idx="315">5</cx:pt>
          <cx:pt idx="316">6</cx:pt>
          <cx:pt idx="317">7</cx:pt>
          <cx:pt idx="318">6</cx:pt>
          <cx:pt idx="319">8</cx:pt>
          <cx:pt idx="320">8</cx:pt>
          <cx:pt idx="321">8</cx:pt>
          <cx:pt idx="322">5</cx:pt>
          <cx:pt idx="323">5</cx:pt>
          <cx:pt idx="324">6</cx:pt>
          <cx:pt idx="325">8</cx:pt>
          <cx:pt idx="326">7</cx:pt>
          <cx:pt idx="327">5</cx:pt>
          <cx:pt idx="328">5</cx:pt>
          <cx:pt idx="329">8</cx:pt>
          <cx:pt idx="330">3</cx:pt>
          <cx:pt idx="331">7</cx:pt>
          <cx:pt idx="332">5</cx:pt>
          <cx:pt idx="333">5</cx:pt>
          <cx:pt idx="334">3</cx:pt>
          <cx:pt idx="335">6</cx:pt>
          <cx:pt idx="336">5</cx:pt>
          <cx:pt idx="337">9</cx:pt>
          <cx:pt idx="338">6</cx:pt>
          <cx:pt idx="339">5</cx:pt>
          <cx:pt idx="340">3</cx:pt>
          <cx:pt idx="341">7</cx:pt>
          <cx:pt idx="342">4</cx:pt>
          <cx:pt idx="343">5</cx:pt>
          <cx:pt idx="344">4</cx:pt>
          <cx:pt idx="345">7</cx:pt>
          <cx:pt idx="346">5</cx:pt>
          <cx:pt idx="347">5</cx:pt>
          <cx:pt idx="348">5</cx:pt>
          <cx:pt idx="349">6</cx:pt>
          <cx:pt idx="350">5</cx:pt>
          <cx:pt idx="351">7</cx:pt>
          <cx:pt idx="352">7</cx:pt>
          <cx:pt idx="353">3</cx:pt>
          <cx:pt idx="354">8</cx:pt>
          <cx:pt idx="355">3</cx:pt>
          <cx:pt idx="356">6</cx:pt>
          <cx:pt idx="357">5</cx:pt>
          <cx:pt idx="358">7</cx:pt>
          <cx:pt idx="359">9</cx:pt>
          <cx:pt idx="360">6</cx:pt>
          <cx:pt idx="361">6</cx:pt>
          <cx:pt idx="362">6</cx:pt>
          <cx:pt idx="363">6</cx:pt>
        </cx:lvl>
      </cx:numDim>
    </cx:data>
  </cx:chartData>
  <cx:chart>
    <cx:title pos="t" align="ctr" overlay="0">
      <cx:tx>
        <cx:rich>
          <a:bodyPr spcFirstLastPara="1" vertOverflow="ellipsis" horzOverflow="overflow" wrap="square" lIns="0" tIns="0" rIns="0" bIns="0" anchor="ctr" anchorCtr="1"/>
          <a:lstStyle/>
          <a:p>
            <a:pPr algn="ctr" rtl="0">
              <a:buNone/>
            </a:pPr>
            <a:r>
              <a:rPr lang="en-US" sz="1400" b="0" i="0" baseline="0" dirty="0">
                <a:solidFill>
                  <a:srgbClr val="595959"/>
                </a:solidFill>
                <a:effectLst/>
                <a:latin typeface="DM Sans" pitchFamily="2" charset="0"/>
                <a:ea typeface="Arial" panose="020B0604020202020204" pitchFamily="34" charset="0"/>
                <a:cs typeface="Arial" panose="020B0604020202020204" pitchFamily="34" charset="0"/>
              </a:rPr>
              <a:t>Distribution of AdWords Ad Conversions </a:t>
            </a:r>
            <a:endParaRPr lang="en-US" sz="1400" dirty="0">
              <a:effectLst/>
              <a:latin typeface="DM Sans" pitchFamily="2" charset="0"/>
            </a:endParaRPr>
          </a:p>
        </cx:rich>
      </cx:tx>
    </cx:title>
    <cx:plotArea>
      <cx:plotAreaRegion>
        <cx:series layoutId="clusteredColumn" uniqueId="{AA6D729C-303C-4FF2-A92C-73F970E7D826}">
          <cx:tx>
            <cx:txData>
              <cx:f>'Week 2 Analysis'!$K$1</cx:f>
              <cx:v>AdWords Ad Conversions</cx:v>
            </cx:txData>
          </cx:tx>
          <cx:dataLabels>
            <cx:visibility seriesName="0" categoryName="0" value="1"/>
          </cx:dataLabels>
          <cx:dataId val="0"/>
          <cx:layoutPr>
            <cx:binning intervalClosed="r">
              <cx:binSize val="1"/>
            </cx:binning>
          </cx:layoutPr>
        </cx:series>
      </cx:plotAreaRegion>
      <cx:axis id="0">
        <cx:catScaling gapWidth="0"/>
        <cx:tickLabels/>
        <cx:numFmt formatCode="0" sourceLinked="0"/>
      </cx:axis>
      <cx:axis id="1">
        <cx:valScaling/>
        <cx:majorGridlines/>
        <cx:tickLabels/>
      </cx:axis>
    </cx:plotArea>
  </cx:chart>
  <cx:spPr>
    <a:ln>
      <a:solidFill>
        <a:schemeClr val="accent5"/>
      </a:solidFill>
    </a:ln>
  </cx:spPr>
</cx: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withinLinearReversed" id="25">
  <a:schemeClr val="accent5"/>
</cs:colorStyle>
</file>

<file path=ppt/charts/colors3.xml><?xml version="1.0" encoding="utf-8"?>
<cs:colorStyle xmlns:cs="http://schemas.microsoft.com/office/drawing/2012/chartStyle" xmlns:a="http://schemas.openxmlformats.org/drawingml/2006/main" meth="withinLinearReversed" id="25">
  <a:schemeClr val="accent5"/>
</cs:colorStyle>
</file>

<file path=ppt/charts/colors4.xml><?xml version="1.0" encoding="utf-8"?>
<cs:colorStyle xmlns:cs="http://schemas.microsoft.com/office/drawing/2012/chartStyle" xmlns:a="http://schemas.openxmlformats.org/drawingml/2006/main" meth="withinLinear" id="18">
  <a:schemeClr val="accent5"/>
</cs:colorStyle>
</file>

<file path=ppt/charts/colors5.xml><?xml version="1.0" encoding="utf-8"?>
<cs:colorStyle xmlns:cs="http://schemas.microsoft.com/office/drawing/2012/chartStyle" xmlns:a="http://schemas.openxmlformats.org/drawingml/2006/main" meth="withinLinearReversed" id="25">
  <a:schemeClr val="accent5"/>
</cs:colorStyle>
</file>

<file path=ppt/charts/colors6.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f24172381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f24172381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FF742582-EED5-2475-D968-7D6A3ED25035}"/>
            </a:ext>
          </a:extLst>
        </p:cNvPr>
        <p:cNvGrpSpPr/>
        <p:nvPr/>
      </p:nvGrpSpPr>
      <p:grpSpPr>
        <a:xfrm>
          <a:off x="0" y="0"/>
          <a:ext cx="0" cy="0"/>
          <a:chOff x="0" y="0"/>
          <a:chExt cx="0" cy="0"/>
        </a:xfrm>
      </p:grpSpPr>
      <p:sp>
        <p:nvSpPr>
          <p:cNvPr id="65" name="Google Shape;65;gf24172381d_0_5:notes">
            <a:extLst>
              <a:ext uri="{FF2B5EF4-FFF2-40B4-BE49-F238E27FC236}">
                <a16:creationId xmlns:a16="http://schemas.microsoft.com/office/drawing/2014/main" id="{6E079D1A-6677-3674-F309-DAD6FA3EBF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f24172381d_0_5:notes">
            <a:extLst>
              <a:ext uri="{FF2B5EF4-FFF2-40B4-BE49-F238E27FC236}">
                <a16:creationId xmlns:a16="http://schemas.microsoft.com/office/drawing/2014/main" id="{0EED0282-2C52-2039-1862-F77BDB1C1D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7350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f24172381d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f24172381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F0DF83AA-B18A-4F17-75BA-45ED87F22FFE}"/>
            </a:ext>
          </a:extLst>
        </p:cNvPr>
        <p:cNvGrpSpPr/>
        <p:nvPr/>
      </p:nvGrpSpPr>
      <p:grpSpPr>
        <a:xfrm>
          <a:off x="0" y="0"/>
          <a:ext cx="0" cy="0"/>
          <a:chOff x="0" y="0"/>
          <a:chExt cx="0" cy="0"/>
        </a:xfrm>
      </p:grpSpPr>
      <p:sp>
        <p:nvSpPr>
          <p:cNvPr id="91" name="Google Shape;91;gf24172381d_0_21:notes">
            <a:extLst>
              <a:ext uri="{FF2B5EF4-FFF2-40B4-BE49-F238E27FC236}">
                <a16:creationId xmlns:a16="http://schemas.microsoft.com/office/drawing/2014/main" id="{472AB529-BE69-3936-E276-726A8D5EEA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f24172381d_0_21:notes">
            <a:extLst>
              <a:ext uri="{FF2B5EF4-FFF2-40B4-BE49-F238E27FC236}">
                <a16:creationId xmlns:a16="http://schemas.microsoft.com/office/drawing/2014/main" id="{72F1B254-20D9-F813-D105-8D9FC6B95B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3775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59A52767-29F6-1F64-1C9C-DE9F1D6583DB}"/>
            </a:ext>
          </a:extLst>
        </p:cNvPr>
        <p:cNvGrpSpPr/>
        <p:nvPr/>
      </p:nvGrpSpPr>
      <p:grpSpPr>
        <a:xfrm>
          <a:off x="0" y="0"/>
          <a:ext cx="0" cy="0"/>
          <a:chOff x="0" y="0"/>
          <a:chExt cx="0" cy="0"/>
        </a:xfrm>
      </p:grpSpPr>
      <p:sp>
        <p:nvSpPr>
          <p:cNvPr id="91" name="Google Shape;91;gf24172381d_0_21:notes">
            <a:extLst>
              <a:ext uri="{FF2B5EF4-FFF2-40B4-BE49-F238E27FC236}">
                <a16:creationId xmlns:a16="http://schemas.microsoft.com/office/drawing/2014/main" id="{D0E18C7B-F898-DFAB-6D12-962DEC2740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f24172381d_0_21:notes">
            <a:extLst>
              <a:ext uri="{FF2B5EF4-FFF2-40B4-BE49-F238E27FC236}">
                <a16:creationId xmlns:a16="http://schemas.microsoft.com/office/drawing/2014/main" id="{B726984F-1E88-311D-7B8C-E974AE68BF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6878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0EC73BA7-06B8-1025-0F31-0B8743FDA66A}"/>
            </a:ext>
          </a:extLst>
        </p:cNvPr>
        <p:cNvGrpSpPr/>
        <p:nvPr/>
      </p:nvGrpSpPr>
      <p:grpSpPr>
        <a:xfrm>
          <a:off x="0" y="0"/>
          <a:ext cx="0" cy="0"/>
          <a:chOff x="0" y="0"/>
          <a:chExt cx="0" cy="0"/>
        </a:xfrm>
      </p:grpSpPr>
      <p:sp>
        <p:nvSpPr>
          <p:cNvPr id="91" name="Google Shape;91;gf24172381d_0_21:notes">
            <a:extLst>
              <a:ext uri="{FF2B5EF4-FFF2-40B4-BE49-F238E27FC236}">
                <a16:creationId xmlns:a16="http://schemas.microsoft.com/office/drawing/2014/main" id="{753D45E3-8B0C-A5B8-AA30-82AC8EA68B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f24172381d_0_21:notes">
            <a:extLst>
              <a:ext uri="{FF2B5EF4-FFF2-40B4-BE49-F238E27FC236}">
                <a16:creationId xmlns:a16="http://schemas.microsoft.com/office/drawing/2014/main" id="{94B88B9B-D5A4-2E7F-E885-2160CAD69F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0044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3CFBBA36-6D8B-E52B-D64A-3A792AC29461}"/>
            </a:ext>
          </a:extLst>
        </p:cNvPr>
        <p:cNvGrpSpPr/>
        <p:nvPr/>
      </p:nvGrpSpPr>
      <p:grpSpPr>
        <a:xfrm>
          <a:off x="0" y="0"/>
          <a:ext cx="0" cy="0"/>
          <a:chOff x="0" y="0"/>
          <a:chExt cx="0" cy="0"/>
        </a:xfrm>
      </p:grpSpPr>
      <p:sp>
        <p:nvSpPr>
          <p:cNvPr id="91" name="Google Shape;91;gf24172381d_0_21:notes">
            <a:extLst>
              <a:ext uri="{FF2B5EF4-FFF2-40B4-BE49-F238E27FC236}">
                <a16:creationId xmlns:a16="http://schemas.microsoft.com/office/drawing/2014/main" id="{A1C36613-AD7D-D0D7-0D7A-9356FC5B67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f24172381d_0_21:notes">
            <a:extLst>
              <a:ext uri="{FF2B5EF4-FFF2-40B4-BE49-F238E27FC236}">
                <a16:creationId xmlns:a16="http://schemas.microsoft.com/office/drawing/2014/main" id="{CA7B82DA-6D76-90D0-5D82-FF848CD629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545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80DCD9E4-7BC7-1EB9-1C31-3F7983D33998}"/>
            </a:ext>
          </a:extLst>
        </p:cNvPr>
        <p:cNvGrpSpPr/>
        <p:nvPr/>
      </p:nvGrpSpPr>
      <p:grpSpPr>
        <a:xfrm>
          <a:off x="0" y="0"/>
          <a:ext cx="0" cy="0"/>
          <a:chOff x="0" y="0"/>
          <a:chExt cx="0" cy="0"/>
        </a:xfrm>
      </p:grpSpPr>
      <p:sp>
        <p:nvSpPr>
          <p:cNvPr id="98" name="Google Shape;98;gf903b244ee_0_9:notes">
            <a:extLst>
              <a:ext uri="{FF2B5EF4-FFF2-40B4-BE49-F238E27FC236}">
                <a16:creationId xmlns:a16="http://schemas.microsoft.com/office/drawing/2014/main" id="{425EE31C-A7E8-DF77-5EDC-62658B69AA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f903b244ee_0_9:notes">
            <a:extLst>
              <a:ext uri="{FF2B5EF4-FFF2-40B4-BE49-F238E27FC236}">
                <a16:creationId xmlns:a16="http://schemas.microsoft.com/office/drawing/2014/main" id="{5989AAF8-A3C2-E79D-24C9-B06AC4E5A1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357734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F7CC2352-52FE-D996-3B53-0E7ADB5B2A45}"/>
            </a:ext>
          </a:extLst>
        </p:cNvPr>
        <p:cNvGrpSpPr/>
        <p:nvPr/>
      </p:nvGrpSpPr>
      <p:grpSpPr>
        <a:xfrm>
          <a:off x="0" y="0"/>
          <a:ext cx="0" cy="0"/>
          <a:chOff x="0" y="0"/>
          <a:chExt cx="0" cy="0"/>
        </a:xfrm>
      </p:grpSpPr>
      <p:sp>
        <p:nvSpPr>
          <p:cNvPr id="98" name="Google Shape;98;gf903b244ee_0_9:notes">
            <a:extLst>
              <a:ext uri="{FF2B5EF4-FFF2-40B4-BE49-F238E27FC236}">
                <a16:creationId xmlns:a16="http://schemas.microsoft.com/office/drawing/2014/main" id="{73E16AB7-AC7B-4A1E-63CF-3BA6B77692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f903b244ee_0_9:notes">
            <a:extLst>
              <a:ext uri="{FF2B5EF4-FFF2-40B4-BE49-F238E27FC236}">
                <a16:creationId xmlns:a16="http://schemas.microsoft.com/office/drawing/2014/main" id="{20F3FCD7-3E9F-C22E-EF4A-3FD6E60C1A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2209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f266468e8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f266468e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9912E291-CC16-663B-E811-92DA8CF90F5C}"/>
            </a:ext>
          </a:extLst>
        </p:cNvPr>
        <p:cNvGrpSpPr/>
        <p:nvPr/>
      </p:nvGrpSpPr>
      <p:grpSpPr>
        <a:xfrm>
          <a:off x="0" y="0"/>
          <a:ext cx="0" cy="0"/>
          <a:chOff x="0" y="0"/>
          <a:chExt cx="0" cy="0"/>
        </a:xfrm>
      </p:grpSpPr>
      <p:sp>
        <p:nvSpPr>
          <p:cNvPr id="112" name="Google Shape;112;gcb4d64c7de_0_0:notes">
            <a:extLst>
              <a:ext uri="{FF2B5EF4-FFF2-40B4-BE49-F238E27FC236}">
                <a16:creationId xmlns:a16="http://schemas.microsoft.com/office/drawing/2014/main" id="{6E4A7F98-314F-0F3B-4C73-B94147015D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b4d64c7de_0_0:notes">
            <a:extLst>
              <a:ext uri="{FF2B5EF4-FFF2-40B4-BE49-F238E27FC236}">
                <a16:creationId xmlns:a16="http://schemas.microsoft.com/office/drawing/2014/main" id="{E7CCF5C5-B05B-0AB3-FF06-03F09D02B5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3634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5EF29FF-D00E-110B-CD2F-599ED5B5F69B}"/>
            </a:ext>
          </a:extLst>
        </p:cNvPr>
        <p:cNvGrpSpPr/>
        <p:nvPr/>
      </p:nvGrpSpPr>
      <p:grpSpPr>
        <a:xfrm>
          <a:off x="0" y="0"/>
          <a:ext cx="0" cy="0"/>
          <a:chOff x="0" y="0"/>
          <a:chExt cx="0" cy="0"/>
        </a:xfrm>
      </p:grpSpPr>
      <p:sp>
        <p:nvSpPr>
          <p:cNvPr id="112" name="Google Shape;112;gcb4d64c7de_0_0:notes">
            <a:extLst>
              <a:ext uri="{FF2B5EF4-FFF2-40B4-BE49-F238E27FC236}">
                <a16:creationId xmlns:a16="http://schemas.microsoft.com/office/drawing/2014/main" id="{2B61221E-6221-C269-2F8A-41665AE715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b4d64c7de_0_0:notes">
            <a:extLst>
              <a:ext uri="{FF2B5EF4-FFF2-40B4-BE49-F238E27FC236}">
                <a16:creationId xmlns:a16="http://schemas.microsoft.com/office/drawing/2014/main" id="{087704B7-6C2F-420A-6B96-32F55D4AB4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3122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f266468e8d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f266468e8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f2bc20c609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f2bc20c609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610AC3B4-2A26-FCE4-F6BD-9CF4ECF6F798}"/>
            </a:ext>
          </a:extLst>
        </p:cNvPr>
        <p:cNvGrpSpPr/>
        <p:nvPr/>
      </p:nvGrpSpPr>
      <p:grpSpPr>
        <a:xfrm>
          <a:off x="0" y="0"/>
          <a:ext cx="0" cy="0"/>
          <a:chOff x="0" y="0"/>
          <a:chExt cx="0" cy="0"/>
        </a:xfrm>
      </p:grpSpPr>
      <p:sp>
        <p:nvSpPr>
          <p:cNvPr id="147" name="Google Shape;147;gf266468e8d_0_19:notes">
            <a:extLst>
              <a:ext uri="{FF2B5EF4-FFF2-40B4-BE49-F238E27FC236}">
                <a16:creationId xmlns:a16="http://schemas.microsoft.com/office/drawing/2014/main" id="{A823758C-6590-C8BF-A8ED-53D8E49016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f266468e8d_0_19:notes">
            <a:extLst>
              <a:ext uri="{FF2B5EF4-FFF2-40B4-BE49-F238E27FC236}">
                <a16:creationId xmlns:a16="http://schemas.microsoft.com/office/drawing/2014/main" id="{CC8601F4-8ED4-2294-2A38-95720FCA56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3395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30EAFD9E-4A0C-4375-93C0-30B8D340DA68}"/>
            </a:ext>
          </a:extLst>
        </p:cNvPr>
        <p:cNvGrpSpPr/>
        <p:nvPr/>
      </p:nvGrpSpPr>
      <p:grpSpPr>
        <a:xfrm>
          <a:off x="0" y="0"/>
          <a:ext cx="0" cy="0"/>
          <a:chOff x="0" y="0"/>
          <a:chExt cx="0" cy="0"/>
        </a:xfrm>
      </p:grpSpPr>
      <p:sp>
        <p:nvSpPr>
          <p:cNvPr id="147" name="Google Shape;147;gf266468e8d_0_19:notes">
            <a:extLst>
              <a:ext uri="{FF2B5EF4-FFF2-40B4-BE49-F238E27FC236}">
                <a16:creationId xmlns:a16="http://schemas.microsoft.com/office/drawing/2014/main" id="{066B4BFB-1CA0-9EBB-5461-A2AB7B3D49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f266468e8d_0_19:notes">
            <a:extLst>
              <a:ext uri="{FF2B5EF4-FFF2-40B4-BE49-F238E27FC236}">
                <a16:creationId xmlns:a16="http://schemas.microsoft.com/office/drawing/2014/main" id="{4AB30DD4-E3B3-873E-CB56-3CB0C61732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82967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3533FA4C-31A8-20AC-B550-C3892D6FD5B2}"/>
            </a:ext>
          </a:extLst>
        </p:cNvPr>
        <p:cNvGrpSpPr/>
        <p:nvPr/>
      </p:nvGrpSpPr>
      <p:grpSpPr>
        <a:xfrm>
          <a:off x="0" y="0"/>
          <a:ext cx="0" cy="0"/>
          <a:chOff x="0" y="0"/>
          <a:chExt cx="0" cy="0"/>
        </a:xfrm>
      </p:grpSpPr>
      <p:sp>
        <p:nvSpPr>
          <p:cNvPr id="147" name="Google Shape;147;gf266468e8d_0_19:notes">
            <a:extLst>
              <a:ext uri="{FF2B5EF4-FFF2-40B4-BE49-F238E27FC236}">
                <a16:creationId xmlns:a16="http://schemas.microsoft.com/office/drawing/2014/main" id="{047A5315-D397-DF59-F9E7-8B3A385DF7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f266468e8d_0_19:notes">
            <a:extLst>
              <a:ext uri="{FF2B5EF4-FFF2-40B4-BE49-F238E27FC236}">
                <a16:creationId xmlns:a16="http://schemas.microsoft.com/office/drawing/2014/main" id="{0C8C2682-F7C0-4BE7-C757-3B524369A5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34883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f2bc20c609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f2bc20c60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f2bc20c609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f2bc20c609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f2bc20c609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f2bc20c60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f2bc20c609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f2bc20c609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f1a1597b1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f1a1597b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0" y="3626725"/>
            <a:ext cx="9144000" cy="1399200"/>
          </a:xfrm>
          <a:prstGeom prst="rect">
            <a:avLst/>
          </a:prstGeom>
          <a:solidFill>
            <a:srgbClr val="69BCC1"/>
          </a:solidFill>
          <a:ln>
            <a:noFill/>
          </a:ln>
          <a:effectLst>
            <a:outerShdw blurRad="57150" dist="19050" dir="5400000" algn="bl" rotWithShape="0">
              <a:srgbClr val="000000">
                <a:alpha val="50000"/>
              </a:srgbClr>
            </a:outerShdw>
          </a:effectLst>
        </p:spPr>
        <p:txBody>
          <a:bodyPr spcFirstLastPara="1" wrap="square" lIns="201250" tIns="100600" rIns="201250" bIns="100600" anchor="ctr" anchorCtr="0">
            <a:noAutofit/>
          </a:bodyPr>
          <a:lstStyle/>
          <a:p>
            <a:pPr marL="0" marR="0" lvl="0" indent="0" algn="ctr" rtl="0">
              <a:lnSpc>
                <a:spcPct val="100000"/>
              </a:lnSpc>
              <a:spcBef>
                <a:spcPts val="0"/>
              </a:spcBef>
              <a:spcAft>
                <a:spcPts val="0"/>
              </a:spcAft>
              <a:buClr>
                <a:srgbClr val="000000"/>
              </a:buClr>
              <a:buSzPts val="3100"/>
              <a:buFont typeface="Arial"/>
              <a:buNone/>
            </a:pPr>
            <a:endParaRPr sz="3100" b="0" i="0" u="none" strike="noStrike" cap="none">
              <a:solidFill>
                <a:srgbClr val="FFFFFF"/>
              </a:solidFill>
              <a:latin typeface="Arial"/>
              <a:ea typeface="Arial"/>
              <a:cs typeface="Arial"/>
              <a:sym typeface="Arial"/>
            </a:endParaRPr>
          </a:p>
        </p:txBody>
      </p:sp>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Clr>
                <a:srgbClr val="0A0049"/>
              </a:buClr>
              <a:buSzPts val="5200"/>
              <a:buNone/>
              <a:defRPr sz="5200">
                <a:solidFill>
                  <a:srgbClr val="0A0049"/>
                </a:solidFill>
              </a:defRPr>
            </a:lvl2pPr>
            <a:lvl3pPr lvl="2" algn="ctr">
              <a:spcBef>
                <a:spcPts val="0"/>
              </a:spcBef>
              <a:spcAft>
                <a:spcPts val="0"/>
              </a:spcAft>
              <a:buClr>
                <a:srgbClr val="0A0049"/>
              </a:buClr>
              <a:buSzPts val="5200"/>
              <a:buNone/>
              <a:defRPr sz="5200">
                <a:solidFill>
                  <a:srgbClr val="0A0049"/>
                </a:solidFill>
              </a:defRPr>
            </a:lvl3pPr>
            <a:lvl4pPr lvl="3" algn="ctr">
              <a:spcBef>
                <a:spcPts val="0"/>
              </a:spcBef>
              <a:spcAft>
                <a:spcPts val="0"/>
              </a:spcAft>
              <a:buClr>
                <a:srgbClr val="0A0049"/>
              </a:buClr>
              <a:buSzPts val="5200"/>
              <a:buNone/>
              <a:defRPr sz="5200">
                <a:solidFill>
                  <a:srgbClr val="0A0049"/>
                </a:solidFill>
              </a:defRPr>
            </a:lvl4pPr>
            <a:lvl5pPr lvl="4" algn="ctr">
              <a:spcBef>
                <a:spcPts val="0"/>
              </a:spcBef>
              <a:spcAft>
                <a:spcPts val="0"/>
              </a:spcAft>
              <a:buClr>
                <a:srgbClr val="0A0049"/>
              </a:buClr>
              <a:buSzPts val="5200"/>
              <a:buNone/>
              <a:defRPr sz="5200">
                <a:solidFill>
                  <a:srgbClr val="0A0049"/>
                </a:solidFill>
              </a:defRPr>
            </a:lvl5pPr>
            <a:lvl6pPr lvl="5" algn="ctr">
              <a:spcBef>
                <a:spcPts val="0"/>
              </a:spcBef>
              <a:spcAft>
                <a:spcPts val="0"/>
              </a:spcAft>
              <a:buClr>
                <a:srgbClr val="0A0049"/>
              </a:buClr>
              <a:buSzPts val="5200"/>
              <a:buNone/>
              <a:defRPr sz="5200">
                <a:solidFill>
                  <a:srgbClr val="0A0049"/>
                </a:solidFill>
              </a:defRPr>
            </a:lvl6pPr>
            <a:lvl7pPr lvl="6" algn="ctr">
              <a:spcBef>
                <a:spcPts val="0"/>
              </a:spcBef>
              <a:spcAft>
                <a:spcPts val="0"/>
              </a:spcAft>
              <a:buClr>
                <a:srgbClr val="0A0049"/>
              </a:buClr>
              <a:buSzPts val="5200"/>
              <a:buNone/>
              <a:defRPr sz="5200">
                <a:solidFill>
                  <a:srgbClr val="0A0049"/>
                </a:solidFill>
              </a:defRPr>
            </a:lvl7pPr>
            <a:lvl8pPr lvl="7" algn="ctr">
              <a:spcBef>
                <a:spcPts val="0"/>
              </a:spcBef>
              <a:spcAft>
                <a:spcPts val="0"/>
              </a:spcAft>
              <a:buClr>
                <a:srgbClr val="0A0049"/>
              </a:buClr>
              <a:buSzPts val="5200"/>
              <a:buNone/>
              <a:defRPr sz="5200">
                <a:solidFill>
                  <a:srgbClr val="0A0049"/>
                </a:solidFill>
              </a:defRPr>
            </a:lvl8pPr>
            <a:lvl9pPr lvl="8" algn="ctr">
              <a:spcBef>
                <a:spcPts val="0"/>
              </a:spcBef>
              <a:spcAft>
                <a:spcPts val="0"/>
              </a:spcAft>
              <a:buClr>
                <a:srgbClr val="0A0049"/>
              </a:buClr>
              <a:buSzPts val="5200"/>
              <a:buNone/>
              <a:defRPr sz="5200">
                <a:solidFill>
                  <a:srgbClr val="0A0049"/>
                </a:solidFill>
              </a:defRPr>
            </a:lvl9pPr>
          </a:lstStyle>
          <a:p>
            <a:endParaRPr/>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ptly" type="tx">
  <p:cSld name="TITLE_AND_BODY">
    <p:spTree>
      <p:nvGrpSpPr>
        <p:cNvPr id="1" name="Shape 17"/>
        <p:cNvGrpSpPr/>
        <p:nvPr/>
      </p:nvGrpSpPr>
      <p:grpSpPr>
        <a:xfrm>
          <a:off x="0" y="0"/>
          <a:ext cx="0" cy="0"/>
          <a:chOff x="0" y="0"/>
          <a:chExt cx="0" cy="0"/>
        </a:xfrm>
      </p:grpSpPr>
      <p:sp>
        <p:nvSpPr>
          <p:cNvPr id="18" name="Google Shape;18;p4"/>
          <p:cNvSpPr/>
          <p:nvPr/>
        </p:nvSpPr>
        <p:spPr>
          <a:xfrm>
            <a:off x="0" y="0"/>
            <a:ext cx="9144000" cy="986100"/>
          </a:xfrm>
          <a:prstGeom prst="rect">
            <a:avLst/>
          </a:prstGeom>
          <a:solidFill>
            <a:srgbClr val="69BCC1"/>
          </a:solidFill>
          <a:ln>
            <a:noFill/>
          </a:ln>
          <a:effectLst>
            <a:outerShdw blurRad="57150" dist="19050" dir="5400000" algn="bl" rotWithShape="0">
              <a:srgbClr val="000000">
                <a:alpha val="50000"/>
              </a:srgbClr>
            </a:outerShdw>
          </a:effectLst>
        </p:spPr>
        <p:txBody>
          <a:bodyPr spcFirstLastPara="1" wrap="square" lIns="201250" tIns="100600" rIns="201250" bIns="100600" anchor="ctr" anchorCtr="0">
            <a:noAutofit/>
          </a:bodyPr>
          <a:lstStyle/>
          <a:p>
            <a:pPr marL="0" marR="0" lvl="0" indent="0" algn="ctr" rtl="0">
              <a:lnSpc>
                <a:spcPct val="100000"/>
              </a:lnSpc>
              <a:spcBef>
                <a:spcPts val="0"/>
              </a:spcBef>
              <a:spcAft>
                <a:spcPts val="0"/>
              </a:spcAft>
              <a:buClr>
                <a:srgbClr val="000000"/>
              </a:buClr>
              <a:buSzPts val="3100"/>
              <a:buFont typeface="Arial"/>
              <a:buNone/>
            </a:pPr>
            <a:endParaRPr sz="3100" b="0" i="0" u="none" strike="noStrike" cap="none">
              <a:solidFill>
                <a:srgbClr val="FFFFFF"/>
              </a:solidFill>
              <a:latin typeface="Arial"/>
              <a:ea typeface="Arial"/>
              <a:cs typeface="Arial"/>
              <a:sym typeface="Arial"/>
            </a:endParaRPr>
          </a:p>
        </p:txBody>
      </p:sp>
      <p:sp>
        <p:nvSpPr>
          <p:cNvPr id="19" name="Google Shape;19;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Clr>
                <a:srgbClr val="000000"/>
              </a:buClr>
              <a:buSzPts val="3200"/>
              <a:buFont typeface="DM Sans"/>
              <a:buNone/>
              <a:defRPr sz="3200">
                <a:solidFill>
                  <a:srgbClr val="000000"/>
                </a:solidFill>
                <a:latin typeface="DM Sans"/>
                <a:ea typeface="DM Sans"/>
                <a:cs typeface="DM Sans"/>
                <a:sym typeface="DM Sans"/>
              </a:defRPr>
            </a:lvl1pPr>
            <a:lvl2pPr lvl="1">
              <a:spcBef>
                <a:spcPts val="0"/>
              </a:spcBef>
              <a:spcAft>
                <a:spcPts val="0"/>
              </a:spcAft>
              <a:buClr>
                <a:srgbClr val="0A0049"/>
              </a:buClr>
              <a:buSzPts val="3200"/>
              <a:buNone/>
              <a:defRPr sz="3200">
                <a:solidFill>
                  <a:srgbClr val="0A0049"/>
                </a:solidFill>
              </a:defRPr>
            </a:lvl2pPr>
            <a:lvl3pPr lvl="2">
              <a:spcBef>
                <a:spcPts val="0"/>
              </a:spcBef>
              <a:spcAft>
                <a:spcPts val="0"/>
              </a:spcAft>
              <a:buClr>
                <a:srgbClr val="0A0049"/>
              </a:buClr>
              <a:buSzPts val="3200"/>
              <a:buNone/>
              <a:defRPr sz="3200">
                <a:solidFill>
                  <a:srgbClr val="0A0049"/>
                </a:solidFill>
              </a:defRPr>
            </a:lvl3pPr>
            <a:lvl4pPr lvl="3">
              <a:spcBef>
                <a:spcPts val="0"/>
              </a:spcBef>
              <a:spcAft>
                <a:spcPts val="0"/>
              </a:spcAft>
              <a:buClr>
                <a:srgbClr val="0A0049"/>
              </a:buClr>
              <a:buSzPts val="3200"/>
              <a:buNone/>
              <a:defRPr sz="3200">
                <a:solidFill>
                  <a:srgbClr val="0A0049"/>
                </a:solidFill>
              </a:defRPr>
            </a:lvl4pPr>
            <a:lvl5pPr lvl="4">
              <a:spcBef>
                <a:spcPts val="0"/>
              </a:spcBef>
              <a:spcAft>
                <a:spcPts val="0"/>
              </a:spcAft>
              <a:buClr>
                <a:srgbClr val="0A0049"/>
              </a:buClr>
              <a:buSzPts val="3200"/>
              <a:buNone/>
              <a:defRPr sz="3200">
                <a:solidFill>
                  <a:srgbClr val="0A0049"/>
                </a:solidFill>
              </a:defRPr>
            </a:lvl5pPr>
            <a:lvl6pPr lvl="5">
              <a:spcBef>
                <a:spcPts val="0"/>
              </a:spcBef>
              <a:spcAft>
                <a:spcPts val="0"/>
              </a:spcAft>
              <a:buClr>
                <a:srgbClr val="0A0049"/>
              </a:buClr>
              <a:buSzPts val="3200"/>
              <a:buNone/>
              <a:defRPr sz="3200">
                <a:solidFill>
                  <a:srgbClr val="0A0049"/>
                </a:solidFill>
              </a:defRPr>
            </a:lvl6pPr>
            <a:lvl7pPr lvl="6">
              <a:spcBef>
                <a:spcPts val="0"/>
              </a:spcBef>
              <a:spcAft>
                <a:spcPts val="0"/>
              </a:spcAft>
              <a:buClr>
                <a:srgbClr val="0A0049"/>
              </a:buClr>
              <a:buSzPts val="3200"/>
              <a:buNone/>
              <a:defRPr sz="3200">
                <a:solidFill>
                  <a:srgbClr val="0A0049"/>
                </a:solidFill>
              </a:defRPr>
            </a:lvl7pPr>
            <a:lvl8pPr lvl="7">
              <a:spcBef>
                <a:spcPts val="0"/>
              </a:spcBef>
              <a:spcAft>
                <a:spcPts val="0"/>
              </a:spcAft>
              <a:buClr>
                <a:srgbClr val="0A0049"/>
              </a:buClr>
              <a:buSzPts val="3200"/>
              <a:buNone/>
              <a:defRPr sz="3200">
                <a:solidFill>
                  <a:srgbClr val="0A0049"/>
                </a:solidFill>
              </a:defRPr>
            </a:lvl8pPr>
            <a:lvl9pPr lvl="8">
              <a:spcBef>
                <a:spcPts val="0"/>
              </a:spcBef>
              <a:spcAft>
                <a:spcPts val="0"/>
              </a:spcAft>
              <a:buClr>
                <a:srgbClr val="0A0049"/>
              </a:buClr>
              <a:buSzPts val="3200"/>
              <a:buNone/>
              <a:defRPr sz="3200">
                <a:solidFill>
                  <a:srgbClr val="0A0049"/>
                </a:solidFill>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rgbClr val="000000"/>
              </a:buClr>
              <a:buSzPts val="1800"/>
              <a:buChar char="●"/>
              <a:defRPr>
                <a:solidFill>
                  <a:srgbClr val="000000"/>
                </a:solidFill>
              </a:defRPr>
            </a:lvl1pPr>
            <a:lvl2pPr marL="914400" lvl="1" indent="-317500">
              <a:spcBef>
                <a:spcPts val="0"/>
              </a:spcBef>
              <a:spcAft>
                <a:spcPts val="0"/>
              </a:spcAft>
              <a:buClr>
                <a:srgbClr val="000000"/>
              </a:buClr>
              <a:buSzPts val="1400"/>
              <a:buChar char="○"/>
              <a:defRPr>
                <a:solidFill>
                  <a:srgbClr val="000000"/>
                </a:solidFill>
              </a:defRPr>
            </a:lvl2pPr>
            <a:lvl3pPr marL="1371600" lvl="2" indent="-317500">
              <a:spcBef>
                <a:spcPts val="0"/>
              </a:spcBef>
              <a:spcAft>
                <a:spcPts val="0"/>
              </a:spcAft>
              <a:buClr>
                <a:srgbClr val="000000"/>
              </a:buClr>
              <a:buSzPts val="1400"/>
              <a:buChar char="■"/>
              <a:defRPr>
                <a:solidFill>
                  <a:srgbClr val="000000"/>
                </a:solidFill>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 name="Google Shape;29;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6" name="Google Shape;36;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0" name="Google Shape;4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SzPts val="2800"/>
              <a:buFont typeface="DM Sans"/>
              <a:buNone/>
              <a:defRPr sz="2800">
                <a:latin typeface="DM Sans"/>
                <a:ea typeface="DM Sans"/>
                <a:cs typeface="DM Sans"/>
                <a:sym typeface="DM Sans"/>
              </a:defRPr>
            </a:lvl1pPr>
            <a:lvl2pPr lvl="1">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2pPr>
            <a:lvl3pPr lvl="2">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3pPr>
            <a:lvl4pPr lvl="3">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4pPr>
            <a:lvl5pPr lvl="4">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5pPr>
            <a:lvl6pPr lvl="5">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6pPr>
            <a:lvl7pPr lvl="6">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7pPr>
            <a:lvl8pPr lvl="7">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8pPr>
            <a:lvl9pPr lvl="8">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SzPts val="1800"/>
              <a:buFont typeface="DM Sans"/>
              <a:buChar char="●"/>
              <a:defRPr sz="1800">
                <a:latin typeface="DM Sans"/>
                <a:ea typeface="DM Sans"/>
                <a:cs typeface="DM Sans"/>
                <a:sym typeface="DM Sans"/>
              </a:defRPr>
            </a:lvl1pPr>
            <a:lvl2pPr marL="914400" lvl="1" indent="-317500">
              <a:lnSpc>
                <a:spcPct val="115000"/>
              </a:lnSpc>
              <a:spcBef>
                <a:spcPts val="0"/>
              </a:spcBef>
              <a:spcAft>
                <a:spcPts val="0"/>
              </a:spcAft>
              <a:buSzPts val="1400"/>
              <a:buFont typeface="DM Sans"/>
              <a:buChar char="○"/>
              <a:defRPr>
                <a:latin typeface="DM Sans"/>
                <a:ea typeface="DM Sans"/>
                <a:cs typeface="DM Sans"/>
                <a:sym typeface="DM Sans"/>
              </a:defRPr>
            </a:lvl2pPr>
            <a:lvl3pPr marL="1371600" lvl="2" indent="-317500">
              <a:lnSpc>
                <a:spcPct val="115000"/>
              </a:lnSpc>
              <a:spcBef>
                <a:spcPts val="0"/>
              </a:spcBef>
              <a:spcAft>
                <a:spcPts val="0"/>
              </a:spcAft>
              <a:buSzPts val="1400"/>
              <a:buFont typeface="DM Sans"/>
              <a:buChar char="■"/>
              <a:defRPr>
                <a:latin typeface="DM Sans"/>
                <a:ea typeface="DM Sans"/>
                <a:cs typeface="DM Sans"/>
                <a:sym typeface="DM Sans"/>
              </a:defRPr>
            </a:lvl3pPr>
            <a:lvl4pPr marL="1828800" lvl="3" indent="-317500">
              <a:lnSpc>
                <a:spcPct val="115000"/>
              </a:lnSpc>
              <a:spcBef>
                <a:spcPts val="0"/>
              </a:spcBef>
              <a:spcAft>
                <a:spcPts val="0"/>
              </a:spcAft>
              <a:buSzPts val="1400"/>
              <a:buFont typeface="DM Sans"/>
              <a:buChar char="●"/>
              <a:defRPr>
                <a:latin typeface="DM Sans"/>
                <a:ea typeface="DM Sans"/>
                <a:cs typeface="DM Sans"/>
                <a:sym typeface="DM Sans"/>
              </a:defRPr>
            </a:lvl4pPr>
            <a:lvl5pPr marL="2286000" lvl="4" indent="-317500">
              <a:lnSpc>
                <a:spcPct val="115000"/>
              </a:lnSpc>
              <a:spcBef>
                <a:spcPts val="0"/>
              </a:spcBef>
              <a:spcAft>
                <a:spcPts val="0"/>
              </a:spcAft>
              <a:buSzPts val="1400"/>
              <a:buFont typeface="DM Sans"/>
              <a:buChar char="○"/>
              <a:defRPr>
                <a:latin typeface="DM Sans"/>
                <a:ea typeface="DM Sans"/>
                <a:cs typeface="DM Sans"/>
                <a:sym typeface="DM Sans"/>
              </a:defRPr>
            </a:lvl5pPr>
            <a:lvl6pPr marL="2743200" lvl="5" indent="-317500">
              <a:lnSpc>
                <a:spcPct val="115000"/>
              </a:lnSpc>
              <a:spcBef>
                <a:spcPts val="0"/>
              </a:spcBef>
              <a:spcAft>
                <a:spcPts val="0"/>
              </a:spcAft>
              <a:buSzPts val="1400"/>
              <a:buFont typeface="DM Sans"/>
              <a:buChar char="■"/>
              <a:defRPr>
                <a:latin typeface="DM Sans"/>
                <a:ea typeface="DM Sans"/>
                <a:cs typeface="DM Sans"/>
                <a:sym typeface="DM Sans"/>
              </a:defRPr>
            </a:lvl6pPr>
            <a:lvl7pPr marL="3200400" lvl="6" indent="-317500">
              <a:lnSpc>
                <a:spcPct val="115000"/>
              </a:lnSpc>
              <a:spcBef>
                <a:spcPts val="0"/>
              </a:spcBef>
              <a:spcAft>
                <a:spcPts val="0"/>
              </a:spcAft>
              <a:buSzPts val="1400"/>
              <a:buFont typeface="DM Sans"/>
              <a:buChar char="●"/>
              <a:defRPr>
                <a:latin typeface="DM Sans"/>
                <a:ea typeface="DM Sans"/>
                <a:cs typeface="DM Sans"/>
                <a:sym typeface="DM Sans"/>
              </a:defRPr>
            </a:lvl7pPr>
            <a:lvl8pPr marL="3657600" lvl="7" indent="-317500">
              <a:lnSpc>
                <a:spcPct val="115000"/>
              </a:lnSpc>
              <a:spcBef>
                <a:spcPts val="0"/>
              </a:spcBef>
              <a:spcAft>
                <a:spcPts val="0"/>
              </a:spcAft>
              <a:buSzPts val="1400"/>
              <a:buFont typeface="DM Sans"/>
              <a:buChar char="○"/>
              <a:defRPr>
                <a:latin typeface="DM Sans"/>
                <a:ea typeface="DM Sans"/>
                <a:cs typeface="DM Sans"/>
                <a:sym typeface="DM Sans"/>
              </a:defRPr>
            </a:lvl8pPr>
            <a:lvl9pPr marL="4114800" lvl="8" indent="-317500">
              <a:lnSpc>
                <a:spcPct val="115000"/>
              </a:lnSpc>
              <a:spcBef>
                <a:spcPts val="0"/>
              </a:spcBef>
              <a:spcAft>
                <a:spcPts val="0"/>
              </a:spcAft>
              <a:buSzPts val="1400"/>
              <a:buFont typeface="DM Sans"/>
              <a:buChar char="■"/>
              <a:defRPr>
                <a:latin typeface="DM Sans"/>
                <a:ea typeface="DM Sans"/>
                <a:cs typeface="DM Sans"/>
                <a:sym typeface="DM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png"/><Relationship Id="rId5" Type="http://schemas.microsoft.com/office/2014/relationships/chartEx" Target="../charts/chartEx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microsoft.com/office/2014/relationships/chartEx" Target="../charts/chartEx3.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4.png"/><Relationship Id="rId5" Type="http://schemas.microsoft.com/office/2014/relationships/chartEx" Target="../charts/chartEx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ctrTitle"/>
          </p:nvPr>
        </p:nvSpPr>
        <p:spPr>
          <a:xfrm>
            <a:off x="311700" y="425364"/>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b="1" dirty="0"/>
              <a:t>Course Capstone</a:t>
            </a:r>
            <a:endParaRPr b="1" dirty="0"/>
          </a:p>
        </p:txBody>
      </p:sp>
      <p:sp>
        <p:nvSpPr>
          <p:cNvPr id="63" name="Google Shape;63;p14"/>
          <p:cNvSpPr txBox="1">
            <a:spLocks noGrp="1"/>
          </p:cNvSpPr>
          <p:nvPr>
            <p:ph type="subTitle" idx="1"/>
          </p:nvPr>
        </p:nvSpPr>
        <p:spPr>
          <a:xfrm>
            <a:off x="311700" y="2477964"/>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b="1" dirty="0"/>
              <a:t>Data Collection</a:t>
            </a:r>
            <a:endParaRPr b="1" dirty="0"/>
          </a:p>
        </p:txBody>
      </p:sp>
      <p:sp>
        <p:nvSpPr>
          <p:cNvPr id="2" name="Google Shape;63;p14">
            <a:extLst>
              <a:ext uri="{FF2B5EF4-FFF2-40B4-BE49-F238E27FC236}">
                <a16:creationId xmlns:a16="http://schemas.microsoft.com/office/drawing/2014/main" id="{612CA2C6-C5AB-FD4D-7FC6-BBA86AE81549}"/>
              </a:ext>
            </a:extLst>
          </p:cNvPr>
          <p:cNvSpPr txBox="1">
            <a:spLocks/>
          </p:cNvSpPr>
          <p:nvPr/>
        </p:nvSpPr>
        <p:spPr>
          <a:xfrm>
            <a:off x="6283842" y="3109709"/>
            <a:ext cx="2860158" cy="53436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2800"/>
              <a:buFont typeface="DM Sans"/>
              <a:buNone/>
              <a:defRPr sz="2800" b="0" i="0" u="none" strike="noStrike" cap="none">
                <a:solidFill>
                  <a:srgbClr val="000000"/>
                </a:solidFill>
                <a:latin typeface="DM Sans"/>
                <a:ea typeface="DM Sans"/>
                <a:cs typeface="DM Sans"/>
                <a:sym typeface="DM Sans"/>
              </a:defRPr>
            </a:lvl1pPr>
            <a:lvl2pPr marL="914400" marR="0" lvl="1" indent="-317500" algn="ctr" rtl="0">
              <a:lnSpc>
                <a:spcPct val="100000"/>
              </a:lnSpc>
              <a:spcBef>
                <a:spcPts val="0"/>
              </a:spcBef>
              <a:spcAft>
                <a:spcPts val="0"/>
              </a:spcAft>
              <a:buClr>
                <a:srgbClr val="000000"/>
              </a:buClr>
              <a:buSzPts val="2800"/>
              <a:buFont typeface="DM Sans"/>
              <a:buNone/>
              <a:defRPr sz="2800" b="0" i="0" u="none" strike="noStrike" cap="none">
                <a:solidFill>
                  <a:srgbClr val="000000"/>
                </a:solidFill>
                <a:latin typeface="DM Sans"/>
                <a:ea typeface="DM Sans"/>
                <a:cs typeface="DM Sans"/>
                <a:sym typeface="DM Sans"/>
              </a:defRPr>
            </a:lvl2pPr>
            <a:lvl3pPr marL="1371600" marR="0" lvl="2" indent="-317500" algn="ctr" rtl="0">
              <a:lnSpc>
                <a:spcPct val="100000"/>
              </a:lnSpc>
              <a:spcBef>
                <a:spcPts val="0"/>
              </a:spcBef>
              <a:spcAft>
                <a:spcPts val="0"/>
              </a:spcAft>
              <a:buClr>
                <a:srgbClr val="000000"/>
              </a:buClr>
              <a:buSzPts val="2800"/>
              <a:buFont typeface="DM Sans"/>
              <a:buNone/>
              <a:defRPr sz="2800" b="0" i="0" u="none" strike="noStrike" cap="none">
                <a:solidFill>
                  <a:srgbClr val="000000"/>
                </a:solidFill>
                <a:latin typeface="DM Sans"/>
                <a:ea typeface="DM Sans"/>
                <a:cs typeface="DM Sans"/>
                <a:sym typeface="DM Sans"/>
              </a:defRPr>
            </a:lvl3pPr>
            <a:lvl4pPr marL="1828800" marR="0" lvl="3" indent="-317500" algn="ctr" rtl="0">
              <a:lnSpc>
                <a:spcPct val="100000"/>
              </a:lnSpc>
              <a:spcBef>
                <a:spcPts val="0"/>
              </a:spcBef>
              <a:spcAft>
                <a:spcPts val="0"/>
              </a:spcAft>
              <a:buClr>
                <a:srgbClr val="000000"/>
              </a:buClr>
              <a:buSzPts val="2800"/>
              <a:buFont typeface="DM Sans"/>
              <a:buNone/>
              <a:defRPr sz="2800" b="0" i="0" u="none" strike="noStrike" cap="none">
                <a:solidFill>
                  <a:srgbClr val="000000"/>
                </a:solidFill>
                <a:latin typeface="DM Sans"/>
                <a:ea typeface="DM Sans"/>
                <a:cs typeface="DM Sans"/>
                <a:sym typeface="DM Sans"/>
              </a:defRPr>
            </a:lvl4pPr>
            <a:lvl5pPr marL="2286000" marR="0" lvl="4" indent="-317500" algn="ctr" rtl="0">
              <a:lnSpc>
                <a:spcPct val="100000"/>
              </a:lnSpc>
              <a:spcBef>
                <a:spcPts val="0"/>
              </a:spcBef>
              <a:spcAft>
                <a:spcPts val="0"/>
              </a:spcAft>
              <a:buClr>
                <a:srgbClr val="000000"/>
              </a:buClr>
              <a:buSzPts val="2800"/>
              <a:buFont typeface="DM Sans"/>
              <a:buNone/>
              <a:defRPr sz="2800" b="0" i="0" u="none" strike="noStrike" cap="none">
                <a:solidFill>
                  <a:srgbClr val="000000"/>
                </a:solidFill>
                <a:latin typeface="DM Sans"/>
                <a:ea typeface="DM Sans"/>
                <a:cs typeface="DM Sans"/>
                <a:sym typeface="DM Sans"/>
              </a:defRPr>
            </a:lvl5pPr>
            <a:lvl6pPr marL="2743200" marR="0" lvl="5" indent="-317500" algn="ctr" rtl="0">
              <a:lnSpc>
                <a:spcPct val="100000"/>
              </a:lnSpc>
              <a:spcBef>
                <a:spcPts val="0"/>
              </a:spcBef>
              <a:spcAft>
                <a:spcPts val="0"/>
              </a:spcAft>
              <a:buClr>
                <a:srgbClr val="000000"/>
              </a:buClr>
              <a:buSzPts val="2800"/>
              <a:buFont typeface="DM Sans"/>
              <a:buNone/>
              <a:defRPr sz="2800" b="0" i="0" u="none" strike="noStrike" cap="none">
                <a:solidFill>
                  <a:srgbClr val="000000"/>
                </a:solidFill>
                <a:latin typeface="DM Sans"/>
                <a:ea typeface="DM Sans"/>
                <a:cs typeface="DM Sans"/>
                <a:sym typeface="DM Sans"/>
              </a:defRPr>
            </a:lvl6pPr>
            <a:lvl7pPr marL="3200400" marR="0" lvl="6" indent="-317500" algn="ctr" rtl="0">
              <a:lnSpc>
                <a:spcPct val="100000"/>
              </a:lnSpc>
              <a:spcBef>
                <a:spcPts val="0"/>
              </a:spcBef>
              <a:spcAft>
                <a:spcPts val="0"/>
              </a:spcAft>
              <a:buClr>
                <a:srgbClr val="000000"/>
              </a:buClr>
              <a:buSzPts val="2800"/>
              <a:buFont typeface="DM Sans"/>
              <a:buNone/>
              <a:defRPr sz="2800" b="0" i="0" u="none" strike="noStrike" cap="none">
                <a:solidFill>
                  <a:srgbClr val="000000"/>
                </a:solidFill>
                <a:latin typeface="DM Sans"/>
                <a:ea typeface="DM Sans"/>
                <a:cs typeface="DM Sans"/>
                <a:sym typeface="DM Sans"/>
              </a:defRPr>
            </a:lvl7pPr>
            <a:lvl8pPr marL="3657600" marR="0" lvl="7" indent="-317500" algn="ctr" rtl="0">
              <a:lnSpc>
                <a:spcPct val="100000"/>
              </a:lnSpc>
              <a:spcBef>
                <a:spcPts val="0"/>
              </a:spcBef>
              <a:spcAft>
                <a:spcPts val="0"/>
              </a:spcAft>
              <a:buClr>
                <a:srgbClr val="000000"/>
              </a:buClr>
              <a:buSzPts val="2800"/>
              <a:buFont typeface="DM Sans"/>
              <a:buNone/>
              <a:defRPr sz="2800" b="0" i="0" u="none" strike="noStrike" cap="none">
                <a:solidFill>
                  <a:srgbClr val="000000"/>
                </a:solidFill>
                <a:latin typeface="DM Sans"/>
                <a:ea typeface="DM Sans"/>
                <a:cs typeface="DM Sans"/>
                <a:sym typeface="DM Sans"/>
              </a:defRPr>
            </a:lvl8pPr>
            <a:lvl9pPr marL="4114800" marR="0" lvl="8" indent="-317500" algn="ctr" rtl="0">
              <a:lnSpc>
                <a:spcPct val="100000"/>
              </a:lnSpc>
              <a:spcBef>
                <a:spcPts val="0"/>
              </a:spcBef>
              <a:spcAft>
                <a:spcPts val="0"/>
              </a:spcAft>
              <a:buClr>
                <a:srgbClr val="000000"/>
              </a:buClr>
              <a:buSzPts val="2800"/>
              <a:buFont typeface="DM Sans"/>
              <a:buNone/>
              <a:defRPr sz="2800" b="0" i="0" u="none" strike="noStrike" cap="none">
                <a:solidFill>
                  <a:srgbClr val="000000"/>
                </a:solidFill>
                <a:latin typeface="DM Sans"/>
                <a:ea typeface="DM Sans"/>
                <a:cs typeface="DM Sans"/>
                <a:sym typeface="DM Sans"/>
              </a:defRPr>
            </a:lvl9pPr>
          </a:lstStyle>
          <a:p>
            <a:pPr marL="0" indent="0">
              <a:lnSpc>
                <a:spcPct val="150000"/>
              </a:lnSpc>
            </a:pPr>
            <a:r>
              <a:rPr lang="en-US" sz="1400" b="1" dirty="0"/>
              <a:t>09</a:t>
            </a:r>
            <a:r>
              <a:rPr lang="en-US" sz="1400" b="1" baseline="30000" dirty="0"/>
              <a:t>th</a:t>
            </a:r>
            <a:r>
              <a:rPr lang="en-US" sz="1400" b="1" dirty="0"/>
              <a:t> October, 2025</a:t>
            </a:r>
            <a:endParaRPr lang="en-US"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t>Finding the Middle of Clicks</a:t>
            </a:r>
            <a:endParaRPr sz="2800" b="1" dirty="0"/>
          </a:p>
        </p:txBody>
      </p:sp>
      <p:sp>
        <p:nvSpPr>
          <p:cNvPr id="69" name="Google Shape;69;p15"/>
          <p:cNvSpPr txBox="1">
            <a:spLocks noGrp="1"/>
          </p:cNvSpPr>
          <p:nvPr>
            <p:ph type="body" idx="1"/>
          </p:nvPr>
        </p:nvSpPr>
        <p:spPr>
          <a:xfrm>
            <a:off x="311700" y="1152475"/>
            <a:ext cx="8520600" cy="834044"/>
          </a:xfrm>
          <a:prstGeom prst="rect">
            <a:avLst/>
          </a:prstGeom>
        </p:spPr>
        <p:txBody>
          <a:bodyPr spcFirstLastPara="1" wrap="square" lIns="91425" tIns="91425" rIns="91425" bIns="91425" anchor="t" anchorCtr="0">
            <a:spAutoFit/>
          </a:bodyPr>
          <a:lstStyle/>
          <a:p>
            <a:pPr marL="0" lvl="0" indent="0">
              <a:spcAft>
                <a:spcPts val="1200"/>
              </a:spcAft>
              <a:buNone/>
            </a:pPr>
            <a:r>
              <a:rPr lang="en" sz="1400" dirty="0"/>
              <a:t>Mean, Median, and Mode help in compare the data. Below, list the mean, median, and mode of the clicks in the </a:t>
            </a:r>
            <a:r>
              <a:rPr lang="en" sz="1400" b="1" dirty="0"/>
              <a:t>“</a:t>
            </a:r>
            <a:r>
              <a:rPr lang="en-US" sz="1400" b="1" dirty="0"/>
              <a:t>Facebook Ad” &amp; “AdWords Ad” </a:t>
            </a:r>
            <a:r>
              <a:rPr lang="en" sz="1400" dirty="0"/>
              <a:t>data.</a:t>
            </a:r>
            <a:endParaRPr sz="1400" dirty="0"/>
          </a:p>
        </p:txBody>
      </p:sp>
      <p:graphicFrame>
        <p:nvGraphicFramePr>
          <p:cNvPr id="2" name="Table 1">
            <a:extLst>
              <a:ext uri="{FF2B5EF4-FFF2-40B4-BE49-F238E27FC236}">
                <a16:creationId xmlns:a16="http://schemas.microsoft.com/office/drawing/2014/main" id="{DE172319-8100-15C6-1169-EF97F89F1A73}"/>
              </a:ext>
            </a:extLst>
          </p:cNvPr>
          <p:cNvGraphicFramePr>
            <a:graphicFrameLocks noGrp="1"/>
          </p:cNvGraphicFramePr>
          <p:nvPr>
            <p:extLst>
              <p:ext uri="{D42A27DB-BD31-4B8C-83A1-F6EECF244321}">
                <p14:modId xmlns:p14="http://schemas.microsoft.com/office/powerpoint/2010/main" val="3347251891"/>
              </p:ext>
            </p:extLst>
          </p:nvPr>
        </p:nvGraphicFramePr>
        <p:xfrm>
          <a:off x="682256" y="2401629"/>
          <a:ext cx="7779488" cy="1768824"/>
        </p:xfrm>
        <a:graphic>
          <a:graphicData uri="http://schemas.openxmlformats.org/drawingml/2006/table">
            <a:tbl>
              <a:tblPr firstRow="1" bandRow="1">
                <a:tableStyleId>{BDBED569-4797-4DF1-A0F4-6AAB3CD982D8}</a:tableStyleId>
              </a:tblPr>
              <a:tblGrid>
                <a:gridCol w="1944872">
                  <a:extLst>
                    <a:ext uri="{9D8B030D-6E8A-4147-A177-3AD203B41FA5}">
                      <a16:colId xmlns:a16="http://schemas.microsoft.com/office/drawing/2014/main" val="2152552481"/>
                    </a:ext>
                  </a:extLst>
                </a:gridCol>
                <a:gridCol w="1944872">
                  <a:extLst>
                    <a:ext uri="{9D8B030D-6E8A-4147-A177-3AD203B41FA5}">
                      <a16:colId xmlns:a16="http://schemas.microsoft.com/office/drawing/2014/main" val="3494078799"/>
                    </a:ext>
                  </a:extLst>
                </a:gridCol>
                <a:gridCol w="1944872">
                  <a:extLst>
                    <a:ext uri="{9D8B030D-6E8A-4147-A177-3AD203B41FA5}">
                      <a16:colId xmlns:a16="http://schemas.microsoft.com/office/drawing/2014/main" val="3568019214"/>
                    </a:ext>
                  </a:extLst>
                </a:gridCol>
                <a:gridCol w="1944872">
                  <a:extLst>
                    <a:ext uri="{9D8B030D-6E8A-4147-A177-3AD203B41FA5}">
                      <a16:colId xmlns:a16="http://schemas.microsoft.com/office/drawing/2014/main" val="1110885780"/>
                    </a:ext>
                  </a:extLst>
                </a:gridCol>
              </a:tblGrid>
              <a:tr h="442206">
                <a:tc gridSpan="2">
                  <a:txBody>
                    <a:bodyPr/>
                    <a:lstStyle/>
                    <a:p>
                      <a:pPr algn="ctr"/>
                      <a:r>
                        <a:rPr lang="en-US" sz="1400" b="1" dirty="0">
                          <a:latin typeface="DM Sans" pitchFamily="2" charset="0"/>
                        </a:rPr>
                        <a:t>Facebook Ad</a:t>
                      </a:r>
                      <a:endParaRPr lang="en-US" sz="1400" dirty="0">
                        <a:latin typeface="DM Sans" pitchFamily="2" charset="0"/>
                      </a:endParaRPr>
                    </a:p>
                  </a:txBody>
                  <a:tcPr anchor="ctr"/>
                </a:tc>
                <a:tc hMerge="1">
                  <a:txBody>
                    <a:bodyPr/>
                    <a:lstStyle/>
                    <a:p>
                      <a:endParaRPr lang="en-US" dirty="0"/>
                    </a:p>
                  </a:txBody>
                  <a:tcPr/>
                </a:tc>
                <a:tc gridSpan="2">
                  <a:txBody>
                    <a:bodyPr/>
                    <a:lstStyle/>
                    <a:p>
                      <a:pPr algn="ctr"/>
                      <a:r>
                        <a:rPr lang="en-US" sz="1400" b="1" dirty="0">
                          <a:latin typeface="DM Sans" pitchFamily="2" charset="0"/>
                        </a:rPr>
                        <a:t>AdWords Ad</a:t>
                      </a:r>
                      <a:endParaRPr lang="en-US" sz="1400" dirty="0">
                        <a:latin typeface="DM Sans" pitchFamily="2" charset="0"/>
                      </a:endParaRPr>
                    </a:p>
                  </a:txBody>
                  <a:tcPr anchor="ctr"/>
                </a:tc>
                <a:tc hMerge="1">
                  <a:txBody>
                    <a:bodyPr/>
                    <a:lstStyle/>
                    <a:p>
                      <a:endParaRPr lang="en-US" dirty="0"/>
                    </a:p>
                  </a:txBody>
                  <a:tcPr/>
                </a:tc>
                <a:extLst>
                  <a:ext uri="{0D108BD9-81ED-4DB2-BD59-A6C34878D82A}">
                    <a16:rowId xmlns:a16="http://schemas.microsoft.com/office/drawing/2014/main" val="1656788802"/>
                  </a:ext>
                </a:extLst>
              </a:tr>
              <a:tr h="442206">
                <a:tc>
                  <a:txBody>
                    <a:bodyPr/>
                    <a:lstStyle/>
                    <a:p>
                      <a:pPr algn="ctr" fontAlgn="b">
                        <a:lnSpc>
                          <a:spcPct val="150000"/>
                        </a:lnSpc>
                        <a:buNone/>
                      </a:pPr>
                      <a:r>
                        <a:rPr lang="en-US" sz="1200" b="0" i="0" u="none" strike="noStrike" dirty="0">
                          <a:solidFill>
                            <a:srgbClr val="000000"/>
                          </a:solidFill>
                          <a:effectLst/>
                          <a:latin typeface="DM Sans" pitchFamily="2" charset="0"/>
                        </a:rPr>
                        <a:t>Mean (Clicks)</a:t>
                      </a:r>
                    </a:p>
                  </a:txBody>
                  <a:tcPr marL="9525" marR="9525" marT="9525" marB="0" anchor="ctr"/>
                </a:tc>
                <a:tc>
                  <a:txBody>
                    <a:bodyPr/>
                    <a:lstStyle/>
                    <a:p>
                      <a:pPr algn="ctr" fontAlgn="b">
                        <a:lnSpc>
                          <a:spcPct val="150000"/>
                        </a:lnSpc>
                        <a:buNone/>
                      </a:pPr>
                      <a:r>
                        <a:rPr lang="en-US" sz="1200" b="0" i="0" u="none" strike="noStrike" dirty="0">
                          <a:solidFill>
                            <a:srgbClr val="000000"/>
                          </a:solidFill>
                          <a:effectLst/>
                          <a:latin typeface="DM Sans" pitchFamily="2" charset="0"/>
                        </a:rPr>
                        <a:t>44.05</a:t>
                      </a:r>
                    </a:p>
                  </a:txBody>
                  <a:tcPr marL="9525" marR="9525" marT="9525" marB="0" anchor="ctr"/>
                </a:tc>
                <a:tc>
                  <a:txBody>
                    <a:bodyPr/>
                    <a:lstStyle/>
                    <a:p>
                      <a:pPr algn="ctr" fontAlgn="b">
                        <a:lnSpc>
                          <a:spcPct val="150000"/>
                        </a:lnSpc>
                        <a:buNone/>
                      </a:pPr>
                      <a:r>
                        <a:rPr lang="en-US" sz="1200" b="0" i="0" u="none" strike="noStrike" dirty="0">
                          <a:solidFill>
                            <a:srgbClr val="000000"/>
                          </a:solidFill>
                          <a:effectLst/>
                          <a:latin typeface="DM Sans" pitchFamily="2" charset="0"/>
                        </a:rPr>
                        <a:t>Mean (Clicks)</a:t>
                      </a:r>
                    </a:p>
                  </a:txBody>
                  <a:tcPr marL="9525" marR="9525" marT="9525" marB="0" anchor="ctr"/>
                </a:tc>
                <a:tc>
                  <a:txBody>
                    <a:bodyPr/>
                    <a:lstStyle/>
                    <a:p>
                      <a:pPr algn="ctr" fontAlgn="b">
                        <a:lnSpc>
                          <a:spcPct val="150000"/>
                        </a:lnSpc>
                        <a:buNone/>
                      </a:pPr>
                      <a:r>
                        <a:rPr lang="en-US" sz="1200" b="0" i="0" u="none" strike="noStrike">
                          <a:solidFill>
                            <a:srgbClr val="000000"/>
                          </a:solidFill>
                          <a:effectLst/>
                          <a:latin typeface="DM Sans" pitchFamily="2" charset="0"/>
                        </a:rPr>
                        <a:t>60.38</a:t>
                      </a:r>
                    </a:p>
                  </a:txBody>
                  <a:tcPr marL="9525" marR="9525" marT="9525" marB="0" anchor="ctr"/>
                </a:tc>
                <a:extLst>
                  <a:ext uri="{0D108BD9-81ED-4DB2-BD59-A6C34878D82A}">
                    <a16:rowId xmlns:a16="http://schemas.microsoft.com/office/drawing/2014/main" val="588131063"/>
                  </a:ext>
                </a:extLst>
              </a:tr>
              <a:tr h="442206">
                <a:tc>
                  <a:txBody>
                    <a:bodyPr/>
                    <a:lstStyle/>
                    <a:p>
                      <a:pPr algn="ctr" fontAlgn="b">
                        <a:lnSpc>
                          <a:spcPct val="150000"/>
                        </a:lnSpc>
                        <a:buNone/>
                      </a:pPr>
                      <a:r>
                        <a:rPr lang="en-US" sz="1200" b="0" i="0" u="none" strike="noStrike" dirty="0">
                          <a:solidFill>
                            <a:srgbClr val="000000"/>
                          </a:solidFill>
                          <a:effectLst/>
                          <a:latin typeface="DM Sans" pitchFamily="2" charset="0"/>
                        </a:rPr>
                        <a:t>Median (Clicks)</a:t>
                      </a:r>
                    </a:p>
                  </a:txBody>
                  <a:tcPr marL="9525" marR="9525" marT="9525" marB="0" anchor="ctr"/>
                </a:tc>
                <a:tc>
                  <a:txBody>
                    <a:bodyPr/>
                    <a:lstStyle/>
                    <a:p>
                      <a:pPr algn="ctr" fontAlgn="b">
                        <a:lnSpc>
                          <a:spcPct val="150000"/>
                        </a:lnSpc>
                        <a:buNone/>
                      </a:pPr>
                      <a:r>
                        <a:rPr lang="en-US" sz="1200" b="0" i="0" u="none" strike="noStrike" dirty="0">
                          <a:solidFill>
                            <a:srgbClr val="000000"/>
                          </a:solidFill>
                          <a:effectLst/>
                          <a:latin typeface="DM Sans" pitchFamily="2" charset="0"/>
                        </a:rPr>
                        <a:t>43.00</a:t>
                      </a:r>
                    </a:p>
                  </a:txBody>
                  <a:tcPr marL="9525" marR="9525" marT="9525" marB="0" anchor="ctr"/>
                </a:tc>
                <a:tc>
                  <a:txBody>
                    <a:bodyPr/>
                    <a:lstStyle/>
                    <a:p>
                      <a:pPr algn="ctr" fontAlgn="b">
                        <a:lnSpc>
                          <a:spcPct val="150000"/>
                        </a:lnSpc>
                        <a:buNone/>
                      </a:pPr>
                      <a:r>
                        <a:rPr lang="en-US" sz="1200" b="0" i="0" u="none" strike="noStrike" dirty="0">
                          <a:solidFill>
                            <a:srgbClr val="000000"/>
                          </a:solidFill>
                          <a:effectLst/>
                          <a:latin typeface="DM Sans" pitchFamily="2" charset="0"/>
                        </a:rPr>
                        <a:t>Median (Clicks)</a:t>
                      </a:r>
                    </a:p>
                  </a:txBody>
                  <a:tcPr marL="9525" marR="9525" marT="9525" marB="0" anchor="ctr"/>
                </a:tc>
                <a:tc>
                  <a:txBody>
                    <a:bodyPr/>
                    <a:lstStyle/>
                    <a:p>
                      <a:pPr algn="ctr" fontAlgn="b">
                        <a:lnSpc>
                          <a:spcPct val="150000"/>
                        </a:lnSpc>
                        <a:buNone/>
                      </a:pPr>
                      <a:r>
                        <a:rPr lang="en-US" sz="1200" b="0" i="0" u="none" strike="noStrike" dirty="0">
                          <a:solidFill>
                            <a:srgbClr val="000000"/>
                          </a:solidFill>
                          <a:effectLst/>
                          <a:latin typeface="DM Sans" pitchFamily="2" charset="0"/>
                        </a:rPr>
                        <a:t>60.00</a:t>
                      </a:r>
                    </a:p>
                  </a:txBody>
                  <a:tcPr marL="9525" marR="9525" marT="9525" marB="0" anchor="ctr"/>
                </a:tc>
                <a:extLst>
                  <a:ext uri="{0D108BD9-81ED-4DB2-BD59-A6C34878D82A}">
                    <a16:rowId xmlns:a16="http://schemas.microsoft.com/office/drawing/2014/main" val="1938208176"/>
                  </a:ext>
                </a:extLst>
              </a:tr>
              <a:tr h="442206">
                <a:tc>
                  <a:txBody>
                    <a:bodyPr/>
                    <a:lstStyle/>
                    <a:p>
                      <a:pPr algn="ctr" fontAlgn="b">
                        <a:lnSpc>
                          <a:spcPct val="150000"/>
                        </a:lnSpc>
                        <a:buNone/>
                      </a:pPr>
                      <a:r>
                        <a:rPr lang="en-US" sz="1200" b="0" i="0" u="none" strike="noStrike" dirty="0">
                          <a:solidFill>
                            <a:srgbClr val="000000"/>
                          </a:solidFill>
                          <a:effectLst/>
                          <a:latin typeface="DM Sans" pitchFamily="2" charset="0"/>
                        </a:rPr>
                        <a:t>Mode (Clicks)</a:t>
                      </a:r>
                    </a:p>
                  </a:txBody>
                  <a:tcPr marL="9525" marR="9525" marT="9525" marB="0" anchor="ctr"/>
                </a:tc>
                <a:tc>
                  <a:txBody>
                    <a:bodyPr/>
                    <a:lstStyle/>
                    <a:p>
                      <a:pPr algn="ctr" fontAlgn="b">
                        <a:lnSpc>
                          <a:spcPct val="150000"/>
                        </a:lnSpc>
                        <a:buNone/>
                      </a:pPr>
                      <a:r>
                        <a:rPr lang="en-US" sz="1200" b="0" i="0" u="none" strike="noStrike" dirty="0">
                          <a:solidFill>
                            <a:srgbClr val="000000"/>
                          </a:solidFill>
                          <a:effectLst/>
                          <a:latin typeface="DM Sans" pitchFamily="2" charset="0"/>
                        </a:rPr>
                        <a:t>36.00</a:t>
                      </a:r>
                    </a:p>
                  </a:txBody>
                  <a:tcPr marL="9525" marR="9525" marT="9525" marB="0" anchor="ctr"/>
                </a:tc>
                <a:tc>
                  <a:txBody>
                    <a:bodyPr/>
                    <a:lstStyle/>
                    <a:p>
                      <a:pPr algn="ctr" fontAlgn="b">
                        <a:lnSpc>
                          <a:spcPct val="150000"/>
                        </a:lnSpc>
                        <a:buNone/>
                      </a:pPr>
                      <a:r>
                        <a:rPr lang="en-US" sz="1200" b="0" i="0" u="none" strike="noStrike" dirty="0">
                          <a:solidFill>
                            <a:srgbClr val="000000"/>
                          </a:solidFill>
                          <a:effectLst/>
                          <a:latin typeface="DM Sans" pitchFamily="2" charset="0"/>
                        </a:rPr>
                        <a:t>Mode (Clicks)</a:t>
                      </a:r>
                    </a:p>
                  </a:txBody>
                  <a:tcPr marL="9525" marR="9525" marT="9525" marB="0" anchor="ctr"/>
                </a:tc>
                <a:tc>
                  <a:txBody>
                    <a:bodyPr/>
                    <a:lstStyle/>
                    <a:p>
                      <a:pPr algn="ctr" fontAlgn="b">
                        <a:lnSpc>
                          <a:spcPct val="150000"/>
                        </a:lnSpc>
                        <a:buNone/>
                      </a:pPr>
                      <a:r>
                        <a:rPr lang="en-US" sz="1200" b="0" i="0" u="none" strike="noStrike" dirty="0">
                          <a:solidFill>
                            <a:srgbClr val="000000"/>
                          </a:solidFill>
                          <a:effectLst/>
                          <a:latin typeface="DM Sans" pitchFamily="2" charset="0"/>
                        </a:rPr>
                        <a:t>78.00</a:t>
                      </a:r>
                    </a:p>
                  </a:txBody>
                  <a:tcPr marL="9525" marR="9525" marT="9525" marB="0" anchor="ctr"/>
                </a:tc>
                <a:extLst>
                  <a:ext uri="{0D108BD9-81ED-4DB2-BD59-A6C34878D82A}">
                    <a16:rowId xmlns:a16="http://schemas.microsoft.com/office/drawing/2014/main" val="283637766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E3CD020B-B7EB-8D45-CACB-0867B80CD0EA}"/>
            </a:ext>
          </a:extLst>
        </p:cNvPr>
        <p:cNvGrpSpPr/>
        <p:nvPr/>
      </p:nvGrpSpPr>
      <p:grpSpPr>
        <a:xfrm>
          <a:off x="0" y="0"/>
          <a:ext cx="0" cy="0"/>
          <a:chOff x="0" y="0"/>
          <a:chExt cx="0" cy="0"/>
        </a:xfrm>
      </p:grpSpPr>
      <p:sp>
        <p:nvSpPr>
          <p:cNvPr id="68" name="Google Shape;68;p15">
            <a:extLst>
              <a:ext uri="{FF2B5EF4-FFF2-40B4-BE49-F238E27FC236}">
                <a16:creationId xmlns:a16="http://schemas.microsoft.com/office/drawing/2014/main" id="{3625462F-30F1-5D81-33C7-C20EB3977D2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t>Finding the Middle of Conversions</a:t>
            </a:r>
            <a:br>
              <a:rPr lang="en" sz="2800" b="1" dirty="0"/>
            </a:br>
            <a:endParaRPr sz="2800" b="1" dirty="0"/>
          </a:p>
        </p:txBody>
      </p:sp>
      <p:sp>
        <p:nvSpPr>
          <p:cNvPr id="69" name="Google Shape;69;p15">
            <a:extLst>
              <a:ext uri="{FF2B5EF4-FFF2-40B4-BE49-F238E27FC236}">
                <a16:creationId xmlns:a16="http://schemas.microsoft.com/office/drawing/2014/main" id="{1445A70A-28DE-27B4-9BA6-8EDFE0E1A15F}"/>
              </a:ext>
            </a:extLst>
          </p:cNvPr>
          <p:cNvSpPr txBox="1">
            <a:spLocks noGrp="1"/>
          </p:cNvSpPr>
          <p:nvPr>
            <p:ph type="body" idx="1"/>
          </p:nvPr>
        </p:nvSpPr>
        <p:spPr>
          <a:xfrm>
            <a:off x="311700" y="1152475"/>
            <a:ext cx="8520600" cy="834044"/>
          </a:xfrm>
          <a:prstGeom prst="rect">
            <a:avLst/>
          </a:prstGeom>
        </p:spPr>
        <p:txBody>
          <a:bodyPr spcFirstLastPara="1" wrap="square" lIns="91425" tIns="91425" rIns="91425" bIns="91425" anchor="t" anchorCtr="0">
            <a:spAutoFit/>
          </a:bodyPr>
          <a:lstStyle/>
          <a:p>
            <a:pPr marL="0" lvl="0" indent="0">
              <a:spcAft>
                <a:spcPts val="1200"/>
              </a:spcAft>
              <a:buNone/>
            </a:pPr>
            <a:r>
              <a:rPr lang="en" sz="1400" dirty="0"/>
              <a:t>Mean, Median, and Mode help in compare the data. Below, list the mean, median, and mode of the conversions in the </a:t>
            </a:r>
            <a:r>
              <a:rPr lang="en" sz="1400" b="1" dirty="0"/>
              <a:t>“</a:t>
            </a:r>
            <a:r>
              <a:rPr lang="en-US" sz="1400" b="1" dirty="0"/>
              <a:t>Facebook Ad” &amp; “AdWords Ad” </a:t>
            </a:r>
            <a:r>
              <a:rPr lang="en" sz="1400" dirty="0"/>
              <a:t>data.</a:t>
            </a:r>
            <a:endParaRPr sz="1400" dirty="0"/>
          </a:p>
        </p:txBody>
      </p:sp>
      <p:graphicFrame>
        <p:nvGraphicFramePr>
          <p:cNvPr id="2" name="Table 1">
            <a:extLst>
              <a:ext uri="{FF2B5EF4-FFF2-40B4-BE49-F238E27FC236}">
                <a16:creationId xmlns:a16="http://schemas.microsoft.com/office/drawing/2014/main" id="{00E11A92-7E4C-5A5C-17A7-AE9757B6DEAC}"/>
              </a:ext>
            </a:extLst>
          </p:cNvPr>
          <p:cNvGraphicFramePr>
            <a:graphicFrameLocks noGrp="1"/>
          </p:cNvGraphicFramePr>
          <p:nvPr>
            <p:extLst>
              <p:ext uri="{D42A27DB-BD31-4B8C-83A1-F6EECF244321}">
                <p14:modId xmlns:p14="http://schemas.microsoft.com/office/powerpoint/2010/main" val="2111651425"/>
              </p:ext>
            </p:extLst>
          </p:nvPr>
        </p:nvGraphicFramePr>
        <p:xfrm>
          <a:off x="653808" y="2412262"/>
          <a:ext cx="7836384" cy="1749570"/>
        </p:xfrm>
        <a:graphic>
          <a:graphicData uri="http://schemas.openxmlformats.org/drawingml/2006/table">
            <a:tbl>
              <a:tblPr firstRow="1" bandRow="1">
                <a:tableStyleId>{BDBED569-4797-4DF1-A0F4-6AAB3CD982D8}</a:tableStyleId>
              </a:tblPr>
              <a:tblGrid>
                <a:gridCol w="1959096">
                  <a:extLst>
                    <a:ext uri="{9D8B030D-6E8A-4147-A177-3AD203B41FA5}">
                      <a16:colId xmlns:a16="http://schemas.microsoft.com/office/drawing/2014/main" val="2152552481"/>
                    </a:ext>
                  </a:extLst>
                </a:gridCol>
                <a:gridCol w="1959096">
                  <a:extLst>
                    <a:ext uri="{9D8B030D-6E8A-4147-A177-3AD203B41FA5}">
                      <a16:colId xmlns:a16="http://schemas.microsoft.com/office/drawing/2014/main" val="3494078799"/>
                    </a:ext>
                  </a:extLst>
                </a:gridCol>
                <a:gridCol w="1959096">
                  <a:extLst>
                    <a:ext uri="{9D8B030D-6E8A-4147-A177-3AD203B41FA5}">
                      <a16:colId xmlns:a16="http://schemas.microsoft.com/office/drawing/2014/main" val="3568019214"/>
                    </a:ext>
                  </a:extLst>
                </a:gridCol>
                <a:gridCol w="1959096">
                  <a:extLst>
                    <a:ext uri="{9D8B030D-6E8A-4147-A177-3AD203B41FA5}">
                      <a16:colId xmlns:a16="http://schemas.microsoft.com/office/drawing/2014/main" val="1110885780"/>
                    </a:ext>
                  </a:extLst>
                </a:gridCol>
              </a:tblGrid>
              <a:tr h="431314">
                <a:tc gridSpan="2">
                  <a:txBody>
                    <a:bodyPr/>
                    <a:lstStyle/>
                    <a:p>
                      <a:pPr algn="ctr"/>
                      <a:r>
                        <a:rPr lang="en-US" sz="1400" b="1" dirty="0">
                          <a:latin typeface="DM Sans" pitchFamily="2" charset="0"/>
                        </a:rPr>
                        <a:t>Facebook Ad</a:t>
                      </a:r>
                      <a:endParaRPr lang="en-US" sz="1400" dirty="0">
                        <a:latin typeface="DM Sans" pitchFamily="2" charset="0"/>
                      </a:endParaRPr>
                    </a:p>
                  </a:txBody>
                  <a:tcPr anchor="ctr"/>
                </a:tc>
                <a:tc hMerge="1">
                  <a:txBody>
                    <a:bodyPr/>
                    <a:lstStyle/>
                    <a:p>
                      <a:endParaRPr lang="en-US" dirty="0"/>
                    </a:p>
                  </a:txBody>
                  <a:tcPr/>
                </a:tc>
                <a:tc gridSpan="2">
                  <a:txBody>
                    <a:bodyPr/>
                    <a:lstStyle/>
                    <a:p>
                      <a:pPr algn="ctr"/>
                      <a:r>
                        <a:rPr lang="en-US" sz="1400" b="1" dirty="0">
                          <a:latin typeface="DM Sans" pitchFamily="2" charset="0"/>
                        </a:rPr>
                        <a:t>AdWords Ad</a:t>
                      </a:r>
                      <a:endParaRPr lang="en-US" sz="1400" dirty="0">
                        <a:latin typeface="DM Sans" pitchFamily="2" charset="0"/>
                      </a:endParaRPr>
                    </a:p>
                  </a:txBody>
                  <a:tcPr anchor="ctr"/>
                </a:tc>
                <a:tc hMerge="1">
                  <a:txBody>
                    <a:bodyPr/>
                    <a:lstStyle/>
                    <a:p>
                      <a:endParaRPr lang="en-US" dirty="0"/>
                    </a:p>
                  </a:txBody>
                  <a:tcPr/>
                </a:tc>
                <a:extLst>
                  <a:ext uri="{0D108BD9-81ED-4DB2-BD59-A6C34878D82A}">
                    <a16:rowId xmlns:a16="http://schemas.microsoft.com/office/drawing/2014/main" val="1656788802"/>
                  </a:ext>
                </a:extLst>
              </a:tr>
              <a:tr h="431314">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Mean (Conversions)</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11.74</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Mean (Conversions)</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a:solidFill>
                            <a:srgbClr val="000000"/>
                          </a:solidFill>
                          <a:effectLst/>
                          <a:latin typeface="DM Sans" pitchFamily="2" charset="0"/>
                          <a:ea typeface="+mn-ea"/>
                          <a:cs typeface="+mn-cs"/>
                          <a:sym typeface="Arial"/>
                        </a:rPr>
                        <a:t>5.98</a:t>
                      </a:r>
                    </a:p>
                  </a:txBody>
                  <a:tcPr marL="9525" marR="9525" marT="9525" marB="0" anchor="ctr"/>
                </a:tc>
                <a:extLst>
                  <a:ext uri="{0D108BD9-81ED-4DB2-BD59-A6C34878D82A}">
                    <a16:rowId xmlns:a16="http://schemas.microsoft.com/office/drawing/2014/main" val="588131063"/>
                  </a:ext>
                </a:extLst>
              </a:tr>
              <a:tr h="455628">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Median (Conversions)</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12.00</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Median (Conversions)</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6.00</a:t>
                      </a:r>
                    </a:p>
                  </a:txBody>
                  <a:tcPr marL="9525" marR="9525" marT="9525" marB="0" anchor="ctr"/>
                </a:tc>
                <a:extLst>
                  <a:ext uri="{0D108BD9-81ED-4DB2-BD59-A6C34878D82A}">
                    <a16:rowId xmlns:a16="http://schemas.microsoft.com/office/drawing/2014/main" val="1938208176"/>
                  </a:ext>
                </a:extLst>
              </a:tr>
              <a:tr h="431314">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Mode (Conversions)</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13.00</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Mode (Conversions)</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5.00</a:t>
                      </a:r>
                    </a:p>
                  </a:txBody>
                  <a:tcPr marL="9525" marR="9525" marT="9525" marB="0" anchor="ctr"/>
                </a:tc>
                <a:extLst>
                  <a:ext uri="{0D108BD9-81ED-4DB2-BD59-A6C34878D82A}">
                    <a16:rowId xmlns:a16="http://schemas.microsoft.com/office/drawing/2014/main" val="2836377663"/>
                  </a:ext>
                </a:extLst>
              </a:tr>
            </a:tbl>
          </a:graphicData>
        </a:graphic>
      </p:graphicFrame>
    </p:spTree>
    <p:extLst>
      <p:ext uri="{BB962C8B-B14F-4D97-AF65-F5344CB8AC3E}">
        <p14:creationId xmlns:p14="http://schemas.microsoft.com/office/powerpoint/2010/main" val="3909240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t>Standard Deviation</a:t>
            </a:r>
            <a:endParaRPr sz="2800" b="1" dirty="0"/>
          </a:p>
        </p:txBody>
      </p:sp>
      <p:sp>
        <p:nvSpPr>
          <p:cNvPr id="87" name="Google Shape;87;p17"/>
          <p:cNvSpPr txBox="1">
            <a:spLocks noGrp="1"/>
          </p:cNvSpPr>
          <p:nvPr>
            <p:ph type="body" idx="1"/>
          </p:nvPr>
        </p:nvSpPr>
        <p:spPr>
          <a:xfrm>
            <a:off x="311700" y="1152475"/>
            <a:ext cx="8520600" cy="834044"/>
          </a:xfrm>
          <a:prstGeom prst="rect">
            <a:avLst/>
          </a:prstGeom>
        </p:spPr>
        <p:txBody>
          <a:bodyPr spcFirstLastPara="1" wrap="square" lIns="91425" tIns="91425" rIns="91425" bIns="91425" anchor="t" anchorCtr="0">
            <a:spAutoFit/>
          </a:bodyPr>
          <a:lstStyle/>
          <a:p>
            <a:pPr marL="0" lvl="0" indent="0">
              <a:spcAft>
                <a:spcPts val="1200"/>
              </a:spcAft>
              <a:buNone/>
            </a:pPr>
            <a:r>
              <a:rPr lang="en-US" sz="1400" dirty="0"/>
              <a:t>Determining variance in data helps show how spread out the values are around the mean. </a:t>
            </a:r>
            <a:r>
              <a:rPr lang="en" sz="1400" dirty="0"/>
              <a:t>Below, is the standard deviation of the </a:t>
            </a:r>
            <a:r>
              <a:rPr lang="en" sz="1400" b="1" dirty="0"/>
              <a:t>“</a:t>
            </a:r>
            <a:r>
              <a:rPr lang="en-US" sz="1400" b="1" dirty="0"/>
              <a:t>Facebook Ad” &amp; “AdWords Ad</a:t>
            </a:r>
            <a:r>
              <a:rPr lang="en" sz="1400" dirty="0"/>
              <a:t> data. </a:t>
            </a:r>
            <a:endParaRPr sz="1400" dirty="0"/>
          </a:p>
        </p:txBody>
      </p:sp>
      <p:graphicFrame>
        <p:nvGraphicFramePr>
          <p:cNvPr id="2" name="Table 1">
            <a:extLst>
              <a:ext uri="{FF2B5EF4-FFF2-40B4-BE49-F238E27FC236}">
                <a16:creationId xmlns:a16="http://schemas.microsoft.com/office/drawing/2014/main" id="{94FF06EC-6A25-FD20-8CAE-FC60BA218151}"/>
              </a:ext>
            </a:extLst>
          </p:cNvPr>
          <p:cNvGraphicFramePr>
            <a:graphicFrameLocks noGrp="1"/>
          </p:cNvGraphicFramePr>
          <p:nvPr>
            <p:extLst>
              <p:ext uri="{D42A27DB-BD31-4B8C-83A1-F6EECF244321}">
                <p14:modId xmlns:p14="http://schemas.microsoft.com/office/powerpoint/2010/main" val="1744747632"/>
              </p:ext>
            </p:extLst>
          </p:nvPr>
        </p:nvGraphicFramePr>
        <p:xfrm>
          <a:off x="653808" y="2378642"/>
          <a:ext cx="7836384" cy="1531437"/>
        </p:xfrm>
        <a:graphic>
          <a:graphicData uri="http://schemas.openxmlformats.org/drawingml/2006/table">
            <a:tbl>
              <a:tblPr firstRow="1" bandRow="1">
                <a:tableStyleId>{BDBED569-4797-4DF1-A0F4-6AAB3CD982D8}</a:tableStyleId>
              </a:tblPr>
              <a:tblGrid>
                <a:gridCol w="1959096">
                  <a:extLst>
                    <a:ext uri="{9D8B030D-6E8A-4147-A177-3AD203B41FA5}">
                      <a16:colId xmlns:a16="http://schemas.microsoft.com/office/drawing/2014/main" val="2152552481"/>
                    </a:ext>
                  </a:extLst>
                </a:gridCol>
                <a:gridCol w="1959096">
                  <a:extLst>
                    <a:ext uri="{9D8B030D-6E8A-4147-A177-3AD203B41FA5}">
                      <a16:colId xmlns:a16="http://schemas.microsoft.com/office/drawing/2014/main" val="3494078799"/>
                    </a:ext>
                  </a:extLst>
                </a:gridCol>
                <a:gridCol w="1959096">
                  <a:extLst>
                    <a:ext uri="{9D8B030D-6E8A-4147-A177-3AD203B41FA5}">
                      <a16:colId xmlns:a16="http://schemas.microsoft.com/office/drawing/2014/main" val="3568019214"/>
                    </a:ext>
                  </a:extLst>
                </a:gridCol>
                <a:gridCol w="1959096">
                  <a:extLst>
                    <a:ext uri="{9D8B030D-6E8A-4147-A177-3AD203B41FA5}">
                      <a16:colId xmlns:a16="http://schemas.microsoft.com/office/drawing/2014/main" val="1110885780"/>
                    </a:ext>
                  </a:extLst>
                </a:gridCol>
              </a:tblGrid>
              <a:tr h="431314">
                <a:tc gridSpan="2">
                  <a:txBody>
                    <a:bodyPr/>
                    <a:lstStyle/>
                    <a:p>
                      <a:pPr algn="ctr"/>
                      <a:r>
                        <a:rPr lang="en-US" sz="1400" b="1" dirty="0">
                          <a:latin typeface="DM Sans" pitchFamily="2" charset="0"/>
                        </a:rPr>
                        <a:t>Facebook Ad</a:t>
                      </a:r>
                      <a:endParaRPr lang="en-US" sz="1400" dirty="0">
                        <a:latin typeface="DM Sans" pitchFamily="2" charset="0"/>
                      </a:endParaRPr>
                    </a:p>
                  </a:txBody>
                  <a:tcPr anchor="ctr"/>
                </a:tc>
                <a:tc hMerge="1">
                  <a:txBody>
                    <a:bodyPr/>
                    <a:lstStyle/>
                    <a:p>
                      <a:endParaRPr lang="en-US" dirty="0"/>
                    </a:p>
                  </a:txBody>
                  <a:tcPr/>
                </a:tc>
                <a:tc gridSpan="2">
                  <a:txBody>
                    <a:bodyPr/>
                    <a:lstStyle/>
                    <a:p>
                      <a:pPr algn="ctr"/>
                      <a:r>
                        <a:rPr lang="en-US" sz="1400" b="1" dirty="0">
                          <a:latin typeface="DM Sans" pitchFamily="2" charset="0"/>
                        </a:rPr>
                        <a:t>AdWords Ad</a:t>
                      </a:r>
                      <a:endParaRPr lang="en-US" sz="1400" dirty="0">
                        <a:latin typeface="DM Sans" pitchFamily="2" charset="0"/>
                      </a:endParaRPr>
                    </a:p>
                  </a:txBody>
                  <a:tcPr anchor="ctr"/>
                </a:tc>
                <a:tc hMerge="1">
                  <a:txBody>
                    <a:bodyPr/>
                    <a:lstStyle/>
                    <a:p>
                      <a:endParaRPr lang="en-US" dirty="0"/>
                    </a:p>
                  </a:txBody>
                  <a:tcPr/>
                </a:tc>
                <a:extLst>
                  <a:ext uri="{0D108BD9-81ED-4DB2-BD59-A6C34878D82A}">
                    <a16:rowId xmlns:a16="http://schemas.microsoft.com/office/drawing/2014/main" val="1656788802"/>
                  </a:ext>
                </a:extLst>
              </a:tr>
              <a:tr h="571197">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Standard Deviation </a:t>
                      </a:r>
                    </a:p>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(Clicks)</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12.14</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Standard Deviation </a:t>
                      </a:r>
                    </a:p>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(Clicks)</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14.38</a:t>
                      </a:r>
                    </a:p>
                  </a:txBody>
                  <a:tcPr marL="9525" marR="9525" marT="9525" marB="0" anchor="ctr"/>
                </a:tc>
                <a:extLst>
                  <a:ext uri="{0D108BD9-81ED-4DB2-BD59-A6C34878D82A}">
                    <a16:rowId xmlns:a16="http://schemas.microsoft.com/office/drawing/2014/main" val="588131063"/>
                  </a:ext>
                </a:extLst>
              </a:tr>
              <a:tr h="528926">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Standard Deviation (Conversions)</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2.92</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Standard Deviation (Conversions)</a:t>
                      </a:r>
                    </a:p>
                  </a:txBody>
                  <a:tcPr marL="9525" marR="9525" marT="9525" marB="0" anchor="ctr"/>
                </a:tc>
                <a:tc>
                  <a:txBody>
                    <a:bodyPr/>
                    <a:lstStyle/>
                    <a:p>
                      <a:pPr marR="0" algn="ctr" rtl="0" fontAlgn="b">
                        <a:lnSpc>
                          <a:spcPct val="150000"/>
                        </a:lnSpc>
                        <a:spcBef>
                          <a:spcPts val="0"/>
                        </a:spcBef>
                        <a:spcAft>
                          <a:spcPts val="0"/>
                        </a:spcAft>
                        <a:buClr>
                          <a:srgbClr val="000000"/>
                        </a:buClr>
                        <a:buFont typeface="Arial"/>
                        <a:buNone/>
                      </a:pPr>
                      <a:r>
                        <a:rPr lang="en-US" sz="1200" b="0" i="0" u="none" strike="noStrike" cap="none" dirty="0">
                          <a:solidFill>
                            <a:srgbClr val="000000"/>
                          </a:solidFill>
                          <a:effectLst/>
                          <a:latin typeface="DM Sans" pitchFamily="2" charset="0"/>
                          <a:ea typeface="+mn-ea"/>
                          <a:cs typeface="+mn-cs"/>
                          <a:sym typeface="Arial"/>
                        </a:rPr>
                        <a:t>1.63</a:t>
                      </a:r>
                    </a:p>
                  </a:txBody>
                  <a:tcPr marL="9525" marR="9525" marT="9525" marB="0" anchor="ctr"/>
                </a:tc>
                <a:extLst>
                  <a:ext uri="{0D108BD9-81ED-4DB2-BD59-A6C34878D82A}">
                    <a16:rowId xmlns:a16="http://schemas.microsoft.com/office/drawing/2014/main" val="193820817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81090D2E-E938-B235-F6EB-27BC6A112239}"/>
            </a:ext>
          </a:extLst>
        </p:cNvPr>
        <p:cNvGrpSpPr/>
        <p:nvPr/>
      </p:nvGrpSpPr>
      <p:grpSpPr>
        <a:xfrm>
          <a:off x="0" y="0"/>
          <a:ext cx="0" cy="0"/>
          <a:chOff x="0" y="0"/>
          <a:chExt cx="0" cy="0"/>
        </a:xfrm>
      </p:grpSpPr>
      <p:sp>
        <p:nvSpPr>
          <p:cNvPr id="94" name="Google Shape;94;p18">
            <a:extLst>
              <a:ext uri="{FF2B5EF4-FFF2-40B4-BE49-F238E27FC236}">
                <a16:creationId xmlns:a16="http://schemas.microsoft.com/office/drawing/2014/main" id="{82D95E08-116B-361B-B32B-0F74281DC0E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t>Frequency Table of Facebook</a:t>
            </a:r>
            <a:endParaRPr sz="2800" b="1" dirty="0"/>
          </a:p>
        </p:txBody>
      </p:sp>
      <p:sp>
        <p:nvSpPr>
          <p:cNvPr id="95" name="Google Shape;95;p18">
            <a:extLst>
              <a:ext uri="{FF2B5EF4-FFF2-40B4-BE49-F238E27FC236}">
                <a16:creationId xmlns:a16="http://schemas.microsoft.com/office/drawing/2014/main" id="{49BDDBC7-2864-1F74-156C-FE7E5915D8AD}"/>
              </a:ext>
            </a:extLst>
          </p:cNvPr>
          <p:cNvSpPr txBox="1">
            <a:spLocks noGrp="1"/>
          </p:cNvSpPr>
          <p:nvPr>
            <p:ph type="body" idx="1"/>
          </p:nvPr>
        </p:nvSpPr>
        <p:spPr>
          <a:xfrm>
            <a:off x="311700" y="1152475"/>
            <a:ext cx="8520600" cy="834044"/>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400" dirty="0"/>
              <a:t>Understanding how often something happens is important to understanding trends and patterns in your data. Create and insert a contingency table generated from your data.</a:t>
            </a:r>
            <a:endParaRPr sz="1400" dirty="0"/>
          </a:p>
        </p:txBody>
      </p:sp>
      <p:graphicFrame>
        <p:nvGraphicFramePr>
          <p:cNvPr id="3" name="Table 2">
            <a:extLst>
              <a:ext uri="{FF2B5EF4-FFF2-40B4-BE49-F238E27FC236}">
                <a16:creationId xmlns:a16="http://schemas.microsoft.com/office/drawing/2014/main" id="{AFE8C4E1-36BB-6944-CEE1-63D64A5814D7}"/>
              </a:ext>
            </a:extLst>
          </p:cNvPr>
          <p:cNvGraphicFramePr>
            <a:graphicFrameLocks noGrp="1"/>
          </p:cNvGraphicFramePr>
          <p:nvPr>
            <p:extLst>
              <p:ext uri="{D42A27DB-BD31-4B8C-83A1-F6EECF244321}">
                <p14:modId xmlns:p14="http://schemas.microsoft.com/office/powerpoint/2010/main" val="1021965346"/>
              </p:ext>
            </p:extLst>
          </p:nvPr>
        </p:nvGraphicFramePr>
        <p:xfrm>
          <a:off x="795575" y="2556562"/>
          <a:ext cx="7552851" cy="1608634"/>
        </p:xfrm>
        <a:graphic>
          <a:graphicData uri="http://schemas.openxmlformats.org/drawingml/2006/table">
            <a:tbl>
              <a:tblPr firstRow="1" bandRow="1">
                <a:tableStyleId>{BDBED569-4797-4DF1-A0F4-6AAB3CD982D8}</a:tableStyleId>
              </a:tblPr>
              <a:tblGrid>
                <a:gridCol w="2192175">
                  <a:extLst>
                    <a:ext uri="{9D8B030D-6E8A-4147-A177-3AD203B41FA5}">
                      <a16:colId xmlns:a16="http://schemas.microsoft.com/office/drawing/2014/main" val="3489998760"/>
                    </a:ext>
                  </a:extLst>
                </a:gridCol>
                <a:gridCol w="1318437">
                  <a:extLst>
                    <a:ext uri="{9D8B030D-6E8A-4147-A177-3AD203B41FA5}">
                      <a16:colId xmlns:a16="http://schemas.microsoft.com/office/drawing/2014/main" val="2259956529"/>
                    </a:ext>
                  </a:extLst>
                </a:gridCol>
                <a:gridCol w="1339703">
                  <a:extLst>
                    <a:ext uri="{9D8B030D-6E8A-4147-A177-3AD203B41FA5}">
                      <a16:colId xmlns:a16="http://schemas.microsoft.com/office/drawing/2014/main" val="1427476196"/>
                    </a:ext>
                  </a:extLst>
                </a:gridCol>
                <a:gridCol w="1339703">
                  <a:extLst>
                    <a:ext uri="{9D8B030D-6E8A-4147-A177-3AD203B41FA5}">
                      <a16:colId xmlns:a16="http://schemas.microsoft.com/office/drawing/2014/main" val="919333341"/>
                    </a:ext>
                  </a:extLst>
                </a:gridCol>
                <a:gridCol w="1362833">
                  <a:extLst>
                    <a:ext uri="{9D8B030D-6E8A-4147-A177-3AD203B41FA5}">
                      <a16:colId xmlns:a16="http://schemas.microsoft.com/office/drawing/2014/main" val="1911417694"/>
                    </a:ext>
                  </a:extLst>
                </a:gridCol>
              </a:tblGrid>
              <a:tr h="640080">
                <a:tc>
                  <a:txBody>
                    <a:bodyPr/>
                    <a:lstStyle/>
                    <a:p>
                      <a:pPr marR="0" algn="ctr" rtl="0" fontAlgn="b">
                        <a:lnSpc>
                          <a:spcPct val="100000"/>
                        </a:lnSpc>
                        <a:spcBef>
                          <a:spcPts val="0"/>
                        </a:spcBef>
                        <a:spcAft>
                          <a:spcPts val="0"/>
                        </a:spcAft>
                        <a:buClr>
                          <a:srgbClr val="000000"/>
                        </a:buClr>
                        <a:buFont typeface="Arial"/>
                        <a:buNone/>
                      </a:pPr>
                      <a:endParaRPr lang="en-US" sz="1600" b="1" i="0" u="none" strike="noStrike" cap="none" dirty="0">
                        <a:solidFill>
                          <a:schemeClr val="tx1"/>
                        </a:solidFill>
                        <a:latin typeface="DM Sans" pitchFamily="2" charset="0"/>
                        <a:ea typeface="+mn-ea"/>
                        <a:cs typeface="+mn-cs"/>
                        <a:sym typeface="Arial"/>
                      </a:endParaRPr>
                    </a:p>
                  </a:txBody>
                  <a:tcPr marL="9525" marR="9525" marT="9525" marB="0" anchor="ctr"/>
                </a:tc>
                <a:tc gridSpan="4">
                  <a:txBody>
                    <a:bodyPr/>
                    <a:lstStyle/>
                    <a:p>
                      <a:pPr algn="ctr">
                        <a:lnSpc>
                          <a:spcPct val="150000"/>
                        </a:lnSpc>
                      </a:pPr>
                      <a:r>
                        <a:rPr lang="en-US" sz="1400" b="1" i="0" u="none" strike="noStrike" cap="none" dirty="0">
                          <a:solidFill>
                            <a:schemeClr val="tx1"/>
                          </a:solidFill>
                          <a:latin typeface="DM Sans" pitchFamily="2" charset="0"/>
                          <a:ea typeface="+mn-ea"/>
                          <a:cs typeface="+mn-cs"/>
                          <a:sym typeface="Arial"/>
                        </a:rPr>
                        <a:t>Number of “Facebook” Conversions by Grouping for 2023</a:t>
                      </a:r>
                      <a:endParaRPr lang="en-US" sz="1200" dirty="0">
                        <a:latin typeface="DM Sans" pitchFamily="2" charset="0"/>
                      </a:endParaRPr>
                    </a:p>
                  </a:txBody>
                  <a:tcPr marL="9525" marR="9525"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92359424"/>
                  </a:ext>
                </a:extLst>
              </a:tr>
              <a:tr h="484277">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Number of Conversions:</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a:solidFill>
                            <a:schemeClr val="tx1"/>
                          </a:solidFill>
                          <a:latin typeface="DM Sans" pitchFamily="2" charset="0"/>
                          <a:ea typeface="+mn-ea"/>
                          <a:cs typeface="+mn-cs"/>
                          <a:sym typeface="Arial"/>
                        </a:rPr>
                        <a:t>1 to 5</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a:solidFill>
                            <a:schemeClr val="tx1"/>
                          </a:solidFill>
                          <a:latin typeface="DM Sans" pitchFamily="2" charset="0"/>
                          <a:ea typeface="+mn-ea"/>
                          <a:cs typeface="+mn-cs"/>
                          <a:sym typeface="Arial"/>
                        </a:rPr>
                        <a:t>6 to 10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a:solidFill>
                            <a:schemeClr val="tx1"/>
                          </a:solidFill>
                          <a:latin typeface="DM Sans" pitchFamily="2" charset="0"/>
                          <a:ea typeface="+mn-ea"/>
                          <a:cs typeface="+mn-cs"/>
                          <a:sym typeface="Arial"/>
                        </a:rPr>
                        <a:t>11 to 15</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16+</a:t>
                      </a:r>
                    </a:p>
                  </a:txBody>
                  <a:tcPr marL="9525" marR="9525" marT="9525" marB="0" anchor="ctr"/>
                </a:tc>
                <a:extLst>
                  <a:ext uri="{0D108BD9-81ED-4DB2-BD59-A6C34878D82A}">
                    <a16:rowId xmlns:a16="http://schemas.microsoft.com/office/drawing/2014/main" val="101370956"/>
                  </a:ext>
                </a:extLst>
              </a:tr>
              <a:tr h="484277">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Number of Occurrences:</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1</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128</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189</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47</a:t>
                      </a:r>
                    </a:p>
                  </a:txBody>
                  <a:tcPr marL="9525" marR="9525" marT="9525" marB="0" anchor="ctr"/>
                </a:tc>
                <a:extLst>
                  <a:ext uri="{0D108BD9-81ED-4DB2-BD59-A6C34878D82A}">
                    <a16:rowId xmlns:a16="http://schemas.microsoft.com/office/drawing/2014/main" val="4102598107"/>
                  </a:ext>
                </a:extLst>
              </a:tr>
            </a:tbl>
          </a:graphicData>
        </a:graphic>
      </p:graphicFrame>
    </p:spTree>
    <p:extLst>
      <p:ext uri="{BB962C8B-B14F-4D97-AF65-F5344CB8AC3E}">
        <p14:creationId xmlns:p14="http://schemas.microsoft.com/office/powerpoint/2010/main" val="3224059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759043AD-916C-03FF-C744-A5B85633A94A}"/>
            </a:ext>
          </a:extLst>
        </p:cNvPr>
        <p:cNvGrpSpPr/>
        <p:nvPr/>
      </p:nvGrpSpPr>
      <p:grpSpPr>
        <a:xfrm>
          <a:off x="0" y="0"/>
          <a:ext cx="0" cy="0"/>
          <a:chOff x="0" y="0"/>
          <a:chExt cx="0" cy="0"/>
        </a:xfrm>
      </p:grpSpPr>
      <p:sp>
        <p:nvSpPr>
          <p:cNvPr id="94" name="Google Shape;94;p18">
            <a:extLst>
              <a:ext uri="{FF2B5EF4-FFF2-40B4-BE49-F238E27FC236}">
                <a16:creationId xmlns:a16="http://schemas.microsoft.com/office/drawing/2014/main" id="{89920F3C-6038-F53F-0A9D-34821BCB394D}"/>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t>Frequency Table of AdWords</a:t>
            </a:r>
            <a:endParaRPr sz="2800" b="1" dirty="0"/>
          </a:p>
        </p:txBody>
      </p:sp>
      <p:sp>
        <p:nvSpPr>
          <p:cNvPr id="95" name="Google Shape;95;p18">
            <a:extLst>
              <a:ext uri="{FF2B5EF4-FFF2-40B4-BE49-F238E27FC236}">
                <a16:creationId xmlns:a16="http://schemas.microsoft.com/office/drawing/2014/main" id="{39D50A55-D3D7-A12E-91E7-AB31B2A4CD89}"/>
              </a:ext>
            </a:extLst>
          </p:cNvPr>
          <p:cNvSpPr txBox="1">
            <a:spLocks noGrp="1"/>
          </p:cNvSpPr>
          <p:nvPr>
            <p:ph type="body" idx="1"/>
          </p:nvPr>
        </p:nvSpPr>
        <p:spPr>
          <a:xfrm>
            <a:off x="311700" y="1152475"/>
            <a:ext cx="8520600" cy="834044"/>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400" dirty="0"/>
              <a:t>Understanding how often something happens is important to understanding trends and patterns in your data. Create and insert a contingency table generated from your data.</a:t>
            </a:r>
            <a:endParaRPr sz="1400" dirty="0"/>
          </a:p>
        </p:txBody>
      </p:sp>
      <p:graphicFrame>
        <p:nvGraphicFramePr>
          <p:cNvPr id="2" name="Table 1">
            <a:extLst>
              <a:ext uri="{FF2B5EF4-FFF2-40B4-BE49-F238E27FC236}">
                <a16:creationId xmlns:a16="http://schemas.microsoft.com/office/drawing/2014/main" id="{4376B83C-BE56-D1BA-1AC7-E17770497632}"/>
              </a:ext>
            </a:extLst>
          </p:cNvPr>
          <p:cNvGraphicFramePr>
            <a:graphicFrameLocks noGrp="1"/>
          </p:cNvGraphicFramePr>
          <p:nvPr>
            <p:extLst>
              <p:ext uri="{D42A27DB-BD31-4B8C-83A1-F6EECF244321}">
                <p14:modId xmlns:p14="http://schemas.microsoft.com/office/powerpoint/2010/main" val="4138310654"/>
              </p:ext>
            </p:extLst>
          </p:nvPr>
        </p:nvGraphicFramePr>
        <p:xfrm>
          <a:off x="795575" y="2586614"/>
          <a:ext cx="7552850" cy="1624870"/>
        </p:xfrm>
        <a:graphic>
          <a:graphicData uri="http://schemas.openxmlformats.org/drawingml/2006/table">
            <a:tbl>
              <a:tblPr firstRow="1" bandRow="1">
                <a:tableStyleId>{BDBED569-4797-4DF1-A0F4-6AAB3CD982D8}</a:tableStyleId>
              </a:tblPr>
              <a:tblGrid>
                <a:gridCol w="2192174">
                  <a:extLst>
                    <a:ext uri="{9D8B030D-6E8A-4147-A177-3AD203B41FA5}">
                      <a16:colId xmlns:a16="http://schemas.microsoft.com/office/drawing/2014/main" val="3489998760"/>
                    </a:ext>
                  </a:extLst>
                </a:gridCol>
                <a:gridCol w="1318437">
                  <a:extLst>
                    <a:ext uri="{9D8B030D-6E8A-4147-A177-3AD203B41FA5}">
                      <a16:colId xmlns:a16="http://schemas.microsoft.com/office/drawing/2014/main" val="2259956529"/>
                    </a:ext>
                  </a:extLst>
                </a:gridCol>
                <a:gridCol w="1297173">
                  <a:extLst>
                    <a:ext uri="{9D8B030D-6E8A-4147-A177-3AD203B41FA5}">
                      <a16:colId xmlns:a16="http://schemas.microsoft.com/office/drawing/2014/main" val="1427476196"/>
                    </a:ext>
                  </a:extLst>
                </a:gridCol>
                <a:gridCol w="1403498">
                  <a:extLst>
                    <a:ext uri="{9D8B030D-6E8A-4147-A177-3AD203B41FA5}">
                      <a16:colId xmlns:a16="http://schemas.microsoft.com/office/drawing/2014/main" val="919333341"/>
                    </a:ext>
                  </a:extLst>
                </a:gridCol>
                <a:gridCol w="1341568">
                  <a:extLst>
                    <a:ext uri="{9D8B030D-6E8A-4147-A177-3AD203B41FA5}">
                      <a16:colId xmlns:a16="http://schemas.microsoft.com/office/drawing/2014/main" val="1911417694"/>
                    </a:ext>
                  </a:extLst>
                </a:gridCol>
              </a:tblGrid>
              <a:tr h="656316">
                <a:tc>
                  <a:txBody>
                    <a:bodyPr/>
                    <a:lstStyle/>
                    <a:p>
                      <a:pPr marR="0" algn="ctr" rtl="0" fontAlgn="b">
                        <a:lnSpc>
                          <a:spcPct val="100000"/>
                        </a:lnSpc>
                        <a:spcBef>
                          <a:spcPts val="0"/>
                        </a:spcBef>
                        <a:spcAft>
                          <a:spcPts val="0"/>
                        </a:spcAft>
                        <a:buClr>
                          <a:srgbClr val="000000"/>
                        </a:buClr>
                        <a:buFont typeface="Arial"/>
                        <a:buNone/>
                      </a:pPr>
                      <a:r>
                        <a:rPr lang="en-US" sz="1600" b="1" u="none" strike="noStrike" cap="none" dirty="0">
                          <a:solidFill>
                            <a:schemeClr val="tx1"/>
                          </a:solidFill>
                          <a:latin typeface="DM Sans" pitchFamily="2" charset="0"/>
                          <a:sym typeface="Arial"/>
                        </a:rPr>
                        <a:t> </a:t>
                      </a:r>
                      <a:endParaRPr lang="en-US" sz="1600" b="1" i="0" u="none" strike="noStrike" cap="none" dirty="0">
                        <a:solidFill>
                          <a:schemeClr val="tx1"/>
                        </a:solidFill>
                        <a:latin typeface="DM Sans" pitchFamily="2" charset="0"/>
                        <a:ea typeface="+mn-ea"/>
                        <a:cs typeface="+mn-cs"/>
                        <a:sym typeface="Arial"/>
                      </a:endParaRPr>
                    </a:p>
                  </a:txBody>
                  <a:tcPr marL="9525" marR="9525" marT="9525" marB="0" anchor="ctr"/>
                </a:tc>
                <a:tc gridSpan="4">
                  <a:txBody>
                    <a:bodyPr/>
                    <a:lstStyle/>
                    <a:p>
                      <a:pPr algn="ctr">
                        <a:lnSpc>
                          <a:spcPct val="150000"/>
                        </a:lnSpc>
                      </a:pPr>
                      <a:r>
                        <a:rPr lang="en-US" sz="1600" b="1" u="none" strike="noStrike" cap="none" dirty="0">
                          <a:solidFill>
                            <a:schemeClr val="tx1"/>
                          </a:solidFill>
                          <a:latin typeface="DM Sans" pitchFamily="2" charset="0"/>
                          <a:sym typeface="Arial"/>
                        </a:rPr>
                        <a:t> </a:t>
                      </a:r>
                      <a:r>
                        <a:rPr lang="en-US" sz="1400" b="1" u="none" strike="noStrike" cap="none" dirty="0">
                          <a:solidFill>
                            <a:schemeClr val="tx1"/>
                          </a:solidFill>
                          <a:latin typeface="DM Sans" pitchFamily="2" charset="0"/>
                          <a:sym typeface="Arial"/>
                        </a:rPr>
                        <a:t>Number of “AdWords” Conversions by Grouping for 2023</a:t>
                      </a:r>
                      <a:endParaRPr dirty="0">
                        <a:latin typeface="DM Sans" pitchFamily="2" charset="0"/>
                      </a:endParaRPr>
                    </a:p>
                  </a:txBody>
                  <a:tcPr marL="9525" marR="9525" marT="9525" marB="0" anchor="ctr"/>
                </a:tc>
                <a:tc hMerge="1">
                  <a:txBody>
                    <a:bodyPr/>
                    <a:lstStyle/>
                    <a:p>
                      <a:endParaRPr/>
                    </a:p>
                  </a:txBody>
                  <a:tcPr marL="9525" marR="9525" marT="9525" marB="0" anchor="b"/>
                </a:tc>
                <a:tc hMerge="1">
                  <a:txBody>
                    <a:bodyPr/>
                    <a:lstStyle/>
                    <a:p>
                      <a:endParaRPr/>
                    </a:p>
                  </a:txBody>
                  <a:tcPr marL="9525" marR="9525" marT="9525" marB="0" anchor="b"/>
                </a:tc>
                <a:tc hMerge="1">
                  <a:txBody>
                    <a:bodyPr/>
                    <a:lstStyle/>
                    <a:p>
                      <a:endParaRPr dirty="0"/>
                    </a:p>
                  </a:txBody>
                  <a:tcPr marL="9525" marR="9525" marT="9525" marB="0" anchor="b"/>
                </a:tc>
                <a:extLst>
                  <a:ext uri="{0D108BD9-81ED-4DB2-BD59-A6C34878D82A}">
                    <a16:rowId xmlns:a16="http://schemas.microsoft.com/office/drawing/2014/main" val="2292359424"/>
                  </a:ext>
                </a:extLst>
              </a:tr>
              <a:tr h="484277">
                <a:tc>
                  <a:txBody>
                    <a:bodyPr/>
                    <a:lstStyle/>
                    <a:p>
                      <a:pPr marR="0" algn="ctr" rtl="0" fontAlgn="b">
                        <a:lnSpc>
                          <a:spcPct val="100000"/>
                        </a:lnSpc>
                        <a:spcBef>
                          <a:spcPts val="0"/>
                        </a:spcBef>
                        <a:spcAft>
                          <a:spcPts val="0"/>
                        </a:spcAft>
                        <a:buClr>
                          <a:srgbClr val="000000"/>
                        </a:buClr>
                        <a:buFont typeface="Arial"/>
                        <a:buNone/>
                      </a:pPr>
                      <a:r>
                        <a:rPr lang="en-US" sz="1200" b="1" u="none" strike="noStrike" cap="none" dirty="0">
                          <a:solidFill>
                            <a:schemeClr val="tx1"/>
                          </a:solidFill>
                          <a:latin typeface="DM Sans" pitchFamily="2" charset="0"/>
                          <a:sym typeface="Arial"/>
                        </a:rPr>
                        <a:t>Number of Conversions:</a:t>
                      </a:r>
                      <a:endParaRPr lang="en-US" sz="1200" b="1" i="0" u="none" strike="noStrike" cap="none" dirty="0">
                        <a:solidFill>
                          <a:schemeClr val="tx1"/>
                        </a:solidFill>
                        <a:latin typeface="DM Sans" pitchFamily="2"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u="none" strike="noStrike" cap="none" dirty="0">
                          <a:solidFill>
                            <a:schemeClr val="tx1"/>
                          </a:solidFill>
                          <a:latin typeface="DM Sans" pitchFamily="2" charset="0"/>
                          <a:sym typeface="Arial"/>
                        </a:rPr>
                        <a:t>1 to 5</a:t>
                      </a:r>
                      <a:endParaRPr lang="en-US" sz="1200" b="1" i="0" u="none" strike="noStrike" cap="none" dirty="0">
                        <a:solidFill>
                          <a:schemeClr val="tx1"/>
                        </a:solidFill>
                        <a:latin typeface="DM Sans" pitchFamily="2"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u="none" strike="noStrike" cap="none" dirty="0">
                          <a:solidFill>
                            <a:schemeClr val="tx1"/>
                          </a:solidFill>
                          <a:latin typeface="DM Sans" pitchFamily="2" charset="0"/>
                          <a:sym typeface="Arial"/>
                        </a:rPr>
                        <a:t>6 to 10</a:t>
                      </a:r>
                      <a:endParaRPr lang="en-US" sz="1200" b="1" i="0" u="none" strike="noStrike" cap="none" dirty="0">
                        <a:solidFill>
                          <a:schemeClr val="tx1"/>
                        </a:solidFill>
                        <a:latin typeface="DM Sans" pitchFamily="2"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u="none" strike="noStrike" cap="none">
                          <a:solidFill>
                            <a:schemeClr val="tx1"/>
                          </a:solidFill>
                          <a:latin typeface="DM Sans" pitchFamily="2" charset="0"/>
                          <a:sym typeface="Arial"/>
                        </a:rPr>
                        <a:t>11 to 15</a:t>
                      </a:r>
                      <a:endParaRPr lang="en-US" sz="1200" b="1" i="0" u="none" strike="noStrike" cap="none">
                        <a:solidFill>
                          <a:schemeClr val="tx1"/>
                        </a:solidFill>
                        <a:latin typeface="DM Sans" pitchFamily="2"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u="none" strike="noStrike" cap="none" dirty="0">
                          <a:solidFill>
                            <a:schemeClr val="tx1"/>
                          </a:solidFill>
                          <a:latin typeface="DM Sans" pitchFamily="2" charset="0"/>
                          <a:sym typeface="Arial"/>
                        </a:rPr>
                        <a:t>16+</a:t>
                      </a:r>
                      <a:endParaRPr lang="en-US" sz="1200" b="1" i="0" u="none" strike="noStrike" cap="none" dirty="0">
                        <a:solidFill>
                          <a:schemeClr val="tx1"/>
                        </a:solidFill>
                        <a:latin typeface="DM Sans" pitchFamily="2" charset="0"/>
                        <a:ea typeface="+mn-ea"/>
                        <a:cs typeface="+mn-cs"/>
                        <a:sym typeface="Arial"/>
                      </a:endParaRPr>
                    </a:p>
                  </a:txBody>
                  <a:tcPr marL="9525" marR="9525" marT="9525" marB="0" anchor="ctr"/>
                </a:tc>
                <a:extLst>
                  <a:ext uri="{0D108BD9-81ED-4DB2-BD59-A6C34878D82A}">
                    <a16:rowId xmlns:a16="http://schemas.microsoft.com/office/drawing/2014/main" val="101370956"/>
                  </a:ext>
                </a:extLst>
              </a:tr>
              <a:tr h="484277">
                <a:tc>
                  <a:txBody>
                    <a:bodyPr/>
                    <a:lstStyle/>
                    <a:p>
                      <a:pPr marR="0" algn="ctr" rtl="0" fontAlgn="b">
                        <a:lnSpc>
                          <a:spcPct val="100000"/>
                        </a:lnSpc>
                        <a:spcBef>
                          <a:spcPts val="0"/>
                        </a:spcBef>
                        <a:spcAft>
                          <a:spcPts val="0"/>
                        </a:spcAft>
                        <a:buClr>
                          <a:srgbClr val="000000"/>
                        </a:buClr>
                        <a:buFont typeface="Arial"/>
                        <a:buNone/>
                      </a:pPr>
                      <a:r>
                        <a:rPr lang="en-US" sz="1200" b="1" u="none" strike="noStrike" cap="none" dirty="0">
                          <a:solidFill>
                            <a:schemeClr val="tx1"/>
                          </a:solidFill>
                          <a:latin typeface="DM Sans" pitchFamily="2" charset="0"/>
                          <a:sym typeface="Arial"/>
                        </a:rPr>
                        <a:t>Number of Occurrences:</a:t>
                      </a:r>
                      <a:endParaRPr lang="en-US" sz="1200" b="1" i="0" u="none" strike="noStrike" cap="none" dirty="0">
                        <a:solidFill>
                          <a:schemeClr val="tx1"/>
                        </a:solidFill>
                        <a:latin typeface="DM Sans" pitchFamily="2"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u="none" strike="noStrike" cap="none" dirty="0">
                          <a:solidFill>
                            <a:schemeClr val="tx1"/>
                          </a:solidFill>
                          <a:latin typeface="DM Sans" pitchFamily="2" charset="0"/>
                          <a:sym typeface="Arial"/>
                        </a:rPr>
                        <a:t>155</a:t>
                      </a:r>
                      <a:endParaRPr lang="en-US" sz="1200" b="0" i="0" u="none" strike="noStrike" cap="none" dirty="0">
                        <a:solidFill>
                          <a:schemeClr val="tx1"/>
                        </a:solidFill>
                        <a:latin typeface="DM Sans" pitchFamily="2"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u="none" strike="noStrike" cap="none" dirty="0">
                          <a:solidFill>
                            <a:schemeClr val="tx1"/>
                          </a:solidFill>
                          <a:latin typeface="DM Sans" pitchFamily="2" charset="0"/>
                          <a:sym typeface="Arial"/>
                        </a:rPr>
                        <a:t>209</a:t>
                      </a:r>
                      <a:endParaRPr lang="en-US" sz="1200" b="0" i="0" u="none" strike="noStrike" cap="none" dirty="0">
                        <a:solidFill>
                          <a:schemeClr val="tx1"/>
                        </a:solidFill>
                        <a:latin typeface="DM Sans" pitchFamily="2"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u="none" strike="noStrike" cap="none" dirty="0">
                          <a:solidFill>
                            <a:schemeClr val="tx1"/>
                          </a:solidFill>
                          <a:latin typeface="DM Sans" pitchFamily="2" charset="0"/>
                          <a:sym typeface="Arial"/>
                        </a:rPr>
                        <a:t>0</a:t>
                      </a:r>
                      <a:endParaRPr lang="en-US" sz="1200" b="0" i="0" u="none" strike="noStrike" cap="none" dirty="0">
                        <a:solidFill>
                          <a:schemeClr val="tx1"/>
                        </a:solidFill>
                        <a:latin typeface="DM Sans" pitchFamily="2"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u="none" strike="noStrike" cap="none" dirty="0">
                          <a:solidFill>
                            <a:schemeClr val="tx1"/>
                          </a:solidFill>
                          <a:latin typeface="DM Sans" pitchFamily="2" charset="0"/>
                          <a:sym typeface="Arial"/>
                        </a:rPr>
                        <a:t>0</a:t>
                      </a:r>
                      <a:endParaRPr lang="en-US" sz="1200" b="0" i="0" u="none" strike="noStrike" cap="none" dirty="0">
                        <a:solidFill>
                          <a:schemeClr val="tx1"/>
                        </a:solidFill>
                        <a:latin typeface="DM Sans" pitchFamily="2" charset="0"/>
                        <a:ea typeface="+mn-ea"/>
                        <a:cs typeface="+mn-cs"/>
                        <a:sym typeface="Arial"/>
                      </a:endParaRPr>
                    </a:p>
                  </a:txBody>
                  <a:tcPr marL="9525" marR="9525" marT="9525" marB="0" anchor="ctr"/>
                </a:tc>
                <a:extLst>
                  <a:ext uri="{0D108BD9-81ED-4DB2-BD59-A6C34878D82A}">
                    <a16:rowId xmlns:a16="http://schemas.microsoft.com/office/drawing/2014/main" val="4102598107"/>
                  </a:ext>
                </a:extLst>
              </a:tr>
            </a:tbl>
          </a:graphicData>
        </a:graphic>
      </p:graphicFrame>
    </p:spTree>
    <p:extLst>
      <p:ext uri="{BB962C8B-B14F-4D97-AF65-F5344CB8AC3E}">
        <p14:creationId xmlns:p14="http://schemas.microsoft.com/office/powerpoint/2010/main" val="4147943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D79C709C-0761-BCA7-E2BA-A112F0B83B9A}"/>
            </a:ext>
          </a:extLst>
        </p:cNvPr>
        <p:cNvGrpSpPr/>
        <p:nvPr/>
      </p:nvGrpSpPr>
      <p:grpSpPr>
        <a:xfrm>
          <a:off x="0" y="0"/>
          <a:ext cx="0" cy="0"/>
          <a:chOff x="0" y="0"/>
          <a:chExt cx="0" cy="0"/>
        </a:xfrm>
      </p:grpSpPr>
      <p:sp>
        <p:nvSpPr>
          <p:cNvPr id="94" name="Google Shape;94;p18">
            <a:extLst>
              <a:ext uri="{FF2B5EF4-FFF2-40B4-BE49-F238E27FC236}">
                <a16:creationId xmlns:a16="http://schemas.microsoft.com/office/drawing/2014/main" id="{A841D919-4B1C-8967-1D33-51D70C8DB8A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sz="2800" b="1" dirty="0"/>
              <a:t>Contingency Table of Facebook</a:t>
            </a:r>
            <a:endParaRPr sz="2800" b="1" dirty="0"/>
          </a:p>
        </p:txBody>
      </p:sp>
      <p:sp>
        <p:nvSpPr>
          <p:cNvPr id="95" name="Google Shape;95;p18">
            <a:extLst>
              <a:ext uri="{FF2B5EF4-FFF2-40B4-BE49-F238E27FC236}">
                <a16:creationId xmlns:a16="http://schemas.microsoft.com/office/drawing/2014/main" id="{461E08E9-D9A2-9354-89AF-617B9DDC93BE}"/>
              </a:ext>
            </a:extLst>
          </p:cNvPr>
          <p:cNvSpPr txBox="1">
            <a:spLocks noGrp="1"/>
          </p:cNvSpPr>
          <p:nvPr>
            <p:ph type="body" idx="1"/>
          </p:nvPr>
        </p:nvSpPr>
        <p:spPr>
          <a:xfrm>
            <a:off x="311700" y="1152475"/>
            <a:ext cx="8520600" cy="834044"/>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400" dirty="0"/>
              <a:t>Understanding how often something happens is important to understanding trends and patterns in your data. Create and insert a contingency table generated from your data.</a:t>
            </a:r>
            <a:endParaRPr sz="1400" dirty="0"/>
          </a:p>
        </p:txBody>
      </p:sp>
      <p:graphicFrame>
        <p:nvGraphicFramePr>
          <p:cNvPr id="3" name="Table 2">
            <a:extLst>
              <a:ext uri="{FF2B5EF4-FFF2-40B4-BE49-F238E27FC236}">
                <a16:creationId xmlns:a16="http://schemas.microsoft.com/office/drawing/2014/main" id="{5589C304-54C4-B549-7FC8-FADCE53E360E}"/>
              </a:ext>
            </a:extLst>
          </p:cNvPr>
          <p:cNvGraphicFramePr>
            <a:graphicFrameLocks noGrp="1"/>
          </p:cNvGraphicFramePr>
          <p:nvPr>
            <p:extLst>
              <p:ext uri="{D42A27DB-BD31-4B8C-83A1-F6EECF244321}">
                <p14:modId xmlns:p14="http://schemas.microsoft.com/office/powerpoint/2010/main" val="794739923"/>
              </p:ext>
            </p:extLst>
          </p:nvPr>
        </p:nvGraphicFramePr>
        <p:xfrm>
          <a:off x="502920" y="2040637"/>
          <a:ext cx="8138160" cy="2834638"/>
        </p:xfrm>
        <a:graphic>
          <a:graphicData uri="http://schemas.openxmlformats.org/drawingml/2006/table">
            <a:tbl>
              <a:tblPr firstRow="1" bandRow="1">
                <a:tableStyleId>{BDBED569-4797-4DF1-A0F4-6AAB3CD982D8}</a:tableStyleId>
              </a:tblPr>
              <a:tblGrid>
                <a:gridCol w="2258950">
                  <a:extLst>
                    <a:ext uri="{9D8B030D-6E8A-4147-A177-3AD203B41FA5}">
                      <a16:colId xmlns:a16="http://schemas.microsoft.com/office/drawing/2014/main" val="3489998760"/>
                    </a:ext>
                  </a:extLst>
                </a:gridCol>
                <a:gridCol w="1523718">
                  <a:extLst>
                    <a:ext uri="{9D8B030D-6E8A-4147-A177-3AD203B41FA5}">
                      <a16:colId xmlns:a16="http://schemas.microsoft.com/office/drawing/2014/main" val="2259956529"/>
                    </a:ext>
                  </a:extLst>
                </a:gridCol>
                <a:gridCol w="1443523">
                  <a:extLst>
                    <a:ext uri="{9D8B030D-6E8A-4147-A177-3AD203B41FA5}">
                      <a16:colId xmlns:a16="http://schemas.microsoft.com/office/drawing/2014/main" val="1427476196"/>
                    </a:ext>
                  </a:extLst>
                </a:gridCol>
                <a:gridCol w="1443523">
                  <a:extLst>
                    <a:ext uri="{9D8B030D-6E8A-4147-A177-3AD203B41FA5}">
                      <a16:colId xmlns:a16="http://schemas.microsoft.com/office/drawing/2014/main" val="919333341"/>
                    </a:ext>
                  </a:extLst>
                </a:gridCol>
                <a:gridCol w="1468446">
                  <a:extLst>
                    <a:ext uri="{9D8B030D-6E8A-4147-A177-3AD203B41FA5}">
                      <a16:colId xmlns:a16="http://schemas.microsoft.com/office/drawing/2014/main" val="1911417694"/>
                    </a:ext>
                  </a:extLst>
                </a:gridCol>
              </a:tblGrid>
              <a:tr h="474853">
                <a:tc gridSpan="5">
                  <a:txBody>
                    <a:bodyPr/>
                    <a:lstStyle/>
                    <a:p>
                      <a:pPr marR="0" algn="ctr" rtl="0" fontAlgn="b">
                        <a:lnSpc>
                          <a:spcPct val="100000"/>
                        </a:lnSpc>
                        <a:spcBef>
                          <a:spcPts val="0"/>
                        </a:spcBef>
                        <a:spcAft>
                          <a:spcPts val="0"/>
                        </a:spcAft>
                        <a:buClr>
                          <a:srgbClr val="000000"/>
                        </a:buClr>
                        <a:buFont typeface="Arial"/>
                        <a:buNone/>
                      </a:pPr>
                      <a:r>
                        <a:rPr lang="en-US" sz="1400" b="1" i="0" u="none" strike="noStrike" cap="none" dirty="0">
                          <a:solidFill>
                            <a:schemeClr val="tx1"/>
                          </a:solidFill>
                          <a:latin typeface="DM Sans" pitchFamily="2" charset="0"/>
                          <a:ea typeface="+mn-ea"/>
                          <a:cs typeface="+mn-cs"/>
                          <a:sym typeface="Arial"/>
                        </a:rPr>
                        <a:t>Facebook Ad Clicks vs. Conversions (2023)</a:t>
                      </a:r>
                    </a:p>
                  </a:txBody>
                  <a:tcPr marL="9525" marR="9525"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92359424"/>
                  </a:ext>
                </a:extLst>
              </a:tr>
              <a:tr h="427329">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 </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a:solidFill>
                            <a:schemeClr val="tx1"/>
                          </a:solidFill>
                          <a:latin typeface="DM Sans" pitchFamily="2" charset="0"/>
                          <a:ea typeface="+mn-ea"/>
                          <a:cs typeface="+mn-cs"/>
                          <a:sym typeface="Arial"/>
                        </a:rPr>
                        <a:t>Low Clicks (1–30)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a:solidFill>
                            <a:schemeClr val="tx1"/>
                          </a:solidFill>
                          <a:latin typeface="DM Sans" pitchFamily="2" charset="0"/>
                          <a:ea typeface="+mn-ea"/>
                          <a:cs typeface="+mn-cs"/>
                          <a:sym typeface="Arial"/>
                        </a:rPr>
                        <a:t>Medium Clicks (31–50)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a:solidFill>
                            <a:schemeClr val="tx1"/>
                          </a:solidFill>
                          <a:latin typeface="DM Sans" pitchFamily="2" charset="0"/>
                          <a:ea typeface="+mn-ea"/>
                          <a:cs typeface="+mn-cs"/>
                          <a:sym typeface="Arial"/>
                        </a:rPr>
                        <a:t>High Clicks (51+)</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Total</a:t>
                      </a:r>
                    </a:p>
                  </a:txBody>
                  <a:tcPr marL="9525" marR="9525" marT="9525" marB="0" anchor="ctr"/>
                </a:tc>
                <a:extLst>
                  <a:ext uri="{0D108BD9-81ED-4DB2-BD59-A6C34878D82A}">
                    <a16:rowId xmlns:a16="http://schemas.microsoft.com/office/drawing/2014/main" val="101370956"/>
                  </a:ext>
                </a:extLst>
              </a:tr>
              <a:tr h="359266">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Low Conversions (1–5)</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1</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1</a:t>
                      </a:r>
                    </a:p>
                  </a:txBody>
                  <a:tcPr marL="9525" marR="9525" marT="9525" marB="0" anchor="ctr"/>
                </a:tc>
                <a:extLst>
                  <a:ext uri="{0D108BD9-81ED-4DB2-BD59-A6C34878D82A}">
                    <a16:rowId xmlns:a16="http://schemas.microsoft.com/office/drawing/2014/main" val="4197896504"/>
                  </a:ext>
                </a:extLst>
              </a:tr>
              <a:tr h="427329">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Medium Conversions (6–10)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47</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81</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128</a:t>
                      </a:r>
                    </a:p>
                  </a:txBody>
                  <a:tcPr marL="9525" marR="9525" marT="9525" marB="0" anchor="ctr"/>
                </a:tc>
                <a:extLst>
                  <a:ext uri="{0D108BD9-81ED-4DB2-BD59-A6C34878D82A}">
                    <a16:rowId xmlns:a16="http://schemas.microsoft.com/office/drawing/2014/main" val="1697247020"/>
                  </a:ext>
                </a:extLst>
              </a:tr>
              <a:tr h="359266">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High Conversions (11–15)</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2</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107</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80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189</a:t>
                      </a:r>
                    </a:p>
                  </a:txBody>
                  <a:tcPr marL="9525" marR="9525" marT="9525" marB="0" anchor="ctr"/>
                </a:tc>
                <a:extLst>
                  <a:ext uri="{0D108BD9-81ED-4DB2-BD59-A6C34878D82A}">
                    <a16:rowId xmlns:a16="http://schemas.microsoft.com/office/drawing/2014/main" val="3465712322"/>
                  </a:ext>
                </a:extLst>
              </a:tr>
              <a:tr h="427329">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Very High Conversions (16+)</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47</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47</a:t>
                      </a:r>
                    </a:p>
                  </a:txBody>
                  <a:tcPr marL="9525" marR="9525" marT="9525" marB="0" anchor="ctr"/>
                </a:tc>
                <a:extLst>
                  <a:ext uri="{0D108BD9-81ED-4DB2-BD59-A6C34878D82A}">
                    <a16:rowId xmlns:a16="http://schemas.microsoft.com/office/drawing/2014/main" val="422194261"/>
                  </a:ext>
                </a:extLst>
              </a:tr>
              <a:tr h="359266">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Total</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50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188</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127</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365</a:t>
                      </a:r>
                    </a:p>
                  </a:txBody>
                  <a:tcPr marL="9525" marR="9525" marT="9525" marB="0" anchor="ctr"/>
                </a:tc>
                <a:extLst>
                  <a:ext uri="{0D108BD9-81ED-4DB2-BD59-A6C34878D82A}">
                    <a16:rowId xmlns:a16="http://schemas.microsoft.com/office/drawing/2014/main" val="1113910542"/>
                  </a:ext>
                </a:extLst>
              </a:tr>
            </a:tbl>
          </a:graphicData>
        </a:graphic>
      </p:graphicFrame>
    </p:spTree>
    <p:extLst>
      <p:ext uri="{BB962C8B-B14F-4D97-AF65-F5344CB8AC3E}">
        <p14:creationId xmlns:p14="http://schemas.microsoft.com/office/powerpoint/2010/main" val="3479626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32E3209A-E570-1411-27F4-30074F69DA52}"/>
            </a:ext>
          </a:extLst>
        </p:cNvPr>
        <p:cNvGrpSpPr/>
        <p:nvPr/>
      </p:nvGrpSpPr>
      <p:grpSpPr>
        <a:xfrm>
          <a:off x="0" y="0"/>
          <a:ext cx="0" cy="0"/>
          <a:chOff x="0" y="0"/>
          <a:chExt cx="0" cy="0"/>
        </a:xfrm>
      </p:grpSpPr>
      <p:sp>
        <p:nvSpPr>
          <p:cNvPr id="94" name="Google Shape;94;p18">
            <a:extLst>
              <a:ext uri="{FF2B5EF4-FFF2-40B4-BE49-F238E27FC236}">
                <a16:creationId xmlns:a16="http://schemas.microsoft.com/office/drawing/2014/main" id="{9E248698-0939-D237-8F00-ECD877AF59D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sz="2800" b="1" dirty="0"/>
              <a:t>Contingency Table of AdWords</a:t>
            </a:r>
            <a:endParaRPr sz="2800" b="1" dirty="0"/>
          </a:p>
        </p:txBody>
      </p:sp>
      <p:sp>
        <p:nvSpPr>
          <p:cNvPr id="95" name="Google Shape;95;p18">
            <a:extLst>
              <a:ext uri="{FF2B5EF4-FFF2-40B4-BE49-F238E27FC236}">
                <a16:creationId xmlns:a16="http://schemas.microsoft.com/office/drawing/2014/main" id="{9F4CFBB9-C6D1-B396-FBC6-E31D47A02E8F}"/>
              </a:ext>
            </a:extLst>
          </p:cNvPr>
          <p:cNvSpPr txBox="1">
            <a:spLocks noGrp="1"/>
          </p:cNvSpPr>
          <p:nvPr>
            <p:ph type="body" idx="1"/>
          </p:nvPr>
        </p:nvSpPr>
        <p:spPr>
          <a:xfrm>
            <a:off x="311700" y="1152475"/>
            <a:ext cx="8520600" cy="834044"/>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400" dirty="0"/>
              <a:t>Understanding how often something happens is important to understanding trends and patterns in your data. Create and insert a contingency table generated from your data.</a:t>
            </a:r>
            <a:endParaRPr sz="1400" dirty="0"/>
          </a:p>
        </p:txBody>
      </p:sp>
      <p:graphicFrame>
        <p:nvGraphicFramePr>
          <p:cNvPr id="3" name="Table 2">
            <a:extLst>
              <a:ext uri="{FF2B5EF4-FFF2-40B4-BE49-F238E27FC236}">
                <a16:creationId xmlns:a16="http://schemas.microsoft.com/office/drawing/2014/main" id="{A1F078CE-9D51-6092-95BD-753A2993EB53}"/>
              </a:ext>
            </a:extLst>
          </p:cNvPr>
          <p:cNvGraphicFramePr>
            <a:graphicFrameLocks noGrp="1"/>
          </p:cNvGraphicFramePr>
          <p:nvPr>
            <p:extLst>
              <p:ext uri="{D42A27DB-BD31-4B8C-83A1-F6EECF244321}">
                <p14:modId xmlns:p14="http://schemas.microsoft.com/office/powerpoint/2010/main" val="3390261368"/>
              </p:ext>
            </p:extLst>
          </p:nvPr>
        </p:nvGraphicFramePr>
        <p:xfrm>
          <a:off x="502920" y="2082191"/>
          <a:ext cx="8138160" cy="2834638"/>
        </p:xfrm>
        <a:graphic>
          <a:graphicData uri="http://schemas.openxmlformats.org/drawingml/2006/table">
            <a:tbl>
              <a:tblPr firstRow="1" bandRow="1">
                <a:tableStyleId>{BDBED569-4797-4DF1-A0F4-6AAB3CD982D8}</a:tableStyleId>
              </a:tblPr>
              <a:tblGrid>
                <a:gridCol w="2258950">
                  <a:extLst>
                    <a:ext uri="{9D8B030D-6E8A-4147-A177-3AD203B41FA5}">
                      <a16:colId xmlns:a16="http://schemas.microsoft.com/office/drawing/2014/main" val="3489998760"/>
                    </a:ext>
                  </a:extLst>
                </a:gridCol>
                <a:gridCol w="1523718">
                  <a:extLst>
                    <a:ext uri="{9D8B030D-6E8A-4147-A177-3AD203B41FA5}">
                      <a16:colId xmlns:a16="http://schemas.microsoft.com/office/drawing/2014/main" val="2259956529"/>
                    </a:ext>
                  </a:extLst>
                </a:gridCol>
                <a:gridCol w="1443523">
                  <a:extLst>
                    <a:ext uri="{9D8B030D-6E8A-4147-A177-3AD203B41FA5}">
                      <a16:colId xmlns:a16="http://schemas.microsoft.com/office/drawing/2014/main" val="1427476196"/>
                    </a:ext>
                  </a:extLst>
                </a:gridCol>
                <a:gridCol w="1443523">
                  <a:extLst>
                    <a:ext uri="{9D8B030D-6E8A-4147-A177-3AD203B41FA5}">
                      <a16:colId xmlns:a16="http://schemas.microsoft.com/office/drawing/2014/main" val="919333341"/>
                    </a:ext>
                  </a:extLst>
                </a:gridCol>
                <a:gridCol w="1468446">
                  <a:extLst>
                    <a:ext uri="{9D8B030D-6E8A-4147-A177-3AD203B41FA5}">
                      <a16:colId xmlns:a16="http://schemas.microsoft.com/office/drawing/2014/main" val="1911417694"/>
                    </a:ext>
                  </a:extLst>
                </a:gridCol>
              </a:tblGrid>
              <a:tr h="474853">
                <a:tc gridSpan="5">
                  <a:txBody>
                    <a:bodyPr/>
                    <a:lstStyle/>
                    <a:p>
                      <a:pPr marR="0" algn="ctr" rtl="0" fontAlgn="b">
                        <a:lnSpc>
                          <a:spcPct val="100000"/>
                        </a:lnSpc>
                        <a:spcBef>
                          <a:spcPts val="0"/>
                        </a:spcBef>
                        <a:spcAft>
                          <a:spcPts val="0"/>
                        </a:spcAft>
                        <a:buClr>
                          <a:srgbClr val="000000"/>
                        </a:buClr>
                        <a:buFont typeface="Arial"/>
                        <a:buNone/>
                      </a:pPr>
                      <a:r>
                        <a:rPr lang="en-US" sz="1400" b="1" i="0" u="none" strike="noStrike" cap="none" dirty="0">
                          <a:solidFill>
                            <a:schemeClr val="tx1"/>
                          </a:solidFill>
                          <a:latin typeface="DM Sans" pitchFamily="2" charset="0"/>
                          <a:ea typeface="+mn-ea"/>
                          <a:cs typeface="+mn-cs"/>
                          <a:sym typeface="Arial"/>
                        </a:rPr>
                        <a:t>AdWords Ad Clicks vs. Conversions (2023)</a:t>
                      </a:r>
                    </a:p>
                  </a:txBody>
                  <a:tcPr marL="9525" marR="9525"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92359424"/>
                  </a:ext>
                </a:extLst>
              </a:tr>
              <a:tr h="427329">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 </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Low Clicks (1–30)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a:solidFill>
                            <a:schemeClr val="tx1"/>
                          </a:solidFill>
                          <a:latin typeface="DM Sans" pitchFamily="2" charset="0"/>
                          <a:ea typeface="+mn-ea"/>
                          <a:cs typeface="+mn-cs"/>
                          <a:sym typeface="Arial"/>
                        </a:rPr>
                        <a:t>Medium Clicks (31–50)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a:solidFill>
                            <a:schemeClr val="tx1"/>
                          </a:solidFill>
                          <a:latin typeface="DM Sans" pitchFamily="2" charset="0"/>
                          <a:ea typeface="+mn-ea"/>
                          <a:cs typeface="+mn-cs"/>
                          <a:sym typeface="Arial"/>
                        </a:rPr>
                        <a:t>High Clicks (51+)</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Total</a:t>
                      </a:r>
                    </a:p>
                  </a:txBody>
                  <a:tcPr marL="9525" marR="9525" marT="9525" marB="0" anchor="ctr"/>
                </a:tc>
                <a:extLst>
                  <a:ext uri="{0D108BD9-81ED-4DB2-BD59-A6C34878D82A}">
                    <a16:rowId xmlns:a16="http://schemas.microsoft.com/office/drawing/2014/main" val="101370956"/>
                  </a:ext>
                </a:extLst>
              </a:tr>
              <a:tr h="359266">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Low Conversions (1–5)</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68</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87</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155</a:t>
                      </a:r>
                    </a:p>
                  </a:txBody>
                  <a:tcPr marL="9525" marR="9525" marT="9525" marB="0" anchor="ctr"/>
                </a:tc>
                <a:extLst>
                  <a:ext uri="{0D108BD9-81ED-4DB2-BD59-A6C34878D82A}">
                    <a16:rowId xmlns:a16="http://schemas.microsoft.com/office/drawing/2014/main" val="4197896504"/>
                  </a:ext>
                </a:extLst>
              </a:tr>
              <a:tr h="427329">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Medium Conversions (6–10)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40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169</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209</a:t>
                      </a:r>
                    </a:p>
                  </a:txBody>
                  <a:tcPr marL="9525" marR="9525" marT="9525" marB="0" anchor="ctr"/>
                </a:tc>
                <a:extLst>
                  <a:ext uri="{0D108BD9-81ED-4DB2-BD59-A6C34878D82A}">
                    <a16:rowId xmlns:a16="http://schemas.microsoft.com/office/drawing/2014/main" val="1697247020"/>
                  </a:ext>
                </a:extLst>
              </a:tr>
              <a:tr h="359266">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High Conversions (11–15)</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0</a:t>
                      </a:r>
                    </a:p>
                  </a:txBody>
                  <a:tcPr marL="9525" marR="9525" marT="9525" marB="0" anchor="ctr"/>
                </a:tc>
                <a:extLst>
                  <a:ext uri="{0D108BD9-81ED-4DB2-BD59-A6C34878D82A}">
                    <a16:rowId xmlns:a16="http://schemas.microsoft.com/office/drawing/2014/main" val="3465712322"/>
                  </a:ext>
                </a:extLst>
              </a:tr>
              <a:tr h="427329">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Very High Conversions (16+)</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a:solidFill>
                            <a:schemeClr val="tx1"/>
                          </a:solidFill>
                          <a:latin typeface="DM Sans" pitchFamily="2" charset="0"/>
                          <a:ea typeface="+mn-ea"/>
                          <a:cs typeface="+mn-cs"/>
                          <a:sym typeface="Arial"/>
                        </a:rPr>
                        <a:t>0</a:t>
                      </a:r>
                    </a:p>
                  </a:txBody>
                  <a:tcPr marL="9525" marR="9525" marT="9525" marB="0" anchor="ctr"/>
                </a:tc>
                <a:extLst>
                  <a:ext uri="{0D108BD9-81ED-4DB2-BD59-A6C34878D82A}">
                    <a16:rowId xmlns:a16="http://schemas.microsoft.com/office/drawing/2014/main" val="422194261"/>
                  </a:ext>
                </a:extLst>
              </a:tr>
              <a:tr h="359266">
                <a:tc>
                  <a:txBody>
                    <a:bodyPr/>
                    <a:lstStyle/>
                    <a:p>
                      <a:pPr marR="0" algn="ctr" rtl="0" fontAlgn="b">
                        <a:lnSpc>
                          <a:spcPct val="100000"/>
                        </a:lnSpc>
                        <a:spcBef>
                          <a:spcPts val="0"/>
                        </a:spcBef>
                        <a:spcAft>
                          <a:spcPts val="0"/>
                        </a:spcAft>
                        <a:buClr>
                          <a:srgbClr val="000000"/>
                        </a:buClr>
                        <a:buFont typeface="Arial"/>
                        <a:buNone/>
                      </a:pPr>
                      <a:r>
                        <a:rPr lang="en-US" sz="1200" b="1" i="0" u="none" strike="noStrike" cap="none" dirty="0">
                          <a:solidFill>
                            <a:schemeClr val="tx1"/>
                          </a:solidFill>
                          <a:latin typeface="DM Sans" pitchFamily="2" charset="0"/>
                          <a:ea typeface="+mn-ea"/>
                          <a:cs typeface="+mn-cs"/>
                          <a:sym typeface="Arial"/>
                        </a:rPr>
                        <a:t>Total</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0</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108</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256</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buNone/>
                      </a:pPr>
                      <a:r>
                        <a:rPr lang="en-US" sz="1200" b="0" i="0" u="none" strike="noStrike" cap="none" dirty="0">
                          <a:solidFill>
                            <a:schemeClr val="tx1"/>
                          </a:solidFill>
                          <a:latin typeface="DM Sans" pitchFamily="2" charset="0"/>
                          <a:ea typeface="+mn-ea"/>
                          <a:cs typeface="+mn-cs"/>
                          <a:sym typeface="Arial"/>
                        </a:rPr>
                        <a:t>364</a:t>
                      </a:r>
                    </a:p>
                  </a:txBody>
                  <a:tcPr marL="9525" marR="9525" marT="9525" marB="0" anchor="ctr"/>
                </a:tc>
                <a:extLst>
                  <a:ext uri="{0D108BD9-81ED-4DB2-BD59-A6C34878D82A}">
                    <a16:rowId xmlns:a16="http://schemas.microsoft.com/office/drawing/2014/main" val="1113910542"/>
                  </a:ext>
                </a:extLst>
              </a:tr>
            </a:tbl>
          </a:graphicData>
        </a:graphic>
      </p:graphicFrame>
    </p:spTree>
    <p:extLst>
      <p:ext uri="{BB962C8B-B14F-4D97-AF65-F5344CB8AC3E}">
        <p14:creationId xmlns:p14="http://schemas.microsoft.com/office/powerpoint/2010/main" val="2040644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76093795-DA2D-F1CC-1239-6D7720973D7E}"/>
            </a:ext>
          </a:extLst>
        </p:cNvPr>
        <p:cNvGrpSpPr/>
        <p:nvPr/>
      </p:nvGrpSpPr>
      <p:grpSpPr>
        <a:xfrm>
          <a:off x="0" y="0"/>
          <a:ext cx="0" cy="0"/>
          <a:chOff x="0" y="0"/>
          <a:chExt cx="0" cy="0"/>
        </a:xfrm>
      </p:grpSpPr>
      <p:sp>
        <p:nvSpPr>
          <p:cNvPr id="101" name="Google Shape;101;p19">
            <a:extLst>
              <a:ext uri="{FF2B5EF4-FFF2-40B4-BE49-F238E27FC236}">
                <a16:creationId xmlns:a16="http://schemas.microsoft.com/office/drawing/2014/main" id="{98270F1C-5B8B-CF5A-AC34-4A79E374E8D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sz="2800" b="1" dirty="0"/>
              <a:t>Scatter Plot of </a:t>
            </a:r>
            <a:r>
              <a:rPr lang="en-US" sz="2800" b="1" dirty="0"/>
              <a:t>Facebook Ad</a:t>
            </a:r>
            <a:endParaRPr sz="2800" b="1" dirty="0"/>
          </a:p>
        </p:txBody>
      </p:sp>
      <p:sp>
        <p:nvSpPr>
          <p:cNvPr id="103" name="Google Shape;103;p19">
            <a:extLst>
              <a:ext uri="{FF2B5EF4-FFF2-40B4-BE49-F238E27FC236}">
                <a16:creationId xmlns:a16="http://schemas.microsoft.com/office/drawing/2014/main" id="{08121129-DA03-138A-FCA9-E2F7DD1FB135}"/>
              </a:ext>
            </a:extLst>
          </p:cNvPr>
          <p:cNvSpPr txBox="1"/>
          <p:nvPr/>
        </p:nvSpPr>
        <p:spPr>
          <a:xfrm>
            <a:off x="311700" y="1285308"/>
            <a:ext cx="3399062" cy="507801"/>
          </a:xfrm>
          <a:prstGeom prst="rect">
            <a:avLst/>
          </a:prstGeom>
          <a:noFill/>
          <a:ln>
            <a:noFill/>
          </a:ln>
        </p:spPr>
        <p:txBody>
          <a:bodyPr spcFirstLastPara="1" wrap="square" lIns="91425" tIns="91425" rIns="91425" bIns="91425" anchor="t" anchorCtr="0">
            <a:spAutoFit/>
          </a:bodyPr>
          <a:lstStyle/>
          <a:p>
            <a:pPr lvl="0">
              <a:lnSpc>
                <a:spcPct val="150000"/>
              </a:lnSpc>
            </a:pPr>
            <a:r>
              <a:rPr lang="en" dirty="0">
                <a:solidFill>
                  <a:schemeClr val="tx1"/>
                </a:solidFill>
                <a:latin typeface="DM Sans"/>
                <a:ea typeface="DM Sans"/>
                <a:cs typeface="DM Sans"/>
                <a:sym typeface="DM Sans"/>
              </a:rPr>
              <a:t>Correlation coefficient: </a:t>
            </a:r>
            <a:r>
              <a:rPr lang="en-US" dirty="0">
                <a:solidFill>
                  <a:schemeClr val="tx1"/>
                </a:solidFill>
                <a:latin typeface="DM Sans"/>
              </a:rPr>
              <a:t>0.873775015 </a:t>
            </a:r>
            <a:endParaRPr dirty="0">
              <a:solidFill>
                <a:schemeClr val="tx1"/>
              </a:solidFill>
              <a:latin typeface="DM Sans"/>
              <a:sym typeface="DM Sans"/>
            </a:endParaRPr>
          </a:p>
        </p:txBody>
      </p:sp>
      <p:graphicFrame>
        <p:nvGraphicFramePr>
          <p:cNvPr id="3" name="Chart 2">
            <a:extLst>
              <a:ext uri="{FF2B5EF4-FFF2-40B4-BE49-F238E27FC236}">
                <a16:creationId xmlns:a16="http://schemas.microsoft.com/office/drawing/2014/main" id="{BAC71CB6-7C1D-CE31-B9CE-56137AC32100}"/>
              </a:ext>
            </a:extLst>
          </p:cNvPr>
          <p:cNvGraphicFramePr>
            <a:graphicFrameLocks/>
          </p:cNvGraphicFramePr>
          <p:nvPr>
            <p:extLst>
              <p:ext uri="{D42A27DB-BD31-4B8C-83A1-F6EECF244321}">
                <p14:modId xmlns:p14="http://schemas.microsoft.com/office/powerpoint/2010/main" val="2201687565"/>
              </p:ext>
            </p:extLst>
          </p:nvPr>
        </p:nvGraphicFramePr>
        <p:xfrm>
          <a:off x="3298295" y="1700791"/>
          <a:ext cx="5788555" cy="2997684"/>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B214B5FF-43FB-D4F2-6FE9-F1EF50BA7ED0}"/>
              </a:ext>
            </a:extLst>
          </p:cNvPr>
          <p:cNvSpPr txBox="1"/>
          <p:nvPr/>
        </p:nvSpPr>
        <p:spPr>
          <a:xfrm>
            <a:off x="311700" y="2242761"/>
            <a:ext cx="3043745" cy="2006062"/>
          </a:xfrm>
          <a:prstGeom prst="rect">
            <a:avLst/>
          </a:prstGeom>
          <a:noFill/>
        </p:spPr>
        <p:txBody>
          <a:bodyPr wrap="square">
            <a:spAutoFit/>
          </a:bodyPr>
          <a:lstStyle/>
          <a:p>
            <a:pPr>
              <a:lnSpc>
                <a:spcPct val="150000"/>
              </a:lnSpc>
            </a:pPr>
            <a:r>
              <a:rPr lang="en-US" sz="1200" b="1" dirty="0">
                <a:solidFill>
                  <a:srgbClr val="0F1115"/>
                </a:solidFill>
                <a:latin typeface="DM Sans" pitchFamily="2" charset="0"/>
              </a:rPr>
              <a:t>Insights:</a:t>
            </a:r>
            <a:endParaRPr lang="en-US" sz="1200" b="0" i="0" dirty="0">
              <a:solidFill>
                <a:srgbClr val="0F1115"/>
              </a:solidFill>
              <a:effectLst/>
              <a:latin typeface="DM Sans" pitchFamily="2" charset="0"/>
            </a:endParaRPr>
          </a:p>
          <a:p>
            <a:pPr marL="285750" indent="-285750">
              <a:lnSpc>
                <a:spcPct val="150000"/>
              </a:lnSpc>
              <a:buFont typeface="Arial" panose="020B0604020202020204" pitchFamily="34" charset="0"/>
              <a:buChar char="•"/>
            </a:pPr>
            <a:r>
              <a:rPr lang="en-US" sz="1200" b="0" i="0" dirty="0">
                <a:solidFill>
                  <a:srgbClr val="0F1115"/>
                </a:solidFill>
                <a:effectLst/>
                <a:latin typeface="DM Sans" pitchFamily="2" charset="0"/>
              </a:rPr>
              <a:t>Strong positive correlation shows clicks reliably drive conversions</a:t>
            </a:r>
          </a:p>
          <a:p>
            <a:pPr marL="285750" indent="-285750">
              <a:lnSpc>
                <a:spcPct val="150000"/>
              </a:lnSpc>
              <a:buFont typeface="Arial" panose="020B0604020202020204" pitchFamily="34" charset="0"/>
              <a:buChar char="•"/>
            </a:pPr>
            <a:r>
              <a:rPr lang="en-US" sz="1200" b="0" i="0" dirty="0">
                <a:solidFill>
                  <a:srgbClr val="0F1115"/>
                </a:solidFill>
                <a:effectLst/>
                <a:latin typeface="DM Sans" pitchFamily="2" charset="0"/>
              </a:rPr>
              <a:t>Clear upward trend indicates predictable return on ad spend</a:t>
            </a:r>
          </a:p>
          <a:p>
            <a:pPr marL="285750" indent="-285750">
              <a:lnSpc>
                <a:spcPct val="150000"/>
              </a:lnSpc>
              <a:buFont typeface="Arial" panose="020B0604020202020204" pitchFamily="34" charset="0"/>
              <a:buChar char="•"/>
            </a:pPr>
            <a:r>
              <a:rPr lang="en-US" sz="1200" b="0" i="0" dirty="0">
                <a:solidFill>
                  <a:srgbClr val="0F1115"/>
                </a:solidFill>
                <a:effectLst/>
                <a:latin typeface="DM Sans" pitchFamily="2" charset="0"/>
              </a:rPr>
              <a:t>Efficient platform worthy of increased investment</a:t>
            </a:r>
            <a:endParaRPr lang="en-US" sz="1200" dirty="0">
              <a:latin typeface="DM Sans" pitchFamily="2" charset="0"/>
            </a:endParaRPr>
          </a:p>
        </p:txBody>
      </p:sp>
    </p:spTree>
    <p:extLst>
      <p:ext uri="{BB962C8B-B14F-4D97-AF65-F5344CB8AC3E}">
        <p14:creationId xmlns:p14="http://schemas.microsoft.com/office/powerpoint/2010/main" val="1575024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ECA23251-A078-2B88-BA6D-B314F59985B2}"/>
            </a:ext>
          </a:extLst>
        </p:cNvPr>
        <p:cNvGrpSpPr/>
        <p:nvPr/>
      </p:nvGrpSpPr>
      <p:grpSpPr>
        <a:xfrm>
          <a:off x="0" y="0"/>
          <a:ext cx="0" cy="0"/>
          <a:chOff x="0" y="0"/>
          <a:chExt cx="0" cy="0"/>
        </a:xfrm>
      </p:grpSpPr>
      <p:sp>
        <p:nvSpPr>
          <p:cNvPr id="101" name="Google Shape;101;p19">
            <a:extLst>
              <a:ext uri="{FF2B5EF4-FFF2-40B4-BE49-F238E27FC236}">
                <a16:creationId xmlns:a16="http://schemas.microsoft.com/office/drawing/2014/main" id="{2827A0C0-F280-A35A-FDB3-06C1E29008B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sz="2800" b="1" dirty="0"/>
              <a:t>Scatter Plot of </a:t>
            </a:r>
            <a:r>
              <a:rPr lang="en-US" sz="2800" b="1" dirty="0"/>
              <a:t>AdWords Ad</a:t>
            </a:r>
            <a:endParaRPr sz="2800" b="1" dirty="0"/>
          </a:p>
        </p:txBody>
      </p:sp>
      <p:sp>
        <p:nvSpPr>
          <p:cNvPr id="103" name="Google Shape;103;p19">
            <a:extLst>
              <a:ext uri="{FF2B5EF4-FFF2-40B4-BE49-F238E27FC236}">
                <a16:creationId xmlns:a16="http://schemas.microsoft.com/office/drawing/2014/main" id="{CB1E38BF-9BC6-8115-6078-2E187039A379}"/>
              </a:ext>
            </a:extLst>
          </p:cNvPr>
          <p:cNvSpPr txBox="1"/>
          <p:nvPr/>
        </p:nvSpPr>
        <p:spPr>
          <a:xfrm>
            <a:off x="311700" y="1293347"/>
            <a:ext cx="3399062" cy="507801"/>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dirty="0">
                <a:solidFill>
                  <a:schemeClr val="tx1"/>
                </a:solidFill>
                <a:latin typeface="DM Sans"/>
                <a:ea typeface="DM Sans"/>
                <a:cs typeface="DM Sans"/>
                <a:sym typeface="DM Sans"/>
              </a:rPr>
              <a:t>Correlation coefficient: </a:t>
            </a:r>
            <a:r>
              <a:rPr lang="en-US" dirty="0">
                <a:solidFill>
                  <a:schemeClr val="tx1"/>
                </a:solidFill>
                <a:latin typeface="DM Sans"/>
              </a:rPr>
              <a:t>0.447993201 </a:t>
            </a:r>
            <a:endParaRPr sz="1600" dirty="0">
              <a:solidFill>
                <a:schemeClr val="tx1"/>
              </a:solidFill>
              <a:latin typeface="DM Sans"/>
              <a:sym typeface="DM Sans"/>
            </a:endParaRPr>
          </a:p>
        </p:txBody>
      </p:sp>
      <p:sp>
        <p:nvSpPr>
          <p:cNvPr id="4" name="TextBox 3">
            <a:extLst>
              <a:ext uri="{FF2B5EF4-FFF2-40B4-BE49-F238E27FC236}">
                <a16:creationId xmlns:a16="http://schemas.microsoft.com/office/drawing/2014/main" id="{6A6864C2-2FD8-29D3-E2F0-6DE8ACA4E46F}"/>
              </a:ext>
            </a:extLst>
          </p:cNvPr>
          <p:cNvSpPr txBox="1"/>
          <p:nvPr/>
        </p:nvSpPr>
        <p:spPr>
          <a:xfrm>
            <a:off x="311700" y="2246780"/>
            <a:ext cx="3113868" cy="2006062"/>
          </a:xfrm>
          <a:prstGeom prst="rect">
            <a:avLst/>
          </a:prstGeom>
          <a:noFill/>
        </p:spPr>
        <p:txBody>
          <a:bodyPr wrap="square">
            <a:spAutoFit/>
          </a:bodyPr>
          <a:lstStyle/>
          <a:p>
            <a:pPr>
              <a:lnSpc>
                <a:spcPct val="150000"/>
              </a:lnSpc>
            </a:pPr>
            <a:r>
              <a:rPr lang="en-US" sz="1200" b="1" i="0" dirty="0">
                <a:solidFill>
                  <a:schemeClr val="tx1"/>
                </a:solidFill>
                <a:effectLst/>
                <a:latin typeface="DM Sans" pitchFamily="2" charset="0"/>
              </a:rPr>
              <a:t>Insights:</a:t>
            </a:r>
          </a:p>
          <a:p>
            <a:pPr marL="171450" indent="-171450">
              <a:lnSpc>
                <a:spcPct val="150000"/>
              </a:lnSpc>
              <a:buFont typeface="Arial" panose="020B0604020202020204" pitchFamily="34" charset="0"/>
              <a:buChar char="•"/>
            </a:pPr>
            <a:r>
              <a:rPr lang="en-US" sz="1200" b="0" i="0" dirty="0">
                <a:solidFill>
                  <a:schemeClr val="tx1"/>
                </a:solidFill>
                <a:effectLst/>
                <a:latin typeface="DM Sans" pitchFamily="2" charset="0"/>
              </a:rPr>
              <a:t>Weak positive correlation reveals poor click-to-conversion relationship</a:t>
            </a:r>
          </a:p>
          <a:p>
            <a:pPr marL="171450" indent="-171450">
              <a:lnSpc>
                <a:spcPct val="150000"/>
              </a:lnSpc>
              <a:buFont typeface="Arial" panose="020B0604020202020204" pitchFamily="34" charset="0"/>
              <a:buChar char="•"/>
            </a:pPr>
            <a:r>
              <a:rPr lang="en-US" sz="1200" b="0" i="0" dirty="0">
                <a:solidFill>
                  <a:schemeClr val="tx1"/>
                </a:solidFill>
                <a:effectLst/>
                <a:latin typeface="DM Sans" pitchFamily="2" charset="0"/>
              </a:rPr>
              <a:t>High clicks often fail to generate proportional conversions</a:t>
            </a:r>
          </a:p>
          <a:p>
            <a:pPr marL="171450" indent="-171450">
              <a:lnSpc>
                <a:spcPct val="150000"/>
              </a:lnSpc>
              <a:buFont typeface="Arial" panose="020B0604020202020204" pitchFamily="34" charset="0"/>
              <a:buChar char="•"/>
            </a:pPr>
            <a:r>
              <a:rPr lang="en-US" sz="1200" b="0" i="0" dirty="0">
                <a:solidFill>
                  <a:schemeClr val="tx1"/>
                </a:solidFill>
                <a:effectLst/>
                <a:latin typeface="DM Sans" pitchFamily="2" charset="0"/>
              </a:rPr>
              <a:t>Needs strategic optimization before budget expansion</a:t>
            </a:r>
            <a:endParaRPr lang="en-US" sz="1200" dirty="0">
              <a:solidFill>
                <a:schemeClr val="tx1"/>
              </a:solidFill>
              <a:latin typeface="DM Sans" pitchFamily="2" charset="0"/>
            </a:endParaRPr>
          </a:p>
        </p:txBody>
      </p:sp>
      <p:graphicFrame>
        <p:nvGraphicFramePr>
          <p:cNvPr id="5" name="Chart 4">
            <a:extLst>
              <a:ext uri="{FF2B5EF4-FFF2-40B4-BE49-F238E27FC236}">
                <a16:creationId xmlns:a16="http://schemas.microsoft.com/office/drawing/2014/main" id="{03F2A70C-ECBC-D4A7-E351-57E3004A5A8B}"/>
              </a:ext>
            </a:extLst>
          </p:cNvPr>
          <p:cNvGraphicFramePr>
            <a:graphicFrameLocks/>
          </p:cNvGraphicFramePr>
          <p:nvPr>
            <p:extLst>
              <p:ext uri="{D42A27DB-BD31-4B8C-83A1-F6EECF244321}">
                <p14:modId xmlns:p14="http://schemas.microsoft.com/office/powerpoint/2010/main" val="544098560"/>
              </p:ext>
            </p:extLst>
          </p:nvPr>
        </p:nvGraphicFramePr>
        <p:xfrm>
          <a:off x="3358893" y="1708830"/>
          <a:ext cx="5718432" cy="298964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0741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b="1" dirty="0"/>
              <a:t>End of Module 1</a:t>
            </a:r>
            <a:endParaRPr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9369A0F9-BBE0-7EB7-B439-B96477B626CB}"/>
            </a:ext>
          </a:extLst>
        </p:cNvPr>
        <p:cNvGrpSpPr/>
        <p:nvPr/>
      </p:nvGrpSpPr>
      <p:grpSpPr>
        <a:xfrm>
          <a:off x="0" y="0"/>
          <a:ext cx="0" cy="0"/>
          <a:chOff x="0" y="0"/>
          <a:chExt cx="0" cy="0"/>
        </a:xfrm>
      </p:grpSpPr>
      <p:sp>
        <p:nvSpPr>
          <p:cNvPr id="115" name="Google Shape;115;p21">
            <a:extLst>
              <a:ext uri="{FF2B5EF4-FFF2-40B4-BE49-F238E27FC236}">
                <a16:creationId xmlns:a16="http://schemas.microsoft.com/office/drawing/2014/main" id="{DB06BAF3-1D15-16C1-D10B-391709B717F5}"/>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t>Sample Type of Facebook Ad</a:t>
            </a:r>
            <a:endParaRPr sz="2800" b="1" dirty="0"/>
          </a:p>
        </p:txBody>
      </p:sp>
      <mc:AlternateContent xmlns:mc="http://schemas.openxmlformats.org/markup-compatibility/2006" xmlns:cx1="http://schemas.microsoft.com/office/drawing/2015/9/8/chartex">
        <mc:Choice Requires="cx1">
          <p:graphicFrame>
            <p:nvGraphicFramePr>
              <p:cNvPr id="2" name="Chart 1">
                <a:extLst>
                  <a:ext uri="{FF2B5EF4-FFF2-40B4-BE49-F238E27FC236}">
                    <a16:creationId xmlns:a16="http://schemas.microsoft.com/office/drawing/2014/main" id="{618CF61A-AF3C-D811-92D1-5EF73DC19E72}"/>
                  </a:ext>
                </a:extLst>
              </p:cNvPr>
              <p:cNvGraphicFramePr/>
              <p:nvPr>
                <p:extLst>
                  <p:ext uri="{D42A27DB-BD31-4B8C-83A1-F6EECF244321}">
                    <p14:modId xmlns:p14="http://schemas.microsoft.com/office/powerpoint/2010/main" val="4229330727"/>
                  </p:ext>
                </p:extLst>
              </p:nvPr>
            </p:nvGraphicFramePr>
            <p:xfrm>
              <a:off x="311700" y="2288850"/>
              <a:ext cx="3889580" cy="2521598"/>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2" name="Chart 1">
                <a:extLst>
                  <a:ext uri="{FF2B5EF4-FFF2-40B4-BE49-F238E27FC236}">
                    <a16:creationId xmlns:a16="http://schemas.microsoft.com/office/drawing/2014/main" id="{618CF61A-AF3C-D811-92D1-5EF73DC19E72}"/>
                  </a:ext>
                </a:extLst>
              </p:cNvPr>
              <p:cNvPicPr>
                <a:picLocks noGrp="1" noRot="1" noChangeAspect="1" noMove="1" noResize="1" noEditPoints="1" noAdjustHandles="1" noChangeArrowheads="1" noChangeShapeType="1"/>
              </p:cNvPicPr>
              <p:nvPr/>
            </p:nvPicPr>
            <p:blipFill>
              <a:blip r:embed="rId4"/>
              <a:stretch>
                <a:fillRect/>
              </a:stretch>
            </p:blipFill>
            <p:spPr>
              <a:xfrm>
                <a:off x="311700" y="2288850"/>
                <a:ext cx="3889580" cy="2521598"/>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3" name="Chart 2">
                <a:extLst>
                  <a:ext uri="{FF2B5EF4-FFF2-40B4-BE49-F238E27FC236}">
                    <a16:creationId xmlns:a16="http://schemas.microsoft.com/office/drawing/2014/main" id="{DE717872-CBFB-5F03-B8BB-D694BCFFC988}"/>
                  </a:ext>
                </a:extLst>
              </p:cNvPr>
              <p:cNvGraphicFramePr/>
              <p:nvPr>
                <p:extLst>
                  <p:ext uri="{D42A27DB-BD31-4B8C-83A1-F6EECF244321}">
                    <p14:modId xmlns:p14="http://schemas.microsoft.com/office/powerpoint/2010/main" val="4265065896"/>
                  </p:ext>
                </p:extLst>
              </p:nvPr>
            </p:nvGraphicFramePr>
            <p:xfrm>
              <a:off x="4942720" y="2288849"/>
              <a:ext cx="3889580" cy="2521597"/>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3" name="Chart 2">
                <a:extLst>
                  <a:ext uri="{FF2B5EF4-FFF2-40B4-BE49-F238E27FC236}">
                    <a16:creationId xmlns:a16="http://schemas.microsoft.com/office/drawing/2014/main" id="{DE717872-CBFB-5F03-B8BB-D694BCFFC988}"/>
                  </a:ext>
                </a:extLst>
              </p:cNvPr>
              <p:cNvPicPr>
                <a:picLocks noGrp="1" noRot="1" noChangeAspect="1" noMove="1" noResize="1" noEditPoints="1" noAdjustHandles="1" noChangeArrowheads="1" noChangeShapeType="1"/>
              </p:cNvPicPr>
              <p:nvPr/>
            </p:nvPicPr>
            <p:blipFill>
              <a:blip r:embed="rId6"/>
              <a:stretch>
                <a:fillRect/>
              </a:stretch>
            </p:blipFill>
            <p:spPr>
              <a:xfrm>
                <a:off x="4942720" y="2288849"/>
                <a:ext cx="3889580" cy="2521597"/>
              </a:xfrm>
              <a:prstGeom prst="rect">
                <a:avLst/>
              </a:prstGeom>
            </p:spPr>
          </p:pic>
        </mc:Fallback>
      </mc:AlternateContent>
      <p:sp>
        <p:nvSpPr>
          <p:cNvPr id="6" name="TextBox 5">
            <a:extLst>
              <a:ext uri="{FF2B5EF4-FFF2-40B4-BE49-F238E27FC236}">
                <a16:creationId xmlns:a16="http://schemas.microsoft.com/office/drawing/2014/main" id="{91383A8E-5DC1-046A-33DD-A68956C0F414}"/>
              </a:ext>
            </a:extLst>
          </p:cNvPr>
          <p:cNvSpPr txBox="1"/>
          <p:nvPr/>
        </p:nvSpPr>
        <p:spPr>
          <a:xfrm>
            <a:off x="311700" y="1298704"/>
            <a:ext cx="4635500" cy="709168"/>
          </a:xfrm>
          <a:prstGeom prst="rect">
            <a:avLst/>
          </a:prstGeom>
          <a:noFill/>
        </p:spPr>
        <p:txBody>
          <a:bodyPr wrap="square" anchor="ctr">
            <a:spAutoFit/>
          </a:bodyPr>
          <a:lstStyle/>
          <a:p>
            <a:pPr marL="285750" indent="-285750">
              <a:lnSpc>
                <a:spcPct val="150000"/>
              </a:lnSpc>
              <a:buFont typeface="Arial" panose="020B0604020202020204" pitchFamily="34" charset="0"/>
              <a:buChar char="•"/>
            </a:pPr>
            <a:r>
              <a:rPr lang="en-US" b="1" dirty="0">
                <a:solidFill>
                  <a:srgbClr val="0F1115"/>
                </a:solidFill>
                <a:latin typeface="DM Sans" pitchFamily="2" charset="0"/>
              </a:rPr>
              <a:t>Bucket Size: </a:t>
            </a:r>
            <a:r>
              <a:rPr lang="en-US" dirty="0">
                <a:solidFill>
                  <a:srgbClr val="0F1115"/>
                </a:solidFill>
                <a:latin typeface="DM Sans" pitchFamily="2" charset="0"/>
              </a:rPr>
              <a:t>10 </a:t>
            </a:r>
          </a:p>
          <a:p>
            <a:pPr marL="285750" indent="-285750">
              <a:lnSpc>
                <a:spcPct val="150000"/>
              </a:lnSpc>
              <a:buFont typeface="Arial" panose="020B0604020202020204" pitchFamily="34" charset="0"/>
              <a:buChar char="•"/>
            </a:pPr>
            <a:r>
              <a:rPr lang="en-US" b="1" dirty="0">
                <a:solidFill>
                  <a:srgbClr val="0F1115"/>
                </a:solidFill>
                <a:latin typeface="DM Sans" pitchFamily="2" charset="0"/>
              </a:rPr>
              <a:t>Distribution (Clicks)</a:t>
            </a:r>
            <a:r>
              <a:rPr lang="en-US" dirty="0">
                <a:solidFill>
                  <a:srgbClr val="0F1115"/>
                </a:solidFill>
                <a:latin typeface="DM Sans" pitchFamily="2" charset="0"/>
              </a:rPr>
              <a:t>: Normal</a:t>
            </a:r>
          </a:p>
        </p:txBody>
      </p:sp>
      <p:sp>
        <p:nvSpPr>
          <p:cNvPr id="8" name="TextBox 7">
            <a:extLst>
              <a:ext uri="{FF2B5EF4-FFF2-40B4-BE49-F238E27FC236}">
                <a16:creationId xmlns:a16="http://schemas.microsoft.com/office/drawing/2014/main" id="{10740121-5189-DDA8-DB11-977581695A89}"/>
              </a:ext>
            </a:extLst>
          </p:cNvPr>
          <p:cNvSpPr txBox="1"/>
          <p:nvPr/>
        </p:nvSpPr>
        <p:spPr>
          <a:xfrm>
            <a:off x="4923692" y="1311219"/>
            <a:ext cx="4220308" cy="7091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solidFill>
                  <a:srgbClr val="0F1115"/>
                </a:solidFill>
                <a:latin typeface="DM Sans" pitchFamily="2" charset="0"/>
              </a:rPr>
              <a:t>Bucket Size: </a:t>
            </a:r>
            <a:r>
              <a:rPr lang="en-US" dirty="0">
                <a:solidFill>
                  <a:srgbClr val="0F1115"/>
                </a:solidFill>
                <a:latin typeface="DM Sans" pitchFamily="2" charset="0"/>
              </a:rPr>
              <a:t>2</a:t>
            </a:r>
          </a:p>
          <a:p>
            <a:pPr marL="285750" indent="-285750">
              <a:lnSpc>
                <a:spcPct val="150000"/>
              </a:lnSpc>
              <a:buFont typeface="Arial" panose="020B0604020202020204" pitchFamily="34" charset="0"/>
              <a:buChar char="•"/>
            </a:pPr>
            <a:r>
              <a:rPr lang="en-US" b="1" dirty="0">
                <a:solidFill>
                  <a:srgbClr val="0F1115"/>
                </a:solidFill>
                <a:latin typeface="DM Sans" pitchFamily="2" charset="0"/>
              </a:rPr>
              <a:t>Distribution (Conversions)</a:t>
            </a:r>
            <a:r>
              <a:rPr lang="en-US" dirty="0">
                <a:solidFill>
                  <a:srgbClr val="0F1115"/>
                </a:solidFill>
                <a:latin typeface="DM Sans" pitchFamily="2" charset="0"/>
              </a:rPr>
              <a:t>: Normal</a:t>
            </a:r>
          </a:p>
        </p:txBody>
      </p:sp>
    </p:spTree>
    <p:extLst>
      <p:ext uri="{BB962C8B-B14F-4D97-AF65-F5344CB8AC3E}">
        <p14:creationId xmlns:p14="http://schemas.microsoft.com/office/powerpoint/2010/main" val="3041782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BC567D67-D0B5-2F1E-DBEE-B5103445E194}"/>
            </a:ext>
          </a:extLst>
        </p:cNvPr>
        <p:cNvGrpSpPr/>
        <p:nvPr/>
      </p:nvGrpSpPr>
      <p:grpSpPr>
        <a:xfrm>
          <a:off x="0" y="0"/>
          <a:ext cx="0" cy="0"/>
          <a:chOff x="0" y="0"/>
          <a:chExt cx="0" cy="0"/>
        </a:xfrm>
      </p:grpSpPr>
      <p:sp>
        <p:nvSpPr>
          <p:cNvPr id="115" name="Google Shape;115;p21">
            <a:extLst>
              <a:ext uri="{FF2B5EF4-FFF2-40B4-BE49-F238E27FC236}">
                <a16:creationId xmlns:a16="http://schemas.microsoft.com/office/drawing/2014/main" id="{C4A72C7A-20D6-310F-A34C-93403A77222A}"/>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t>Sample Type of AdWords Ad</a:t>
            </a:r>
            <a:endParaRPr sz="2800" b="1" dirty="0"/>
          </a:p>
        </p:txBody>
      </p:sp>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A856A5E6-6D54-4051-BF81-3422A80B18B2}"/>
                  </a:ext>
                </a:extLst>
              </p:cNvPr>
              <p:cNvGraphicFramePr/>
              <p:nvPr>
                <p:extLst>
                  <p:ext uri="{D42A27DB-BD31-4B8C-83A1-F6EECF244321}">
                    <p14:modId xmlns:p14="http://schemas.microsoft.com/office/powerpoint/2010/main" val="170036838"/>
                  </p:ext>
                </p:extLst>
              </p:nvPr>
            </p:nvGraphicFramePr>
            <p:xfrm>
              <a:off x="311701" y="2251897"/>
              <a:ext cx="3858366" cy="2521598"/>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 name="Chart 3">
                <a:extLst>
                  <a:ext uri="{FF2B5EF4-FFF2-40B4-BE49-F238E27FC236}">
                    <a16:creationId xmlns:a16="http://schemas.microsoft.com/office/drawing/2014/main" id="{A856A5E6-6D54-4051-BF81-3422A80B18B2}"/>
                  </a:ext>
                </a:extLst>
              </p:cNvPr>
              <p:cNvPicPr>
                <a:picLocks noGrp="1" noRot="1" noChangeAspect="1" noMove="1" noResize="1" noEditPoints="1" noAdjustHandles="1" noChangeArrowheads="1" noChangeShapeType="1"/>
              </p:cNvPicPr>
              <p:nvPr/>
            </p:nvPicPr>
            <p:blipFill>
              <a:blip r:embed="rId4"/>
              <a:stretch>
                <a:fillRect/>
              </a:stretch>
            </p:blipFill>
            <p:spPr>
              <a:xfrm>
                <a:off x="311701" y="2251897"/>
                <a:ext cx="3858366" cy="2521598"/>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5DCA3DAD-8125-47B0-80B7-471960B6F168}"/>
                  </a:ext>
                </a:extLst>
              </p:cNvPr>
              <p:cNvGraphicFramePr/>
              <p:nvPr>
                <p:extLst>
                  <p:ext uri="{D42A27DB-BD31-4B8C-83A1-F6EECF244321}">
                    <p14:modId xmlns:p14="http://schemas.microsoft.com/office/powerpoint/2010/main" val="2457987371"/>
                  </p:ext>
                </p:extLst>
              </p:nvPr>
            </p:nvGraphicFramePr>
            <p:xfrm>
              <a:off x="4973934" y="2251897"/>
              <a:ext cx="3858366" cy="2521598"/>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5" name="Chart 4">
                <a:extLst>
                  <a:ext uri="{FF2B5EF4-FFF2-40B4-BE49-F238E27FC236}">
                    <a16:creationId xmlns:a16="http://schemas.microsoft.com/office/drawing/2014/main" id="{5DCA3DAD-8125-47B0-80B7-471960B6F168}"/>
                  </a:ext>
                </a:extLst>
              </p:cNvPr>
              <p:cNvPicPr>
                <a:picLocks noGrp="1" noRot="1" noChangeAspect="1" noMove="1" noResize="1" noEditPoints="1" noAdjustHandles="1" noChangeArrowheads="1" noChangeShapeType="1"/>
              </p:cNvPicPr>
              <p:nvPr/>
            </p:nvPicPr>
            <p:blipFill>
              <a:blip r:embed="rId6"/>
              <a:stretch>
                <a:fillRect/>
              </a:stretch>
            </p:blipFill>
            <p:spPr>
              <a:xfrm>
                <a:off x="4973934" y="2251897"/>
                <a:ext cx="3858366" cy="2521598"/>
              </a:xfrm>
              <a:prstGeom prst="rect">
                <a:avLst/>
              </a:prstGeom>
            </p:spPr>
          </p:pic>
        </mc:Fallback>
      </mc:AlternateContent>
      <p:sp>
        <p:nvSpPr>
          <p:cNvPr id="7" name="TextBox 6">
            <a:extLst>
              <a:ext uri="{FF2B5EF4-FFF2-40B4-BE49-F238E27FC236}">
                <a16:creationId xmlns:a16="http://schemas.microsoft.com/office/drawing/2014/main" id="{FEF5DACC-1C1C-5CDB-35AA-03674CDA4E04}"/>
              </a:ext>
            </a:extLst>
          </p:cNvPr>
          <p:cNvSpPr txBox="1"/>
          <p:nvPr/>
        </p:nvSpPr>
        <p:spPr>
          <a:xfrm>
            <a:off x="311700" y="1324277"/>
            <a:ext cx="4632290" cy="7091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solidFill>
                  <a:srgbClr val="0F1115"/>
                </a:solidFill>
                <a:latin typeface="DM Sans" pitchFamily="2" charset="0"/>
              </a:rPr>
              <a:t>Bucket Size: </a:t>
            </a:r>
            <a:r>
              <a:rPr lang="en-US" dirty="0">
                <a:solidFill>
                  <a:srgbClr val="0F1115"/>
                </a:solidFill>
                <a:latin typeface="DM Sans" pitchFamily="2" charset="0"/>
              </a:rPr>
              <a:t>10 </a:t>
            </a:r>
          </a:p>
          <a:p>
            <a:pPr marL="285750" indent="-285750">
              <a:lnSpc>
                <a:spcPct val="150000"/>
              </a:lnSpc>
              <a:buFont typeface="Arial" panose="020B0604020202020204" pitchFamily="34" charset="0"/>
              <a:buChar char="•"/>
            </a:pPr>
            <a:r>
              <a:rPr lang="en-US" b="1" dirty="0">
                <a:solidFill>
                  <a:srgbClr val="0F1115"/>
                </a:solidFill>
                <a:latin typeface="DM Sans" pitchFamily="2" charset="0"/>
              </a:rPr>
              <a:t>Distribution (Clicks)</a:t>
            </a:r>
            <a:r>
              <a:rPr lang="en-US" dirty="0">
                <a:solidFill>
                  <a:srgbClr val="0F1115"/>
                </a:solidFill>
                <a:latin typeface="DM Sans" pitchFamily="2" charset="0"/>
              </a:rPr>
              <a:t>: Normal</a:t>
            </a:r>
          </a:p>
        </p:txBody>
      </p:sp>
      <p:sp>
        <p:nvSpPr>
          <p:cNvPr id="9" name="TextBox 8">
            <a:extLst>
              <a:ext uri="{FF2B5EF4-FFF2-40B4-BE49-F238E27FC236}">
                <a16:creationId xmlns:a16="http://schemas.microsoft.com/office/drawing/2014/main" id="{71D77A69-D9BB-2532-C354-8259169ABF08}"/>
              </a:ext>
            </a:extLst>
          </p:cNvPr>
          <p:cNvSpPr txBox="1"/>
          <p:nvPr/>
        </p:nvSpPr>
        <p:spPr>
          <a:xfrm>
            <a:off x="4973934" y="1312123"/>
            <a:ext cx="4099728" cy="7091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solidFill>
                  <a:srgbClr val="0F1115"/>
                </a:solidFill>
                <a:latin typeface="DM Sans" pitchFamily="2" charset="0"/>
              </a:rPr>
              <a:t>Bucket Size:</a:t>
            </a:r>
            <a:r>
              <a:rPr lang="en-US" dirty="0">
                <a:solidFill>
                  <a:srgbClr val="0F1115"/>
                </a:solidFill>
                <a:latin typeface="DM Sans" pitchFamily="2" charset="0"/>
              </a:rPr>
              <a:t> 1</a:t>
            </a:r>
          </a:p>
          <a:p>
            <a:pPr marL="285750" indent="-285750">
              <a:lnSpc>
                <a:spcPct val="150000"/>
              </a:lnSpc>
              <a:buFont typeface="Arial" panose="020B0604020202020204" pitchFamily="34" charset="0"/>
              <a:buChar char="•"/>
            </a:pPr>
            <a:r>
              <a:rPr lang="en-US" b="1" dirty="0">
                <a:solidFill>
                  <a:srgbClr val="0F1115"/>
                </a:solidFill>
                <a:latin typeface="DM Sans" pitchFamily="2" charset="0"/>
              </a:rPr>
              <a:t>Distribution (Conversions)</a:t>
            </a:r>
            <a:r>
              <a:rPr lang="en-US" dirty="0">
                <a:solidFill>
                  <a:srgbClr val="0F1115"/>
                </a:solidFill>
                <a:latin typeface="DM Sans" pitchFamily="2" charset="0"/>
              </a:rPr>
              <a:t>: Normal</a:t>
            </a:r>
          </a:p>
        </p:txBody>
      </p:sp>
    </p:spTree>
    <p:extLst>
      <p:ext uri="{BB962C8B-B14F-4D97-AF65-F5344CB8AC3E}">
        <p14:creationId xmlns:p14="http://schemas.microsoft.com/office/powerpoint/2010/main" val="1908739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t>Variable Types</a:t>
            </a:r>
            <a:endParaRPr sz="2800" b="1" dirty="0"/>
          </a:p>
        </p:txBody>
      </p:sp>
      <p:graphicFrame>
        <p:nvGraphicFramePr>
          <p:cNvPr id="3" name="Table 2">
            <a:extLst>
              <a:ext uri="{FF2B5EF4-FFF2-40B4-BE49-F238E27FC236}">
                <a16:creationId xmlns:a16="http://schemas.microsoft.com/office/drawing/2014/main" id="{68EED9B4-6D5D-A478-8BF7-8D6141D9F4F5}"/>
              </a:ext>
            </a:extLst>
          </p:cNvPr>
          <p:cNvGraphicFramePr>
            <a:graphicFrameLocks noGrp="1"/>
          </p:cNvGraphicFramePr>
          <p:nvPr>
            <p:extLst>
              <p:ext uri="{D42A27DB-BD31-4B8C-83A1-F6EECF244321}">
                <p14:modId xmlns:p14="http://schemas.microsoft.com/office/powerpoint/2010/main" val="2268717010"/>
              </p:ext>
            </p:extLst>
          </p:nvPr>
        </p:nvGraphicFramePr>
        <p:xfrm>
          <a:off x="529389" y="1265153"/>
          <a:ext cx="8085221" cy="3663066"/>
        </p:xfrm>
        <a:graphic>
          <a:graphicData uri="http://schemas.openxmlformats.org/drawingml/2006/table">
            <a:tbl>
              <a:tblPr firstRow="1" bandRow="1">
                <a:tableStyleId>{BDBED569-4797-4DF1-A0F4-6AAB3CD982D8}</a:tableStyleId>
              </a:tblPr>
              <a:tblGrid>
                <a:gridCol w="1973052">
                  <a:extLst>
                    <a:ext uri="{9D8B030D-6E8A-4147-A177-3AD203B41FA5}">
                      <a16:colId xmlns:a16="http://schemas.microsoft.com/office/drawing/2014/main" val="387316966"/>
                    </a:ext>
                  </a:extLst>
                </a:gridCol>
                <a:gridCol w="2016396">
                  <a:extLst>
                    <a:ext uri="{9D8B030D-6E8A-4147-A177-3AD203B41FA5}">
                      <a16:colId xmlns:a16="http://schemas.microsoft.com/office/drawing/2014/main" val="1557417352"/>
                    </a:ext>
                  </a:extLst>
                </a:gridCol>
                <a:gridCol w="4095773">
                  <a:extLst>
                    <a:ext uri="{9D8B030D-6E8A-4147-A177-3AD203B41FA5}">
                      <a16:colId xmlns:a16="http://schemas.microsoft.com/office/drawing/2014/main" val="1808419714"/>
                    </a:ext>
                  </a:extLst>
                </a:gridCol>
              </a:tblGrid>
              <a:tr h="1273257">
                <a:tc rowSpan="2">
                  <a:txBody>
                    <a:bodyPr/>
                    <a:lstStyle/>
                    <a:p>
                      <a:pPr marR="0" algn="ctr" rtl="0" fontAlgn="b">
                        <a:lnSpc>
                          <a:spcPct val="100000"/>
                        </a:lnSpc>
                        <a:spcBef>
                          <a:spcPts val="0"/>
                        </a:spcBef>
                        <a:spcAft>
                          <a:spcPts val="0"/>
                        </a:spcAft>
                        <a:buClr>
                          <a:srgbClr val="000000"/>
                        </a:buClr>
                        <a:buFont typeface="Arial"/>
                        <a:buNone/>
                      </a:pPr>
                      <a:r>
                        <a:rPr lang="en" sz="1200" b="1" i="0" u="none" strike="noStrike" cap="none" dirty="0">
                          <a:solidFill>
                            <a:schemeClr val="tx1"/>
                          </a:solidFill>
                          <a:latin typeface="DM Sans" pitchFamily="2" charset="0"/>
                          <a:ea typeface="+mn-ea"/>
                          <a:cs typeface="+mn-cs"/>
                          <a:sym typeface="DM Sans"/>
                        </a:rPr>
                        <a:t>Quantitative</a:t>
                      </a:r>
                      <a:endParaRPr lang="en-US" sz="1200" b="1" i="0" u="none" strike="noStrike" cap="none" dirty="0">
                        <a:solidFill>
                          <a:schemeClr val="tx1"/>
                        </a:solidFill>
                        <a:latin typeface="DM Sans" pitchFamily="2" charset="0"/>
                        <a:ea typeface="+mn-ea"/>
                        <a:cs typeface="+mn-cs"/>
                        <a:sym typeface="Arial"/>
                      </a:endParaRPr>
                    </a:p>
                  </a:txBody>
                  <a:tcPr anchor="ctr"/>
                </a:tc>
                <a:tc>
                  <a:txBody>
                    <a:bodyPr/>
                    <a:lstStyle/>
                    <a:p>
                      <a:pPr algn="ctr"/>
                      <a:r>
                        <a:rPr lang="en" sz="1200" b="0" dirty="0">
                          <a:solidFill>
                            <a:schemeClr val="tx1"/>
                          </a:solidFill>
                          <a:latin typeface="DM Sans" pitchFamily="2" charset="0"/>
                          <a:ea typeface="DM Sans"/>
                          <a:cs typeface="DM Sans"/>
                          <a:sym typeface="DM Sans"/>
                        </a:rPr>
                        <a:t>Continuous</a:t>
                      </a:r>
                      <a:endParaRPr lang="en-US" sz="1200" b="0" dirty="0">
                        <a:solidFill>
                          <a:schemeClr val="tx1"/>
                        </a:solidFill>
                        <a:latin typeface="DM Sans" pitchFamily="2" charset="0"/>
                      </a:endParaRPr>
                    </a:p>
                  </a:txBody>
                  <a:tcPr anchor="ctr"/>
                </a:tc>
                <a:tc>
                  <a:txBody>
                    <a:bodyPr/>
                    <a:lstStyle/>
                    <a:p>
                      <a:pPr marL="171450" indent="-171450" algn="l">
                        <a:spcBef>
                          <a:spcPts val="125"/>
                        </a:spcBef>
                        <a:buFont typeface="Arial" panose="020B0604020202020204" pitchFamily="34" charset="0"/>
                        <a:buChar char="•"/>
                      </a:pPr>
                      <a:r>
                        <a:rPr lang="en-US" sz="1100" b="0" dirty="0">
                          <a:latin typeface="DM Sans" pitchFamily="2" charset="0"/>
                        </a:rPr>
                        <a:t>Cost per Facebook Ad</a:t>
                      </a:r>
                    </a:p>
                    <a:p>
                      <a:pPr marL="171450" indent="-171450" algn="l">
                        <a:spcBef>
                          <a:spcPts val="125"/>
                        </a:spcBef>
                        <a:buFont typeface="Arial" panose="020B0604020202020204" pitchFamily="34" charset="0"/>
                        <a:buChar char="•"/>
                      </a:pPr>
                      <a:r>
                        <a:rPr lang="en-US" sz="1100" b="0" dirty="0">
                          <a:latin typeface="DM Sans" pitchFamily="2" charset="0"/>
                        </a:rPr>
                        <a:t>Facebook Click-Through Rate (Clicks / Views)</a:t>
                      </a:r>
                    </a:p>
                    <a:p>
                      <a:pPr marL="171450" indent="-171450" algn="l">
                        <a:spcBef>
                          <a:spcPts val="125"/>
                        </a:spcBef>
                        <a:buFont typeface="Arial" panose="020B0604020202020204" pitchFamily="34" charset="0"/>
                        <a:buChar char="•"/>
                      </a:pPr>
                      <a:r>
                        <a:rPr lang="en-US" sz="1100" b="0" dirty="0">
                          <a:latin typeface="DM Sans" pitchFamily="2" charset="0"/>
                        </a:rPr>
                        <a:t>Facebook Conversion Rate (Conversions / Clicks)</a:t>
                      </a:r>
                    </a:p>
                    <a:p>
                      <a:pPr marL="171450" indent="-171450" algn="l">
                        <a:spcBef>
                          <a:spcPts val="125"/>
                        </a:spcBef>
                        <a:buFont typeface="Arial" panose="020B0604020202020204" pitchFamily="34" charset="0"/>
                        <a:buChar char="•"/>
                      </a:pPr>
                      <a:r>
                        <a:rPr lang="en-US" sz="1100" b="0" dirty="0">
                          <a:latin typeface="DM Sans" pitchFamily="2" charset="0"/>
                        </a:rPr>
                        <a:t>Facebook Cost per Click (Ad Cost / Clicks)</a:t>
                      </a:r>
                    </a:p>
                    <a:p>
                      <a:pPr marL="171450" indent="-171450" algn="l">
                        <a:spcBef>
                          <a:spcPts val="125"/>
                        </a:spcBef>
                        <a:buFont typeface="Arial" panose="020B0604020202020204" pitchFamily="34" charset="0"/>
                        <a:buChar char="•"/>
                      </a:pPr>
                      <a:r>
                        <a:rPr lang="en-US" sz="1100" b="0" dirty="0">
                          <a:latin typeface="DM Sans" pitchFamily="2" charset="0"/>
                        </a:rPr>
                        <a:t>Cost per AdWords Ad</a:t>
                      </a:r>
                    </a:p>
                    <a:p>
                      <a:pPr marL="171450" indent="-171450" algn="l">
                        <a:spcBef>
                          <a:spcPts val="125"/>
                        </a:spcBef>
                        <a:buFont typeface="Arial" panose="020B0604020202020204" pitchFamily="34" charset="0"/>
                        <a:buChar char="•"/>
                      </a:pPr>
                      <a:r>
                        <a:rPr lang="en-US" sz="1100" b="0" dirty="0">
                          <a:latin typeface="DM Sans" pitchFamily="2" charset="0"/>
                        </a:rPr>
                        <a:t>AdWords Click-Through Rate (Clicks / Views)</a:t>
                      </a:r>
                    </a:p>
                    <a:p>
                      <a:pPr marL="171450" indent="-171450" algn="l">
                        <a:spcBef>
                          <a:spcPts val="125"/>
                        </a:spcBef>
                        <a:buFont typeface="Arial" panose="020B0604020202020204" pitchFamily="34" charset="0"/>
                        <a:buChar char="•"/>
                      </a:pPr>
                      <a:r>
                        <a:rPr lang="en-US" sz="1100" b="0" dirty="0">
                          <a:latin typeface="DM Sans" pitchFamily="2" charset="0"/>
                        </a:rPr>
                        <a:t>AdWords Conversion Rate (Conversions / Clicks)</a:t>
                      </a:r>
                    </a:p>
                    <a:p>
                      <a:pPr marL="171450" indent="-171450" algn="l">
                        <a:spcBef>
                          <a:spcPts val="125"/>
                        </a:spcBef>
                        <a:buFont typeface="Arial" panose="020B0604020202020204" pitchFamily="34" charset="0"/>
                        <a:buChar char="•"/>
                      </a:pPr>
                      <a:r>
                        <a:rPr lang="en-US" sz="1100" b="0" dirty="0">
                          <a:latin typeface="DM Sans" pitchFamily="2" charset="0"/>
                        </a:rPr>
                        <a:t>AdWords Cost per Click (Ad Cost / Clicks)</a:t>
                      </a:r>
                      <a:endParaRPr lang="en-US" sz="1100" b="0" dirty="0">
                        <a:solidFill>
                          <a:schemeClr val="tx1"/>
                        </a:solidFill>
                        <a:latin typeface="DM Sans" pitchFamily="2" charset="0"/>
                      </a:endParaRPr>
                    </a:p>
                  </a:txBody>
                  <a:tcPr anchor="ctr"/>
                </a:tc>
                <a:extLst>
                  <a:ext uri="{0D108BD9-81ED-4DB2-BD59-A6C34878D82A}">
                    <a16:rowId xmlns:a16="http://schemas.microsoft.com/office/drawing/2014/main" val="1134257717"/>
                  </a:ext>
                </a:extLst>
              </a:tr>
              <a:tr h="975260">
                <a:tc vMerge="1">
                  <a:txBody>
                    <a:bodyPr/>
                    <a:lstStyle/>
                    <a:p>
                      <a:endParaRPr lang="en-US" dirty="0"/>
                    </a:p>
                  </a:txBody>
                  <a:tcPr/>
                </a:tc>
                <a:tc>
                  <a:txBody>
                    <a:bodyPr/>
                    <a:lstStyle/>
                    <a:p>
                      <a:pPr algn="ctr"/>
                      <a:r>
                        <a:rPr lang="en" sz="1200" b="0" dirty="0">
                          <a:solidFill>
                            <a:schemeClr val="tx1"/>
                          </a:solidFill>
                          <a:latin typeface="DM Sans" pitchFamily="2" charset="0"/>
                          <a:ea typeface="DM Sans"/>
                          <a:cs typeface="DM Sans"/>
                          <a:sym typeface="DM Sans"/>
                        </a:rPr>
                        <a:t>Discrete</a:t>
                      </a:r>
                      <a:endParaRPr lang="en-US" sz="1200" b="0" dirty="0">
                        <a:solidFill>
                          <a:schemeClr val="tx1"/>
                        </a:solidFill>
                        <a:latin typeface="DM Sans" pitchFamily="2" charset="0"/>
                      </a:endParaRPr>
                    </a:p>
                  </a:txBody>
                  <a:tcPr anchor="ctr"/>
                </a:tc>
                <a:tc>
                  <a:txBody>
                    <a:bodyPr/>
                    <a:lstStyle/>
                    <a:p>
                      <a:pPr marL="285750" indent="-285750" algn="l">
                        <a:spcBef>
                          <a:spcPts val="125"/>
                        </a:spcBef>
                        <a:buFont typeface="Arial" panose="020B0604020202020204" pitchFamily="34" charset="0"/>
                        <a:buChar char="•"/>
                      </a:pPr>
                      <a:r>
                        <a:rPr lang="en-US" sz="1100" dirty="0">
                          <a:latin typeface="DM Sans" pitchFamily="2" charset="0"/>
                        </a:rPr>
                        <a:t>Facebook Ad Views</a:t>
                      </a:r>
                    </a:p>
                    <a:p>
                      <a:pPr marL="285750" indent="-285750" algn="l">
                        <a:spcBef>
                          <a:spcPts val="125"/>
                        </a:spcBef>
                        <a:buFont typeface="Arial" panose="020B0604020202020204" pitchFamily="34" charset="0"/>
                        <a:buChar char="•"/>
                      </a:pPr>
                      <a:r>
                        <a:rPr lang="en-US" sz="1100" dirty="0">
                          <a:latin typeface="DM Sans" pitchFamily="2" charset="0"/>
                        </a:rPr>
                        <a:t>Facebook Ad Clicks</a:t>
                      </a:r>
                    </a:p>
                    <a:p>
                      <a:pPr marL="285750" indent="-285750" algn="l">
                        <a:spcBef>
                          <a:spcPts val="125"/>
                        </a:spcBef>
                        <a:buFont typeface="Arial" panose="020B0604020202020204" pitchFamily="34" charset="0"/>
                        <a:buChar char="•"/>
                      </a:pPr>
                      <a:r>
                        <a:rPr lang="en-US" sz="1100" dirty="0">
                          <a:latin typeface="DM Sans" pitchFamily="2" charset="0"/>
                        </a:rPr>
                        <a:t>Facebook Ad Conversions</a:t>
                      </a:r>
                    </a:p>
                    <a:p>
                      <a:pPr marL="285750" indent="-285750" algn="l">
                        <a:spcBef>
                          <a:spcPts val="125"/>
                        </a:spcBef>
                        <a:buFont typeface="Arial" panose="020B0604020202020204" pitchFamily="34" charset="0"/>
                        <a:buChar char="•"/>
                      </a:pPr>
                      <a:r>
                        <a:rPr lang="en-US" sz="1100" dirty="0">
                          <a:latin typeface="DM Sans" pitchFamily="2" charset="0"/>
                        </a:rPr>
                        <a:t>AdWords Ad Views</a:t>
                      </a:r>
                    </a:p>
                    <a:p>
                      <a:pPr marL="285750" indent="-285750" algn="l">
                        <a:spcBef>
                          <a:spcPts val="125"/>
                        </a:spcBef>
                        <a:buFont typeface="Arial" panose="020B0604020202020204" pitchFamily="34" charset="0"/>
                        <a:buChar char="•"/>
                      </a:pPr>
                      <a:r>
                        <a:rPr lang="en-US" sz="1100" dirty="0">
                          <a:latin typeface="DM Sans" pitchFamily="2" charset="0"/>
                        </a:rPr>
                        <a:t>AdWords Ad Clicks</a:t>
                      </a:r>
                    </a:p>
                    <a:p>
                      <a:pPr marL="285750" indent="-285750" algn="l">
                        <a:spcBef>
                          <a:spcPts val="125"/>
                        </a:spcBef>
                        <a:buFont typeface="Arial" panose="020B0604020202020204" pitchFamily="34" charset="0"/>
                        <a:buChar char="•"/>
                      </a:pPr>
                      <a:r>
                        <a:rPr lang="en-US" sz="1100" dirty="0">
                          <a:latin typeface="DM Sans" pitchFamily="2" charset="0"/>
                        </a:rPr>
                        <a:t>AdWords Ad Conversions</a:t>
                      </a:r>
                      <a:endParaRPr lang="en-US" sz="1100" b="1" dirty="0">
                        <a:solidFill>
                          <a:schemeClr val="tx1"/>
                        </a:solidFill>
                        <a:latin typeface="DM Sans" pitchFamily="2" charset="0"/>
                      </a:endParaRPr>
                    </a:p>
                  </a:txBody>
                  <a:tcPr anchor="ctr"/>
                </a:tc>
                <a:extLst>
                  <a:ext uri="{0D108BD9-81ED-4DB2-BD59-A6C34878D82A}">
                    <a16:rowId xmlns:a16="http://schemas.microsoft.com/office/drawing/2014/main" val="4103498484"/>
                  </a:ext>
                </a:extLst>
              </a:tr>
              <a:tr h="490413">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solidFill>
                            <a:schemeClr val="tx1"/>
                          </a:solidFill>
                          <a:latin typeface="DM Sans" pitchFamily="2" charset="0"/>
                          <a:ea typeface="DM Sans"/>
                          <a:cs typeface="DM Sans"/>
                          <a:sym typeface="DM Sans"/>
                        </a:rPr>
                        <a:t>Qualitative: </a:t>
                      </a:r>
                    </a:p>
                    <a:p>
                      <a:pPr algn="ctr"/>
                      <a:endParaRPr lang="en-US" sz="1200" b="1" dirty="0">
                        <a:solidFill>
                          <a:schemeClr val="tx1"/>
                        </a:solidFill>
                        <a:latin typeface="DM Sans" pitchFamily="2" charset="0"/>
                      </a:endParaRPr>
                    </a:p>
                  </a:txBody>
                  <a:tcPr anchor="ctr"/>
                </a:tc>
                <a:tc>
                  <a:txBody>
                    <a:bodyPr/>
                    <a:lstStyle/>
                    <a:p>
                      <a:pPr algn="ctr"/>
                      <a:r>
                        <a:rPr lang="en" sz="1200" b="0" dirty="0">
                          <a:solidFill>
                            <a:schemeClr val="tx1"/>
                          </a:solidFill>
                          <a:latin typeface="DM Sans" pitchFamily="2" charset="0"/>
                          <a:ea typeface="DM Sans"/>
                          <a:cs typeface="DM Sans"/>
                          <a:sym typeface="DM Sans"/>
                        </a:rPr>
                        <a:t>Nominal</a:t>
                      </a:r>
                      <a:endParaRPr lang="en-US" sz="1200" b="0" dirty="0">
                        <a:solidFill>
                          <a:schemeClr val="tx1"/>
                        </a:solidFill>
                        <a:latin typeface="DM Sans" pitchFamily="2" charset="0"/>
                      </a:endParaRPr>
                    </a:p>
                  </a:txBody>
                  <a:tcPr anchor="ctr"/>
                </a:tc>
                <a:tc>
                  <a:txBody>
                    <a:bodyPr/>
                    <a:lstStyle/>
                    <a:p>
                      <a:pPr marL="285750" indent="-285750">
                        <a:spcBef>
                          <a:spcPts val="125"/>
                        </a:spcBef>
                        <a:buFont typeface="Arial" panose="020B0604020202020204" pitchFamily="34" charset="0"/>
                        <a:buChar char="•"/>
                      </a:pPr>
                      <a:r>
                        <a:rPr lang="en-US" sz="1100" dirty="0">
                          <a:latin typeface="DM Sans" pitchFamily="2" charset="0"/>
                        </a:rPr>
                        <a:t>Facebook Ad Campaign</a:t>
                      </a:r>
                    </a:p>
                    <a:p>
                      <a:pPr marL="285750" indent="-285750">
                        <a:spcBef>
                          <a:spcPts val="125"/>
                        </a:spcBef>
                        <a:buFont typeface="Arial" panose="020B0604020202020204" pitchFamily="34" charset="0"/>
                        <a:buChar char="•"/>
                      </a:pPr>
                      <a:r>
                        <a:rPr lang="en-US" sz="1100" dirty="0">
                          <a:latin typeface="DM Sans" pitchFamily="2" charset="0"/>
                        </a:rPr>
                        <a:t>AdWords Ad Campaign</a:t>
                      </a:r>
                    </a:p>
                  </a:txBody>
                  <a:tcPr anchor="ctr"/>
                </a:tc>
                <a:extLst>
                  <a:ext uri="{0D108BD9-81ED-4DB2-BD59-A6C34878D82A}">
                    <a16:rowId xmlns:a16="http://schemas.microsoft.com/office/drawing/2014/main" val="1039595278"/>
                  </a:ext>
                </a:extLst>
              </a:tr>
              <a:tr h="490413">
                <a:tc vMerge="1">
                  <a:txBody>
                    <a:bodyPr/>
                    <a:lstStyle/>
                    <a:p>
                      <a:endParaRPr lang="en-US" dirty="0"/>
                    </a:p>
                  </a:txBody>
                  <a:tcPr/>
                </a:tc>
                <a:tc>
                  <a:txBody>
                    <a:bodyPr/>
                    <a:lstStyle/>
                    <a:p>
                      <a:pPr algn="ctr"/>
                      <a:r>
                        <a:rPr lang="en" sz="1200" b="0" dirty="0">
                          <a:solidFill>
                            <a:schemeClr val="tx1"/>
                          </a:solidFill>
                          <a:latin typeface="DM Sans" pitchFamily="2" charset="0"/>
                          <a:ea typeface="DM Sans"/>
                          <a:cs typeface="DM Sans"/>
                          <a:sym typeface="DM Sans"/>
                        </a:rPr>
                        <a:t>Ordinal</a:t>
                      </a:r>
                      <a:endParaRPr lang="en-US" sz="1200" b="0" dirty="0">
                        <a:solidFill>
                          <a:schemeClr val="tx1"/>
                        </a:solidFill>
                        <a:latin typeface="DM Sans" pitchFamily="2" charset="0"/>
                      </a:endParaRPr>
                    </a:p>
                  </a:txBody>
                  <a:tcPr anchor="ctr"/>
                </a:tc>
                <a:tc>
                  <a:txBody>
                    <a:bodyPr/>
                    <a:lstStyle/>
                    <a:p>
                      <a:pPr marL="285750" indent="-285750" algn="l">
                        <a:spcBef>
                          <a:spcPts val="125"/>
                        </a:spcBef>
                        <a:buFont typeface="Arial" panose="020B0604020202020204" pitchFamily="34" charset="0"/>
                        <a:buChar char="•"/>
                      </a:pPr>
                      <a:r>
                        <a:rPr lang="en-US" sz="1100" dirty="0">
                          <a:latin typeface="DM Sans" pitchFamily="2" charset="0"/>
                        </a:rPr>
                        <a:t>Date</a:t>
                      </a:r>
                      <a:endParaRPr lang="en-US" sz="1100" b="1" dirty="0">
                        <a:solidFill>
                          <a:schemeClr val="tx1"/>
                        </a:solidFill>
                        <a:latin typeface="DM Sans" pitchFamily="2" charset="0"/>
                      </a:endParaRPr>
                    </a:p>
                  </a:txBody>
                  <a:tcPr anchor="ctr"/>
                </a:tc>
                <a:extLst>
                  <a:ext uri="{0D108BD9-81ED-4DB2-BD59-A6C34878D82A}">
                    <a16:rowId xmlns:a16="http://schemas.microsoft.com/office/drawing/2014/main" val="266789992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b="1" dirty="0"/>
              <a:t>End of Module 2</a:t>
            </a:r>
            <a:endParaRPr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a:extLst>
            <a:ext uri="{FF2B5EF4-FFF2-40B4-BE49-F238E27FC236}">
              <a16:creationId xmlns:a16="http://schemas.microsoft.com/office/drawing/2014/main" id="{6488634A-FCBE-3BBE-5A3B-49587C8BBA45}"/>
            </a:ext>
          </a:extLst>
        </p:cNvPr>
        <p:cNvGrpSpPr/>
        <p:nvPr/>
      </p:nvGrpSpPr>
      <p:grpSpPr>
        <a:xfrm>
          <a:off x="0" y="0"/>
          <a:ext cx="0" cy="0"/>
          <a:chOff x="0" y="0"/>
          <a:chExt cx="0" cy="0"/>
        </a:xfrm>
      </p:grpSpPr>
      <p:sp>
        <p:nvSpPr>
          <p:cNvPr id="150" name="Google Shape;150;p25">
            <a:extLst>
              <a:ext uri="{FF2B5EF4-FFF2-40B4-BE49-F238E27FC236}">
                <a16:creationId xmlns:a16="http://schemas.microsoft.com/office/drawing/2014/main" id="{E80E631C-4CBC-4658-EC11-55975F97A99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t>Research Question &amp; Hypothesis</a:t>
            </a:r>
            <a:endParaRPr sz="2800" b="1" dirty="0"/>
          </a:p>
        </p:txBody>
      </p:sp>
      <p:graphicFrame>
        <p:nvGraphicFramePr>
          <p:cNvPr id="2" name="Table 1">
            <a:extLst>
              <a:ext uri="{FF2B5EF4-FFF2-40B4-BE49-F238E27FC236}">
                <a16:creationId xmlns:a16="http://schemas.microsoft.com/office/drawing/2014/main" id="{B48A96F5-369B-4F88-3EE9-C6197C835EA4}"/>
              </a:ext>
            </a:extLst>
          </p:cNvPr>
          <p:cNvGraphicFramePr>
            <a:graphicFrameLocks noGrp="1"/>
          </p:cNvGraphicFramePr>
          <p:nvPr>
            <p:extLst>
              <p:ext uri="{D42A27DB-BD31-4B8C-83A1-F6EECF244321}">
                <p14:modId xmlns:p14="http://schemas.microsoft.com/office/powerpoint/2010/main" val="3681165640"/>
              </p:ext>
            </p:extLst>
          </p:nvPr>
        </p:nvGraphicFramePr>
        <p:xfrm>
          <a:off x="680484" y="1538323"/>
          <a:ext cx="7783032" cy="3083140"/>
        </p:xfrm>
        <a:graphic>
          <a:graphicData uri="http://schemas.openxmlformats.org/drawingml/2006/table">
            <a:tbl>
              <a:tblPr firstRow="1" bandRow="1">
                <a:tableStyleId>{BDBED569-4797-4DF1-A0F4-6AAB3CD982D8}</a:tableStyleId>
              </a:tblPr>
              <a:tblGrid>
                <a:gridCol w="1998921">
                  <a:extLst>
                    <a:ext uri="{9D8B030D-6E8A-4147-A177-3AD203B41FA5}">
                      <a16:colId xmlns:a16="http://schemas.microsoft.com/office/drawing/2014/main" val="2514222466"/>
                    </a:ext>
                  </a:extLst>
                </a:gridCol>
                <a:gridCol w="2445489">
                  <a:extLst>
                    <a:ext uri="{9D8B030D-6E8A-4147-A177-3AD203B41FA5}">
                      <a16:colId xmlns:a16="http://schemas.microsoft.com/office/drawing/2014/main" val="4047183396"/>
                    </a:ext>
                  </a:extLst>
                </a:gridCol>
                <a:gridCol w="3338622">
                  <a:extLst>
                    <a:ext uri="{9D8B030D-6E8A-4147-A177-3AD203B41FA5}">
                      <a16:colId xmlns:a16="http://schemas.microsoft.com/office/drawing/2014/main" val="37172204"/>
                    </a:ext>
                  </a:extLst>
                </a:gridCol>
              </a:tblGrid>
              <a:tr h="61076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dirty="0">
                          <a:solidFill>
                            <a:schemeClr val="tx1"/>
                          </a:solidFill>
                          <a:latin typeface="DM Sans" pitchFamily="2" charset="0"/>
                          <a:sym typeface="Arial"/>
                        </a:rPr>
                        <a:t>Research Question</a:t>
                      </a:r>
                    </a:p>
                  </a:txBody>
                  <a:tcPr anchor="ct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DM Sans" pitchFamily="2" charset="0"/>
                          <a:ea typeface="+mn-ea"/>
                          <a:cs typeface="+mn-cs"/>
                          <a:sym typeface="Arial"/>
                        </a:rPr>
                        <a:t>Is there a difference between the number of conversions on the Facebook platform versus the AdWords platform?</a:t>
                      </a:r>
                    </a:p>
                  </a:txBody>
                  <a:tcPr anchor="ctr"/>
                </a:tc>
                <a:tc hMerge="1">
                  <a:txBody>
                    <a:bodyPr/>
                    <a:lstStyle/>
                    <a:p>
                      <a:endParaRPr lang="en-US" dirty="0"/>
                    </a:p>
                  </a:txBody>
                  <a:tcPr/>
                </a:tc>
                <a:extLst>
                  <a:ext uri="{0D108BD9-81ED-4DB2-BD59-A6C34878D82A}">
                    <a16:rowId xmlns:a16="http://schemas.microsoft.com/office/drawing/2014/main" val="2236730745"/>
                  </a:ext>
                </a:extLst>
              </a:tr>
              <a:tr h="610765">
                <a:tc>
                  <a:txBody>
                    <a:bodyPr/>
                    <a:lstStyle/>
                    <a:p>
                      <a:pPr algn="ctr"/>
                      <a:r>
                        <a:rPr lang="en-US" sz="1200" b="1" i="0" u="none" strike="noStrike" cap="none" dirty="0">
                          <a:solidFill>
                            <a:schemeClr val="tx1"/>
                          </a:solidFill>
                          <a:latin typeface="DM Sans" pitchFamily="2" charset="0"/>
                          <a:sym typeface="Arial"/>
                        </a:rPr>
                        <a:t>Hypothesis</a:t>
                      </a:r>
                      <a:endParaRPr lang="en-US" sz="1200" b="1" dirty="0"/>
                    </a:p>
                  </a:txBody>
                  <a:tcPr anchor="ct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DM Sans" pitchFamily="2" charset="0"/>
                          <a:ea typeface="+mn-ea"/>
                          <a:cs typeface="+mn-cs"/>
                          <a:sym typeface="Arial"/>
                        </a:rPr>
                        <a:t>The number of conversions will be higher on the Facebook platform compared to the AdWords platform due to differences in platform engagement and ad targeting efficiency.</a:t>
                      </a:r>
                    </a:p>
                  </a:txBody>
                  <a:tcPr anchor="ctr"/>
                </a:tc>
                <a:tc hMerge="1">
                  <a:txBody>
                    <a:bodyPr/>
                    <a:lstStyle/>
                    <a:p>
                      <a:endParaRPr lang="en-US" dirty="0"/>
                    </a:p>
                  </a:txBody>
                  <a:tcPr/>
                </a:tc>
                <a:extLst>
                  <a:ext uri="{0D108BD9-81ED-4DB2-BD59-A6C34878D82A}">
                    <a16:rowId xmlns:a16="http://schemas.microsoft.com/office/drawing/2014/main" val="1959638802"/>
                  </a:ext>
                </a:extLst>
              </a:tr>
              <a:tr h="610765">
                <a:tc rowSpan="3">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dirty="0">
                          <a:solidFill>
                            <a:schemeClr val="tx1"/>
                          </a:solidFill>
                          <a:latin typeface="DM Sans" pitchFamily="2" charset="0"/>
                          <a:sym typeface="Arial"/>
                        </a:rPr>
                        <a:t>Hypothesis</a:t>
                      </a:r>
                    </a:p>
                    <a:p>
                      <a:pPr algn="ctr"/>
                      <a:r>
                        <a:rPr lang="en-US" sz="1200" b="1" i="0" u="none" strike="noStrike" cap="none" dirty="0">
                          <a:solidFill>
                            <a:schemeClr val="tx1"/>
                          </a:solidFill>
                          <a:latin typeface="DM Sans" pitchFamily="2" charset="0"/>
                          <a:sym typeface="Arial"/>
                        </a:rPr>
                        <a:t>Breakdown</a:t>
                      </a:r>
                    </a:p>
                    <a:p>
                      <a:pPr algn="ctr"/>
                      <a:endParaRPr lang="en-US" sz="1200" b="1" dirty="0"/>
                    </a:p>
                  </a:txBody>
                  <a:tcPr anchor="ctr"/>
                </a:tc>
                <a:tc>
                  <a:txBody>
                    <a:bodyPr/>
                    <a:lstStyle/>
                    <a:p>
                      <a:pPr algn="l">
                        <a:buNone/>
                      </a:pPr>
                      <a:r>
                        <a:rPr lang="en-US" sz="1200" b="0" i="0" u="none" strike="noStrike" cap="none" dirty="0">
                          <a:solidFill>
                            <a:schemeClr val="tx1"/>
                          </a:solidFill>
                          <a:latin typeface="DM Sans" pitchFamily="2" charset="0"/>
                          <a:sym typeface="Arial"/>
                        </a:rPr>
                        <a:t>What will change?</a:t>
                      </a:r>
                    </a:p>
                  </a:txBody>
                  <a:tcPr anchor="ctr"/>
                </a:tc>
                <a:tc>
                  <a:txBody>
                    <a:bodyPr/>
                    <a:lstStyle/>
                    <a:p>
                      <a:pPr algn="l">
                        <a:buNone/>
                      </a:pPr>
                      <a:r>
                        <a:rPr lang="en-US" sz="1200" b="0" i="0" u="none" strike="noStrike" cap="none" dirty="0">
                          <a:solidFill>
                            <a:schemeClr val="tx1"/>
                          </a:solidFill>
                          <a:latin typeface="DM Sans" pitchFamily="2" charset="0"/>
                          <a:sym typeface="Arial"/>
                        </a:rPr>
                        <a:t>The number of ad conversions.</a:t>
                      </a:r>
                    </a:p>
                  </a:txBody>
                  <a:tcPr anchor="ctr"/>
                </a:tc>
                <a:extLst>
                  <a:ext uri="{0D108BD9-81ED-4DB2-BD59-A6C34878D82A}">
                    <a16:rowId xmlns:a16="http://schemas.microsoft.com/office/drawing/2014/main" val="2554479659"/>
                  </a:ext>
                </a:extLst>
              </a:tr>
              <a:tr h="610765">
                <a:tc vMerge="1">
                  <a:txBody>
                    <a:bodyPr/>
                    <a:lstStyle/>
                    <a:p>
                      <a:endParaRPr lang="en-US" dirty="0"/>
                    </a:p>
                  </a:txBody>
                  <a:tcPr/>
                </a:tc>
                <a:tc>
                  <a:txBody>
                    <a:bodyPr/>
                    <a:lstStyle/>
                    <a:p>
                      <a:pPr algn="l">
                        <a:buNone/>
                      </a:pPr>
                      <a:r>
                        <a:rPr lang="en-US" sz="1200" b="0" i="0" u="none" strike="noStrike" cap="none" dirty="0">
                          <a:solidFill>
                            <a:schemeClr val="tx1"/>
                          </a:solidFill>
                          <a:latin typeface="DM Sans" pitchFamily="2" charset="0"/>
                          <a:sym typeface="Arial"/>
                        </a:rPr>
                        <a:t>How will it change?</a:t>
                      </a:r>
                    </a:p>
                  </a:txBody>
                  <a:tcPr anchor="ctr"/>
                </a:tc>
                <a:tc>
                  <a:txBody>
                    <a:bodyPr/>
                    <a:lstStyle/>
                    <a:p>
                      <a:pPr algn="l">
                        <a:buNone/>
                      </a:pPr>
                      <a:r>
                        <a:rPr lang="en-US" sz="1200" b="0" i="0" u="none" strike="noStrike" cap="none" dirty="0">
                          <a:solidFill>
                            <a:schemeClr val="tx1"/>
                          </a:solidFill>
                          <a:latin typeface="DM Sans" pitchFamily="2" charset="0"/>
                          <a:sym typeface="Arial"/>
                        </a:rPr>
                        <a:t>The number of conversions will be higher on Facebook compared to AdWords.</a:t>
                      </a:r>
                    </a:p>
                  </a:txBody>
                  <a:tcPr anchor="ctr"/>
                </a:tc>
                <a:extLst>
                  <a:ext uri="{0D108BD9-81ED-4DB2-BD59-A6C34878D82A}">
                    <a16:rowId xmlns:a16="http://schemas.microsoft.com/office/drawing/2014/main" val="2685954982"/>
                  </a:ext>
                </a:extLst>
              </a:tr>
              <a:tr h="610765">
                <a:tc vMerge="1">
                  <a:txBody>
                    <a:bodyPr/>
                    <a:lstStyle/>
                    <a:p>
                      <a:endParaRPr lang="en-US" dirty="0"/>
                    </a:p>
                  </a:txBody>
                  <a:tcPr/>
                </a:tc>
                <a:tc>
                  <a:txBody>
                    <a:bodyPr/>
                    <a:lstStyle/>
                    <a:p>
                      <a:pPr algn="l">
                        <a:buNone/>
                      </a:pPr>
                      <a:r>
                        <a:rPr lang="en-US" sz="1200" b="0" i="0" u="none" strike="noStrike" cap="none" dirty="0">
                          <a:solidFill>
                            <a:schemeClr val="tx1"/>
                          </a:solidFill>
                          <a:latin typeface="DM Sans" pitchFamily="2" charset="0"/>
                          <a:sym typeface="Arial"/>
                        </a:rPr>
                        <a:t>What will cause the change?</a:t>
                      </a:r>
                    </a:p>
                  </a:txBody>
                  <a:tcPr anchor="ctr"/>
                </a:tc>
                <a:tc>
                  <a:txBody>
                    <a:bodyPr/>
                    <a:lstStyle/>
                    <a:p>
                      <a:pPr algn="l">
                        <a:buNone/>
                      </a:pPr>
                      <a:r>
                        <a:rPr lang="en-US" sz="1200" b="0" i="0" u="none" strike="noStrike" cap="none" dirty="0">
                          <a:solidFill>
                            <a:schemeClr val="tx1"/>
                          </a:solidFill>
                          <a:latin typeface="DM Sans" pitchFamily="2" charset="0"/>
                          <a:sym typeface="Arial"/>
                        </a:rPr>
                        <a:t>The difference in advertising platforms (Facebook vs. AdWords).</a:t>
                      </a:r>
                    </a:p>
                  </a:txBody>
                  <a:tcPr anchor="ctr"/>
                </a:tc>
                <a:extLst>
                  <a:ext uri="{0D108BD9-81ED-4DB2-BD59-A6C34878D82A}">
                    <a16:rowId xmlns:a16="http://schemas.microsoft.com/office/drawing/2014/main" val="1023054311"/>
                  </a:ext>
                </a:extLst>
              </a:tr>
            </a:tbl>
          </a:graphicData>
        </a:graphic>
      </p:graphicFrame>
    </p:spTree>
    <p:extLst>
      <p:ext uri="{BB962C8B-B14F-4D97-AF65-F5344CB8AC3E}">
        <p14:creationId xmlns:p14="http://schemas.microsoft.com/office/powerpoint/2010/main" val="2927474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a:extLst>
            <a:ext uri="{FF2B5EF4-FFF2-40B4-BE49-F238E27FC236}">
              <a16:creationId xmlns:a16="http://schemas.microsoft.com/office/drawing/2014/main" id="{904E516D-5278-B963-C9EA-6CB2C8359630}"/>
            </a:ext>
          </a:extLst>
        </p:cNvPr>
        <p:cNvGrpSpPr/>
        <p:nvPr/>
      </p:nvGrpSpPr>
      <p:grpSpPr>
        <a:xfrm>
          <a:off x="0" y="0"/>
          <a:ext cx="0" cy="0"/>
          <a:chOff x="0" y="0"/>
          <a:chExt cx="0" cy="0"/>
        </a:xfrm>
      </p:grpSpPr>
      <p:sp>
        <p:nvSpPr>
          <p:cNvPr id="150" name="Google Shape;150;p25">
            <a:extLst>
              <a:ext uri="{FF2B5EF4-FFF2-40B4-BE49-F238E27FC236}">
                <a16:creationId xmlns:a16="http://schemas.microsoft.com/office/drawing/2014/main" id="{51F7C80B-1B02-D27B-7D13-A200AC83610D}"/>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t>Variable Types &amp; </a:t>
            </a:r>
            <a:r>
              <a:rPr lang="en-US" sz="2800" b="1" dirty="0"/>
              <a:t>Mean Conversions</a:t>
            </a:r>
            <a:r>
              <a:rPr lang="en" sz="2800" b="1" dirty="0"/>
              <a:t>  </a:t>
            </a:r>
            <a:endParaRPr sz="2800" b="1" dirty="0"/>
          </a:p>
        </p:txBody>
      </p:sp>
      <p:graphicFrame>
        <p:nvGraphicFramePr>
          <p:cNvPr id="3" name="Table 2">
            <a:extLst>
              <a:ext uri="{FF2B5EF4-FFF2-40B4-BE49-F238E27FC236}">
                <a16:creationId xmlns:a16="http://schemas.microsoft.com/office/drawing/2014/main" id="{26FEFA94-DDED-0E06-62A4-26A522CCDF33}"/>
              </a:ext>
            </a:extLst>
          </p:cNvPr>
          <p:cNvGraphicFramePr>
            <a:graphicFrameLocks noGrp="1"/>
          </p:cNvGraphicFramePr>
          <p:nvPr>
            <p:extLst>
              <p:ext uri="{D42A27DB-BD31-4B8C-83A1-F6EECF244321}">
                <p14:modId xmlns:p14="http://schemas.microsoft.com/office/powerpoint/2010/main" val="3104218470"/>
              </p:ext>
            </p:extLst>
          </p:nvPr>
        </p:nvGraphicFramePr>
        <p:xfrm>
          <a:off x="830225" y="1425401"/>
          <a:ext cx="7483549" cy="1463040"/>
        </p:xfrm>
        <a:graphic>
          <a:graphicData uri="http://schemas.openxmlformats.org/drawingml/2006/table">
            <a:tbl>
              <a:tblPr firstRow="1" bandRow="1">
                <a:tableStyleId>{BDBED569-4797-4DF1-A0F4-6AAB3CD982D8}</a:tableStyleId>
              </a:tblPr>
              <a:tblGrid>
                <a:gridCol w="2330893">
                  <a:extLst>
                    <a:ext uri="{9D8B030D-6E8A-4147-A177-3AD203B41FA5}">
                      <a16:colId xmlns:a16="http://schemas.microsoft.com/office/drawing/2014/main" val="2119688312"/>
                    </a:ext>
                  </a:extLst>
                </a:gridCol>
                <a:gridCol w="2330893">
                  <a:extLst>
                    <a:ext uri="{9D8B030D-6E8A-4147-A177-3AD203B41FA5}">
                      <a16:colId xmlns:a16="http://schemas.microsoft.com/office/drawing/2014/main" val="763845156"/>
                    </a:ext>
                  </a:extLst>
                </a:gridCol>
                <a:gridCol w="2821763">
                  <a:extLst>
                    <a:ext uri="{9D8B030D-6E8A-4147-A177-3AD203B41FA5}">
                      <a16:colId xmlns:a16="http://schemas.microsoft.com/office/drawing/2014/main" val="997433628"/>
                    </a:ext>
                  </a:extLst>
                </a:gridCol>
              </a:tblGrid>
              <a:tr h="398270">
                <a:tc>
                  <a:txBody>
                    <a:bodyPr/>
                    <a:lstStyle/>
                    <a:p>
                      <a:pPr algn="ctr">
                        <a:buNone/>
                      </a:pPr>
                      <a:r>
                        <a:rPr lang="en-US" b="1" dirty="0">
                          <a:latin typeface="DM Sans" pitchFamily="2" charset="0"/>
                        </a:rPr>
                        <a:t>Variable Type</a:t>
                      </a:r>
                    </a:p>
                  </a:txBody>
                  <a:tcPr anchor="ctr"/>
                </a:tc>
                <a:tc>
                  <a:txBody>
                    <a:bodyPr/>
                    <a:lstStyle/>
                    <a:p>
                      <a:pPr algn="ctr">
                        <a:buNone/>
                      </a:pPr>
                      <a:r>
                        <a:rPr lang="en-US" b="1" dirty="0">
                          <a:latin typeface="DM Sans" pitchFamily="2" charset="0"/>
                        </a:rPr>
                        <a:t>Variable Name</a:t>
                      </a:r>
                    </a:p>
                  </a:txBody>
                  <a:tcPr anchor="ctr"/>
                </a:tc>
                <a:tc>
                  <a:txBody>
                    <a:bodyPr/>
                    <a:lstStyle/>
                    <a:p>
                      <a:pPr algn="ctr">
                        <a:buNone/>
                      </a:pPr>
                      <a:r>
                        <a:rPr lang="en-US" b="1" dirty="0">
                          <a:latin typeface="DM Sans" pitchFamily="2" charset="0"/>
                        </a:rPr>
                        <a:t>Description</a:t>
                      </a:r>
                    </a:p>
                  </a:txBody>
                  <a:tcPr anchor="ctr"/>
                </a:tc>
                <a:extLst>
                  <a:ext uri="{0D108BD9-81ED-4DB2-BD59-A6C34878D82A}">
                    <a16:rowId xmlns:a16="http://schemas.microsoft.com/office/drawing/2014/main" val="2512201644"/>
                  </a:ext>
                </a:extLst>
              </a:tr>
              <a:tr h="532385">
                <a:tc>
                  <a:txBody>
                    <a:bodyPr/>
                    <a:lstStyle/>
                    <a:p>
                      <a:pPr algn="ctr">
                        <a:buNone/>
                      </a:pPr>
                      <a:r>
                        <a:rPr lang="en-US" sz="1200" b="1" dirty="0">
                          <a:latin typeface="DM Sans" pitchFamily="2" charset="0"/>
                        </a:rPr>
                        <a:t>Independent Variable</a:t>
                      </a:r>
                    </a:p>
                  </a:txBody>
                  <a:tcPr anchor="ctr"/>
                </a:tc>
                <a:tc>
                  <a:txBody>
                    <a:bodyPr/>
                    <a:lstStyle/>
                    <a:p>
                      <a:pPr>
                        <a:buNone/>
                      </a:pPr>
                      <a:r>
                        <a:rPr lang="en-US" sz="1200" b="0">
                          <a:latin typeface="DM Sans" pitchFamily="2" charset="0"/>
                        </a:rPr>
                        <a:t>Advertising Platform</a:t>
                      </a:r>
                    </a:p>
                  </a:txBody>
                  <a:tcPr anchor="ctr"/>
                </a:tc>
                <a:tc>
                  <a:txBody>
                    <a:bodyPr/>
                    <a:lstStyle/>
                    <a:p>
                      <a:pPr>
                        <a:buNone/>
                      </a:pPr>
                      <a:r>
                        <a:rPr lang="en-US" sz="1200" b="0">
                          <a:latin typeface="DM Sans" pitchFamily="2" charset="0"/>
                        </a:rPr>
                        <a:t>The platform where the ads are run (Facebook or AdWords).</a:t>
                      </a:r>
                    </a:p>
                  </a:txBody>
                  <a:tcPr anchor="ctr"/>
                </a:tc>
                <a:extLst>
                  <a:ext uri="{0D108BD9-81ED-4DB2-BD59-A6C34878D82A}">
                    <a16:rowId xmlns:a16="http://schemas.microsoft.com/office/drawing/2014/main" val="1742613014"/>
                  </a:ext>
                </a:extLst>
              </a:tr>
              <a:tr h="532385">
                <a:tc>
                  <a:txBody>
                    <a:bodyPr/>
                    <a:lstStyle/>
                    <a:p>
                      <a:pPr algn="ctr">
                        <a:buNone/>
                      </a:pPr>
                      <a:r>
                        <a:rPr lang="en-US" sz="1200" b="1" dirty="0">
                          <a:latin typeface="DM Sans" pitchFamily="2" charset="0"/>
                        </a:rPr>
                        <a:t>Dependent Variable</a:t>
                      </a:r>
                    </a:p>
                  </a:txBody>
                  <a:tcPr anchor="ctr"/>
                </a:tc>
                <a:tc>
                  <a:txBody>
                    <a:bodyPr/>
                    <a:lstStyle/>
                    <a:p>
                      <a:pPr>
                        <a:buNone/>
                      </a:pPr>
                      <a:r>
                        <a:rPr lang="en-US" sz="1200" b="0" dirty="0">
                          <a:latin typeface="DM Sans" pitchFamily="2" charset="0"/>
                        </a:rPr>
                        <a:t>Number of Conversions</a:t>
                      </a:r>
                    </a:p>
                  </a:txBody>
                  <a:tcPr anchor="ctr"/>
                </a:tc>
                <a:tc>
                  <a:txBody>
                    <a:bodyPr/>
                    <a:lstStyle/>
                    <a:p>
                      <a:pPr>
                        <a:buNone/>
                      </a:pPr>
                      <a:r>
                        <a:rPr lang="en-US" sz="1200" b="0" dirty="0">
                          <a:latin typeface="DM Sans" pitchFamily="2" charset="0"/>
                        </a:rPr>
                        <a:t>The number of conversions resulting from ads on each platform.</a:t>
                      </a:r>
                    </a:p>
                  </a:txBody>
                  <a:tcPr anchor="ctr"/>
                </a:tc>
                <a:extLst>
                  <a:ext uri="{0D108BD9-81ED-4DB2-BD59-A6C34878D82A}">
                    <a16:rowId xmlns:a16="http://schemas.microsoft.com/office/drawing/2014/main" val="1699153659"/>
                  </a:ext>
                </a:extLst>
              </a:tr>
            </a:tbl>
          </a:graphicData>
        </a:graphic>
      </p:graphicFrame>
      <p:graphicFrame>
        <p:nvGraphicFramePr>
          <p:cNvPr id="5" name="Table 4">
            <a:extLst>
              <a:ext uri="{FF2B5EF4-FFF2-40B4-BE49-F238E27FC236}">
                <a16:creationId xmlns:a16="http://schemas.microsoft.com/office/drawing/2014/main" id="{A4C4C203-06A8-B9EF-773F-E9F934DFBBB5}"/>
              </a:ext>
            </a:extLst>
          </p:cNvPr>
          <p:cNvGraphicFramePr>
            <a:graphicFrameLocks noGrp="1"/>
          </p:cNvGraphicFramePr>
          <p:nvPr>
            <p:extLst>
              <p:ext uri="{D42A27DB-BD31-4B8C-83A1-F6EECF244321}">
                <p14:modId xmlns:p14="http://schemas.microsoft.com/office/powerpoint/2010/main" val="2379758531"/>
              </p:ext>
            </p:extLst>
          </p:nvPr>
        </p:nvGraphicFramePr>
        <p:xfrm>
          <a:off x="830225" y="3296117"/>
          <a:ext cx="7483548" cy="1463040"/>
        </p:xfrm>
        <a:graphic>
          <a:graphicData uri="http://schemas.openxmlformats.org/drawingml/2006/table">
            <a:tbl>
              <a:tblPr firstRow="1" bandRow="1">
                <a:tableStyleId>{BDBED569-4797-4DF1-A0F4-6AAB3CD982D8}</a:tableStyleId>
              </a:tblPr>
              <a:tblGrid>
                <a:gridCol w="1870887">
                  <a:extLst>
                    <a:ext uri="{9D8B030D-6E8A-4147-A177-3AD203B41FA5}">
                      <a16:colId xmlns:a16="http://schemas.microsoft.com/office/drawing/2014/main" val="3484502954"/>
                    </a:ext>
                  </a:extLst>
                </a:gridCol>
                <a:gridCol w="1870887">
                  <a:extLst>
                    <a:ext uri="{9D8B030D-6E8A-4147-A177-3AD203B41FA5}">
                      <a16:colId xmlns:a16="http://schemas.microsoft.com/office/drawing/2014/main" val="1073653244"/>
                    </a:ext>
                  </a:extLst>
                </a:gridCol>
                <a:gridCol w="1870887">
                  <a:extLst>
                    <a:ext uri="{9D8B030D-6E8A-4147-A177-3AD203B41FA5}">
                      <a16:colId xmlns:a16="http://schemas.microsoft.com/office/drawing/2014/main" val="854385409"/>
                    </a:ext>
                  </a:extLst>
                </a:gridCol>
                <a:gridCol w="1870887">
                  <a:extLst>
                    <a:ext uri="{9D8B030D-6E8A-4147-A177-3AD203B41FA5}">
                      <a16:colId xmlns:a16="http://schemas.microsoft.com/office/drawing/2014/main" val="2496929553"/>
                    </a:ext>
                  </a:extLst>
                </a:gridCol>
              </a:tblGrid>
              <a:tr h="475320">
                <a:tc>
                  <a:txBody>
                    <a:bodyPr/>
                    <a:lstStyle/>
                    <a:p>
                      <a:pPr algn="ctr">
                        <a:buNone/>
                      </a:pPr>
                      <a:r>
                        <a:rPr lang="en-US" dirty="0">
                          <a:latin typeface="DM Sans" pitchFamily="2" charset="0"/>
                        </a:rPr>
                        <a:t>Platform</a:t>
                      </a:r>
                    </a:p>
                  </a:txBody>
                  <a:tcPr anchor="ctr"/>
                </a:tc>
                <a:tc>
                  <a:txBody>
                    <a:bodyPr/>
                    <a:lstStyle/>
                    <a:p>
                      <a:pPr algn="ctr">
                        <a:buNone/>
                      </a:pPr>
                      <a:r>
                        <a:rPr lang="en-US">
                          <a:latin typeface="DM Sans" pitchFamily="2" charset="0"/>
                        </a:rPr>
                        <a:t>Mean</a:t>
                      </a:r>
                    </a:p>
                  </a:txBody>
                  <a:tcPr anchor="ctr"/>
                </a:tc>
                <a:tc>
                  <a:txBody>
                    <a:bodyPr/>
                    <a:lstStyle/>
                    <a:p>
                      <a:pPr algn="ctr">
                        <a:buNone/>
                      </a:pPr>
                      <a:r>
                        <a:rPr lang="en-US">
                          <a:latin typeface="DM Sans" pitchFamily="2" charset="0"/>
                        </a:rPr>
                        <a:t>Median</a:t>
                      </a:r>
                    </a:p>
                  </a:txBody>
                  <a:tcPr anchor="ctr"/>
                </a:tc>
                <a:tc>
                  <a:txBody>
                    <a:bodyPr/>
                    <a:lstStyle/>
                    <a:p>
                      <a:pPr algn="ctr">
                        <a:buNone/>
                      </a:pPr>
                      <a:r>
                        <a:rPr lang="en-US">
                          <a:latin typeface="DM Sans" pitchFamily="2" charset="0"/>
                        </a:rPr>
                        <a:t>Standard Deviation</a:t>
                      </a:r>
                    </a:p>
                  </a:txBody>
                  <a:tcPr anchor="ctr"/>
                </a:tc>
                <a:extLst>
                  <a:ext uri="{0D108BD9-81ED-4DB2-BD59-A6C34878D82A}">
                    <a16:rowId xmlns:a16="http://schemas.microsoft.com/office/drawing/2014/main" val="2752372496"/>
                  </a:ext>
                </a:extLst>
              </a:tr>
              <a:tr h="493860">
                <a:tc>
                  <a:txBody>
                    <a:bodyPr/>
                    <a:lstStyle/>
                    <a:p>
                      <a:pPr algn="ctr">
                        <a:buNone/>
                      </a:pPr>
                      <a:r>
                        <a:rPr lang="en-US" sz="1200" b="1">
                          <a:latin typeface="DM Sans" pitchFamily="2" charset="0"/>
                        </a:rPr>
                        <a:t>Facebook Ads</a:t>
                      </a:r>
                    </a:p>
                  </a:txBody>
                  <a:tcPr anchor="ctr"/>
                </a:tc>
                <a:tc>
                  <a:txBody>
                    <a:bodyPr/>
                    <a:lstStyle/>
                    <a:p>
                      <a:pPr algn="ctr">
                        <a:buNone/>
                      </a:pPr>
                      <a:r>
                        <a:rPr lang="en-US" sz="1200" b="0">
                          <a:latin typeface="DM Sans" pitchFamily="2" charset="0"/>
                        </a:rPr>
                        <a:t>11.74</a:t>
                      </a:r>
                    </a:p>
                  </a:txBody>
                  <a:tcPr anchor="ctr"/>
                </a:tc>
                <a:tc>
                  <a:txBody>
                    <a:bodyPr/>
                    <a:lstStyle/>
                    <a:p>
                      <a:pPr algn="ctr">
                        <a:buNone/>
                      </a:pPr>
                      <a:r>
                        <a:rPr lang="en-US" sz="1200">
                          <a:latin typeface="DM Sans" pitchFamily="2" charset="0"/>
                        </a:rPr>
                        <a:t>12.00</a:t>
                      </a:r>
                    </a:p>
                  </a:txBody>
                  <a:tcPr anchor="ctr"/>
                </a:tc>
                <a:tc>
                  <a:txBody>
                    <a:bodyPr/>
                    <a:lstStyle/>
                    <a:p>
                      <a:pPr algn="ctr">
                        <a:buNone/>
                      </a:pPr>
                      <a:r>
                        <a:rPr lang="en-US" sz="1200">
                          <a:latin typeface="DM Sans" pitchFamily="2" charset="0"/>
                        </a:rPr>
                        <a:t>2.92</a:t>
                      </a:r>
                    </a:p>
                  </a:txBody>
                  <a:tcPr anchor="ctr"/>
                </a:tc>
                <a:extLst>
                  <a:ext uri="{0D108BD9-81ED-4DB2-BD59-A6C34878D82A}">
                    <a16:rowId xmlns:a16="http://schemas.microsoft.com/office/drawing/2014/main" val="74075120"/>
                  </a:ext>
                </a:extLst>
              </a:tr>
              <a:tr h="493860">
                <a:tc>
                  <a:txBody>
                    <a:bodyPr/>
                    <a:lstStyle/>
                    <a:p>
                      <a:pPr algn="ctr">
                        <a:buNone/>
                      </a:pPr>
                      <a:r>
                        <a:rPr lang="en-US" sz="1200" b="1" dirty="0">
                          <a:latin typeface="DM Sans" pitchFamily="2" charset="0"/>
                        </a:rPr>
                        <a:t>AdWords Ads</a:t>
                      </a:r>
                    </a:p>
                  </a:txBody>
                  <a:tcPr anchor="ctr"/>
                </a:tc>
                <a:tc>
                  <a:txBody>
                    <a:bodyPr/>
                    <a:lstStyle/>
                    <a:p>
                      <a:pPr algn="ctr">
                        <a:buNone/>
                      </a:pPr>
                      <a:r>
                        <a:rPr lang="en-US" sz="1200" b="0" dirty="0">
                          <a:latin typeface="DM Sans" pitchFamily="2" charset="0"/>
                        </a:rPr>
                        <a:t>5.98</a:t>
                      </a:r>
                    </a:p>
                  </a:txBody>
                  <a:tcPr anchor="ctr"/>
                </a:tc>
                <a:tc>
                  <a:txBody>
                    <a:bodyPr/>
                    <a:lstStyle/>
                    <a:p>
                      <a:pPr algn="ctr">
                        <a:buNone/>
                      </a:pPr>
                      <a:r>
                        <a:rPr lang="en-US" sz="1200">
                          <a:latin typeface="DM Sans" pitchFamily="2" charset="0"/>
                        </a:rPr>
                        <a:t>6.00</a:t>
                      </a:r>
                    </a:p>
                  </a:txBody>
                  <a:tcPr anchor="ctr"/>
                </a:tc>
                <a:tc>
                  <a:txBody>
                    <a:bodyPr/>
                    <a:lstStyle/>
                    <a:p>
                      <a:pPr algn="ctr">
                        <a:buNone/>
                      </a:pPr>
                      <a:r>
                        <a:rPr lang="en-US" sz="1200" dirty="0">
                          <a:latin typeface="DM Sans" pitchFamily="2" charset="0"/>
                        </a:rPr>
                        <a:t>1.63</a:t>
                      </a:r>
                    </a:p>
                  </a:txBody>
                  <a:tcPr anchor="ctr"/>
                </a:tc>
                <a:extLst>
                  <a:ext uri="{0D108BD9-81ED-4DB2-BD59-A6C34878D82A}">
                    <a16:rowId xmlns:a16="http://schemas.microsoft.com/office/drawing/2014/main" val="483495975"/>
                  </a:ext>
                </a:extLst>
              </a:tr>
            </a:tbl>
          </a:graphicData>
        </a:graphic>
      </p:graphicFrame>
    </p:spTree>
    <p:extLst>
      <p:ext uri="{BB962C8B-B14F-4D97-AF65-F5344CB8AC3E}">
        <p14:creationId xmlns:p14="http://schemas.microsoft.com/office/powerpoint/2010/main" val="2092642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a:extLst>
            <a:ext uri="{FF2B5EF4-FFF2-40B4-BE49-F238E27FC236}">
              <a16:creationId xmlns:a16="http://schemas.microsoft.com/office/drawing/2014/main" id="{4E138683-C717-D5AC-A78A-B3B222375665}"/>
            </a:ext>
          </a:extLst>
        </p:cNvPr>
        <p:cNvGrpSpPr/>
        <p:nvPr/>
      </p:nvGrpSpPr>
      <p:grpSpPr>
        <a:xfrm>
          <a:off x="0" y="0"/>
          <a:ext cx="0" cy="0"/>
          <a:chOff x="0" y="0"/>
          <a:chExt cx="0" cy="0"/>
        </a:xfrm>
      </p:grpSpPr>
      <p:sp>
        <p:nvSpPr>
          <p:cNvPr id="150" name="Google Shape;150;p25">
            <a:extLst>
              <a:ext uri="{FF2B5EF4-FFF2-40B4-BE49-F238E27FC236}">
                <a16:creationId xmlns:a16="http://schemas.microsoft.com/office/drawing/2014/main" id="{1B59147A-7315-D840-DED4-4908806FDB0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t>Hypothesis Testing &amp; Results</a:t>
            </a:r>
            <a:endParaRPr sz="2800" b="1" dirty="0"/>
          </a:p>
        </p:txBody>
      </p:sp>
      <p:graphicFrame>
        <p:nvGraphicFramePr>
          <p:cNvPr id="2" name="Table 1">
            <a:extLst>
              <a:ext uri="{FF2B5EF4-FFF2-40B4-BE49-F238E27FC236}">
                <a16:creationId xmlns:a16="http://schemas.microsoft.com/office/drawing/2014/main" id="{6CCC0624-EB76-C8B6-179C-205412F29C88}"/>
              </a:ext>
            </a:extLst>
          </p:cNvPr>
          <p:cNvGraphicFramePr>
            <a:graphicFrameLocks noGrp="1"/>
          </p:cNvGraphicFramePr>
          <p:nvPr>
            <p:extLst>
              <p:ext uri="{D42A27DB-BD31-4B8C-83A1-F6EECF244321}">
                <p14:modId xmlns:p14="http://schemas.microsoft.com/office/powerpoint/2010/main" val="2911032898"/>
              </p:ext>
            </p:extLst>
          </p:nvPr>
        </p:nvGraphicFramePr>
        <p:xfrm>
          <a:off x="622005" y="1345637"/>
          <a:ext cx="7899990" cy="931338"/>
        </p:xfrm>
        <a:graphic>
          <a:graphicData uri="http://schemas.openxmlformats.org/drawingml/2006/table">
            <a:tbl>
              <a:tblPr firstRow="1" bandRow="1">
                <a:tableStyleId>{BDBED569-4797-4DF1-A0F4-6AAB3CD982D8}</a:tableStyleId>
              </a:tblPr>
              <a:tblGrid>
                <a:gridCol w="3409102">
                  <a:extLst>
                    <a:ext uri="{9D8B030D-6E8A-4147-A177-3AD203B41FA5}">
                      <a16:colId xmlns:a16="http://schemas.microsoft.com/office/drawing/2014/main" val="70879751"/>
                    </a:ext>
                  </a:extLst>
                </a:gridCol>
                <a:gridCol w="4490888">
                  <a:extLst>
                    <a:ext uri="{9D8B030D-6E8A-4147-A177-3AD203B41FA5}">
                      <a16:colId xmlns:a16="http://schemas.microsoft.com/office/drawing/2014/main" val="470095009"/>
                    </a:ext>
                  </a:extLst>
                </a:gridCol>
              </a:tblGrid>
              <a:tr h="465669">
                <a:tc>
                  <a:txBody>
                    <a:bodyPr/>
                    <a:lstStyle/>
                    <a:p>
                      <a:pPr algn="ctr">
                        <a:buNone/>
                      </a:pPr>
                      <a:r>
                        <a:rPr lang="en-US" sz="1200" b="1">
                          <a:latin typeface="DM Sans" pitchFamily="2" charset="0"/>
                        </a:rPr>
                        <a:t>Null Hypothesis (H₀)</a:t>
                      </a:r>
                      <a:endParaRPr lang="en-US" sz="1200">
                        <a:latin typeface="DM Sans" pitchFamily="2" charset="0"/>
                      </a:endParaRPr>
                    </a:p>
                  </a:txBody>
                  <a:tcPr anchor="ctr"/>
                </a:tc>
                <a:tc>
                  <a:txBody>
                    <a:bodyPr/>
                    <a:lstStyle/>
                    <a:p>
                      <a:pPr algn="l">
                        <a:buNone/>
                      </a:pPr>
                      <a:r>
                        <a:rPr lang="en-US" sz="1200" b="0" dirty="0">
                          <a:latin typeface="DM Sans" pitchFamily="2" charset="0"/>
                        </a:rPr>
                        <a:t>There is no difference between Facebook and AdWords Ad Conversions.</a:t>
                      </a:r>
                    </a:p>
                  </a:txBody>
                  <a:tcPr anchor="ctr"/>
                </a:tc>
                <a:extLst>
                  <a:ext uri="{0D108BD9-81ED-4DB2-BD59-A6C34878D82A}">
                    <a16:rowId xmlns:a16="http://schemas.microsoft.com/office/drawing/2014/main" val="814376162"/>
                  </a:ext>
                </a:extLst>
              </a:tr>
              <a:tr h="465669">
                <a:tc>
                  <a:txBody>
                    <a:bodyPr/>
                    <a:lstStyle/>
                    <a:p>
                      <a:pPr algn="ctr">
                        <a:buNone/>
                      </a:pPr>
                      <a:r>
                        <a:rPr lang="en-US" sz="1200" b="1" dirty="0">
                          <a:latin typeface="DM Sans" pitchFamily="2" charset="0"/>
                        </a:rPr>
                        <a:t>Alternative Hypothesis (H₁)</a:t>
                      </a:r>
                      <a:endParaRPr lang="en-US" sz="1200" dirty="0">
                        <a:latin typeface="DM Sans" pitchFamily="2" charset="0"/>
                      </a:endParaRPr>
                    </a:p>
                  </a:txBody>
                  <a:tcPr anchor="ctr"/>
                </a:tc>
                <a:tc>
                  <a:txBody>
                    <a:bodyPr/>
                    <a:lstStyle/>
                    <a:p>
                      <a:pPr algn="l">
                        <a:buNone/>
                      </a:pPr>
                      <a:r>
                        <a:rPr lang="en-US" sz="1200" b="0" dirty="0">
                          <a:latin typeface="DM Sans" pitchFamily="2" charset="0"/>
                        </a:rPr>
                        <a:t>There is a difference between Facebook and AdWords Ad Conversions.</a:t>
                      </a:r>
                    </a:p>
                  </a:txBody>
                  <a:tcPr anchor="ctr"/>
                </a:tc>
                <a:extLst>
                  <a:ext uri="{0D108BD9-81ED-4DB2-BD59-A6C34878D82A}">
                    <a16:rowId xmlns:a16="http://schemas.microsoft.com/office/drawing/2014/main" val="3206434576"/>
                  </a:ext>
                </a:extLst>
              </a:tr>
            </a:tbl>
          </a:graphicData>
        </a:graphic>
      </p:graphicFrame>
      <p:graphicFrame>
        <p:nvGraphicFramePr>
          <p:cNvPr id="4" name="Table 3">
            <a:extLst>
              <a:ext uri="{FF2B5EF4-FFF2-40B4-BE49-F238E27FC236}">
                <a16:creationId xmlns:a16="http://schemas.microsoft.com/office/drawing/2014/main" id="{3F9EF0AE-10A8-A7B7-C0A0-4766965AE5A5}"/>
              </a:ext>
            </a:extLst>
          </p:cNvPr>
          <p:cNvGraphicFramePr>
            <a:graphicFrameLocks noGrp="1"/>
          </p:cNvGraphicFramePr>
          <p:nvPr>
            <p:extLst>
              <p:ext uri="{D42A27DB-BD31-4B8C-83A1-F6EECF244321}">
                <p14:modId xmlns:p14="http://schemas.microsoft.com/office/powerpoint/2010/main" val="3325194774"/>
              </p:ext>
            </p:extLst>
          </p:nvPr>
        </p:nvGraphicFramePr>
        <p:xfrm>
          <a:off x="622005" y="2604887"/>
          <a:ext cx="7899992" cy="931338"/>
        </p:xfrm>
        <a:graphic>
          <a:graphicData uri="http://schemas.openxmlformats.org/drawingml/2006/table">
            <a:tbl>
              <a:tblPr firstRow="1" bandRow="1">
                <a:tableStyleId>{BDBED569-4797-4DF1-A0F4-6AAB3CD982D8}</a:tableStyleId>
              </a:tblPr>
              <a:tblGrid>
                <a:gridCol w="1974998">
                  <a:extLst>
                    <a:ext uri="{9D8B030D-6E8A-4147-A177-3AD203B41FA5}">
                      <a16:colId xmlns:a16="http://schemas.microsoft.com/office/drawing/2014/main" val="3976993032"/>
                    </a:ext>
                  </a:extLst>
                </a:gridCol>
                <a:gridCol w="1974998">
                  <a:extLst>
                    <a:ext uri="{9D8B030D-6E8A-4147-A177-3AD203B41FA5}">
                      <a16:colId xmlns:a16="http://schemas.microsoft.com/office/drawing/2014/main" val="112439532"/>
                    </a:ext>
                  </a:extLst>
                </a:gridCol>
                <a:gridCol w="1974998">
                  <a:extLst>
                    <a:ext uri="{9D8B030D-6E8A-4147-A177-3AD203B41FA5}">
                      <a16:colId xmlns:a16="http://schemas.microsoft.com/office/drawing/2014/main" val="1040637889"/>
                    </a:ext>
                  </a:extLst>
                </a:gridCol>
                <a:gridCol w="1974998">
                  <a:extLst>
                    <a:ext uri="{9D8B030D-6E8A-4147-A177-3AD203B41FA5}">
                      <a16:colId xmlns:a16="http://schemas.microsoft.com/office/drawing/2014/main" val="3172016048"/>
                    </a:ext>
                  </a:extLst>
                </a:gridCol>
              </a:tblGrid>
              <a:tr h="465669">
                <a:tc>
                  <a:txBody>
                    <a:bodyPr/>
                    <a:lstStyle/>
                    <a:p>
                      <a:pPr algn="ctr">
                        <a:buNone/>
                      </a:pPr>
                      <a:r>
                        <a:rPr lang="en-US" b="1" dirty="0">
                          <a:latin typeface="DM Sans" pitchFamily="2" charset="0"/>
                        </a:rPr>
                        <a:t>Test</a:t>
                      </a:r>
                      <a:endParaRPr lang="en-US" dirty="0">
                        <a:latin typeface="DM Sans" pitchFamily="2" charset="0"/>
                      </a:endParaRPr>
                    </a:p>
                  </a:txBody>
                  <a:tcPr anchor="ctr"/>
                </a:tc>
                <a:tc>
                  <a:txBody>
                    <a:bodyPr/>
                    <a:lstStyle/>
                    <a:p>
                      <a:pPr algn="ctr">
                        <a:buNone/>
                      </a:pPr>
                      <a:r>
                        <a:rPr lang="en-US" b="1" dirty="0">
                          <a:latin typeface="DM Sans" pitchFamily="2" charset="0"/>
                        </a:rPr>
                        <a:t>p-value</a:t>
                      </a:r>
                      <a:endParaRPr lang="en-US" dirty="0">
                        <a:latin typeface="DM Sans" pitchFamily="2" charset="0"/>
                      </a:endParaRPr>
                    </a:p>
                  </a:txBody>
                  <a:tcPr anchor="ctr"/>
                </a:tc>
                <a:tc>
                  <a:txBody>
                    <a:bodyPr/>
                    <a:lstStyle/>
                    <a:p>
                      <a:pPr algn="ctr">
                        <a:buNone/>
                      </a:pPr>
                      <a:r>
                        <a:rPr lang="en-US" b="1" dirty="0">
                          <a:latin typeface="DM Sans" pitchFamily="2" charset="0"/>
                        </a:rPr>
                        <a:t>Alpha (</a:t>
                      </a:r>
                      <a:r>
                        <a:rPr lang="el-GR" b="1" dirty="0"/>
                        <a:t>α)</a:t>
                      </a:r>
                      <a:endParaRPr lang="el-GR" dirty="0"/>
                    </a:p>
                  </a:txBody>
                  <a:tcPr anchor="ctr"/>
                </a:tc>
                <a:tc>
                  <a:txBody>
                    <a:bodyPr/>
                    <a:lstStyle/>
                    <a:p>
                      <a:pPr algn="ctr">
                        <a:buNone/>
                      </a:pPr>
                      <a:r>
                        <a:rPr lang="en-US" b="1">
                          <a:latin typeface="DM Sans" pitchFamily="2" charset="0"/>
                        </a:rPr>
                        <a:t>Decision</a:t>
                      </a:r>
                      <a:endParaRPr lang="en-US">
                        <a:latin typeface="DM Sans" pitchFamily="2" charset="0"/>
                      </a:endParaRPr>
                    </a:p>
                  </a:txBody>
                  <a:tcPr anchor="ctr"/>
                </a:tc>
                <a:extLst>
                  <a:ext uri="{0D108BD9-81ED-4DB2-BD59-A6C34878D82A}">
                    <a16:rowId xmlns:a16="http://schemas.microsoft.com/office/drawing/2014/main" val="2347309216"/>
                  </a:ext>
                </a:extLst>
              </a:tr>
              <a:tr h="465669">
                <a:tc>
                  <a:txBody>
                    <a:bodyPr/>
                    <a:lstStyle/>
                    <a:p>
                      <a:pPr algn="ctr">
                        <a:buNone/>
                      </a:pPr>
                      <a:r>
                        <a:rPr lang="en-US" sz="1200" b="1" dirty="0">
                          <a:latin typeface="DM Sans" pitchFamily="2" charset="0"/>
                        </a:rPr>
                        <a:t>Two-sample t-test</a:t>
                      </a:r>
                    </a:p>
                  </a:txBody>
                  <a:tcPr anchor="ctr"/>
                </a:tc>
                <a:tc>
                  <a:txBody>
                    <a:bodyPr/>
                    <a:lstStyle/>
                    <a:p>
                      <a:pPr algn="ctr">
                        <a:buNone/>
                      </a:pPr>
                      <a:r>
                        <a:rPr lang="en-US" sz="1200" b="0" dirty="0">
                          <a:latin typeface="DM Sans" pitchFamily="2" charset="0"/>
                        </a:rPr>
                        <a:t>1.20E-133 </a:t>
                      </a:r>
                    </a:p>
                  </a:txBody>
                  <a:tcPr anchor="ctr"/>
                </a:tc>
                <a:tc>
                  <a:txBody>
                    <a:bodyPr/>
                    <a:lstStyle/>
                    <a:p>
                      <a:pPr algn="ctr">
                        <a:buNone/>
                      </a:pPr>
                      <a:r>
                        <a:rPr lang="en-US" sz="1200" b="0" dirty="0">
                          <a:latin typeface="DM Sans" pitchFamily="2" charset="0"/>
                        </a:rPr>
                        <a:t>0.05</a:t>
                      </a:r>
                    </a:p>
                  </a:txBody>
                  <a:tcPr anchor="ctr"/>
                </a:tc>
                <a:tc>
                  <a:txBody>
                    <a:bodyPr/>
                    <a:lstStyle/>
                    <a:p>
                      <a:pPr algn="ctr">
                        <a:buNone/>
                      </a:pPr>
                      <a:r>
                        <a:rPr lang="en-US" sz="1200" b="0" dirty="0">
                          <a:latin typeface="DM Sans" pitchFamily="2" charset="0"/>
                        </a:rPr>
                        <a:t>Reject H₀</a:t>
                      </a:r>
                    </a:p>
                  </a:txBody>
                  <a:tcPr anchor="ctr"/>
                </a:tc>
                <a:extLst>
                  <a:ext uri="{0D108BD9-81ED-4DB2-BD59-A6C34878D82A}">
                    <a16:rowId xmlns:a16="http://schemas.microsoft.com/office/drawing/2014/main" val="3122665031"/>
                  </a:ext>
                </a:extLst>
              </a:tr>
            </a:tbl>
          </a:graphicData>
        </a:graphic>
      </p:graphicFrame>
      <p:sp>
        <p:nvSpPr>
          <p:cNvPr id="10" name="Rectangle 3">
            <a:extLst>
              <a:ext uri="{FF2B5EF4-FFF2-40B4-BE49-F238E27FC236}">
                <a16:creationId xmlns:a16="http://schemas.microsoft.com/office/drawing/2014/main" id="{386949C6-9976-BFED-27C4-2215DB66BC94}"/>
              </a:ext>
            </a:extLst>
          </p:cNvPr>
          <p:cNvSpPr>
            <a:spLocks noChangeArrowheads="1"/>
          </p:cNvSpPr>
          <p:nvPr/>
        </p:nvSpPr>
        <p:spPr bwMode="auto">
          <a:xfrm>
            <a:off x="539603" y="3694012"/>
            <a:ext cx="8107326" cy="1221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b="1" dirty="0">
                <a:latin typeface="DM Sans" pitchFamily="2" charset="0"/>
              </a:rPr>
              <a:t>Conclusion:</a:t>
            </a:r>
            <a:endParaRPr kumimoji="0" lang="en-US" altLang="en-US" i="0" u="none" strike="noStrike" cap="none" normalizeH="0" baseline="0" dirty="0">
              <a:ln>
                <a:noFill/>
              </a:ln>
              <a:solidFill>
                <a:schemeClr val="tx1"/>
              </a:solidFill>
              <a:effectLst/>
              <a:latin typeface="DM Sans" pitchFamily="2" charset="0"/>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DM Sans" pitchFamily="2" charset="0"/>
              </a:rPr>
              <a:t>Since p &lt; </a:t>
            </a:r>
            <a:r>
              <a:rPr kumimoji="0" lang="en-US" altLang="en-US" sz="1200" b="1" i="0" u="none" strike="noStrike" cap="none" normalizeH="0" baseline="0" dirty="0">
                <a:ln>
                  <a:noFill/>
                </a:ln>
                <a:solidFill>
                  <a:schemeClr val="tx1"/>
                </a:solidFill>
                <a:effectLst/>
                <a:latin typeface="DM Sans" pitchFamily="2" charset="0"/>
              </a:rPr>
              <a:t>0.05</a:t>
            </a:r>
            <a:r>
              <a:rPr kumimoji="0" lang="en-US" altLang="en-US" sz="1200" i="0" u="none" strike="noStrike" cap="none" normalizeH="0" baseline="0" dirty="0">
                <a:ln>
                  <a:noFill/>
                </a:ln>
                <a:solidFill>
                  <a:schemeClr val="tx1"/>
                </a:solidFill>
                <a:effectLst/>
                <a:latin typeface="DM Sans" pitchFamily="2" charset="0"/>
              </a:rPr>
              <a:t>, there is a statistically significant difference between Facebook and AdWords Ad Conversions.</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DM Sans" pitchFamily="2" charset="0"/>
              </a:rPr>
              <a:t>This supports </a:t>
            </a:r>
            <a:r>
              <a:rPr kumimoji="0" lang="en-US" altLang="en-US" sz="1200" b="1" i="0" u="none" strike="noStrike" cap="none" normalizeH="0" baseline="0" dirty="0">
                <a:ln>
                  <a:noFill/>
                </a:ln>
                <a:solidFill>
                  <a:schemeClr val="tx1"/>
                </a:solidFill>
                <a:effectLst/>
                <a:latin typeface="DM Sans" pitchFamily="2" charset="0"/>
              </a:rPr>
              <a:t>the Alternative Hypothesis </a:t>
            </a:r>
            <a:r>
              <a:rPr kumimoji="0" lang="en-US" altLang="en-US" sz="1200" i="0" u="none" strike="noStrike" cap="none" normalizeH="0" baseline="0" dirty="0">
                <a:ln>
                  <a:noFill/>
                </a:ln>
                <a:solidFill>
                  <a:schemeClr val="tx1"/>
                </a:solidFill>
                <a:effectLst/>
                <a:latin typeface="DM Sans" pitchFamily="2" charset="0"/>
              </a:rPr>
              <a:t>(H₁).</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DM Sans" pitchFamily="2" charset="0"/>
              </a:rPr>
              <a:t>Facebook Ads generate significantly higher conversions on average than AdWords Ads.</a:t>
            </a:r>
          </a:p>
        </p:txBody>
      </p:sp>
    </p:spTree>
    <p:extLst>
      <p:ext uri="{BB962C8B-B14F-4D97-AF65-F5344CB8AC3E}">
        <p14:creationId xmlns:p14="http://schemas.microsoft.com/office/powerpoint/2010/main" val="880235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b="1" dirty="0"/>
              <a:t>End of Module 3</a:t>
            </a:r>
            <a:endParaRPr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Determining a Model</a:t>
            </a:r>
            <a:endParaRPr sz="2800"/>
          </a:p>
        </p:txBody>
      </p:sp>
      <p:sp>
        <p:nvSpPr>
          <p:cNvPr id="188" name="Google Shape;188;p30"/>
          <p:cNvSpPr txBox="1">
            <a:spLocks noGrp="1"/>
          </p:cNvSpPr>
          <p:nvPr>
            <p:ph type="body" idx="1"/>
          </p:nvPr>
        </p:nvSpPr>
        <p:spPr>
          <a:xfrm>
            <a:off x="311700" y="1152475"/>
            <a:ext cx="85206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a:t>Based off what you know so far, you’ll need to determine if your data meets the assumptions for a chosen model. Including:</a:t>
            </a:r>
            <a:endParaRPr sz="1600"/>
          </a:p>
        </p:txBody>
      </p:sp>
      <p:sp>
        <p:nvSpPr>
          <p:cNvPr id="189" name="Google Shape;189;p30" descr="Answer question, &quot;Which model makes the most sense to use and why?&quot;"/>
          <p:cNvSpPr txBox="1"/>
          <p:nvPr/>
        </p:nvSpPr>
        <p:spPr>
          <a:xfrm>
            <a:off x="311700" y="1866775"/>
            <a:ext cx="8110800" cy="2886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sz="1800">
                <a:solidFill>
                  <a:srgbClr val="0A004A"/>
                </a:solidFill>
                <a:latin typeface="DM Sans"/>
                <a:ea typeface="DM Sans"/>
                <a:cs typeface="DM Sans"/>
                <a:sym typeface="DM Sans"/>
              </a:rPr>
              <a:t>Which model makes the most sense to use and why? </a:t>
            </a:r>
            <a:endParaRPr sz="1800">
              <a:solidFill>
                <a:srgbClr val="0A004A"/>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Modeling</a:t>
            </a:r>
            <a:endParaRPr sz="2800"/>
          </a:p>
        </p:txBody>
      </p:sp>
      <p:sp>
        <p:nvSpPr>
          <p:cNvPr id="195" name="Google Shape;195;p31"/>
          <p:cNvSpPr txBox="1">
            <a:spLocks noGrp="1"/>
          </p:cNvSpPr>
          <p:nvPr>
            <p:ph type="body" idx="1"/>
          </p:nvPr>
        </p:nvSpPr>
        <p:spPr>
          <a:xfrm>
            <a:off x="311700" y="1152475"/>
            <a:ext cx="85206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a:t>Finally, include a visualization of your complete model. </a:t>
            </a:r>
            <a:endParaRPr sz="1600"/>
          </a:p>
        </p:txBody>
      </p:sp>
      <p:pic>
        <p:nvPicPr>
          <p:cNvPr id="196" name="Google Shape;196;p31"/>
          <p:cNvPicPr preferRelativeResize="0"/>
          <p:nvPr/>
        </p:nvPicPr>
        <p:blipFill>
          <a:blip r:embed="rId3">
            <a:alphaModFix/>
          </a:blip>
          <a:stretch>
            <a:fillRect/>
          </a:stretch>
        </p:blipFill>
        <p:spPr>
          <a:xfrm>
            <a:off x="2643900" y="2001525"/>
            <a:ext cx="3856176" cy="2892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b="1" dirty="0"/>
              <a:t>End of Module 4</a:t>
            </a:r>
            <a:endParaRPr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Final Insights</a:t>
            </a:r>
            <a:endParaRPr sz="2800"/>
          </a:p>
        </p:txBody>
      </p:sp>
      <p:sp>
        <p:nvSpPr>
          <p:cNvPr id="207" name="Google Shape;207;p33"/>
          <p:cNvSpPr txBox="1">
            <a:spLocks noGrp="1"/>
          </p:cNvSpPr>
          <p:nvPr>
            <p:ph type="body" idx="1"/>
          </p:nvPr>
        </p:nvSpPr>
        <p:spPr>
          <a:xfrm>
            <a:off x="311700" y="1152475"/>
            <a:ext cx="85206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200"/>
              </a:spcAft>
              <a:buNone/>
            </a:pPr>
            <a:r>
              <a:rPr lang="en" sz="1600"/>
              <a:t>Now, knowing what you do about the results of your test, what are the final insights that you would share with your client? What did you learn and what would you recommend? Is there anything you would do differently next time?</a:t>
            </a:r>
            <a:endParaRPr sz="1600"/>
          </a:p>
        </p:txBody>
      </p:sp>
      <p:sp>
        <p:nvSpPr>
          <p:cNvPr id="208" name="Google Shape;208;p33" descr="Enter your insights here&#10;"/>
          <p:cNvSpPr txBox="1"/>
          <p:nvPr/>
        </p:nvSpPr>
        <p:spPr>
          <a:xfrm>
            <a:off x="311700" y="2149975"/>
            <a:ext cx="8520600" cy="2770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rgbClr val="0A004A"/>
                </a:solidFill>
                <a:latin typeface="DM Sans"/>
                <a:ea typeface="DM Sans"/>
                <a:cs typeface="DM Sans"/>
                <a:sym typeface="DM Sans"/>
              </a:rPr>
              <a:t>Enter your insights here:</a:t>
            </a:r>
            <a:endParaRPr sz="1200">
              <a:solidFill>
                <a:srgbClr val="0A004A"/>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474</TotalTime>
  <Words>1165</Words>
  <Application>Microsoft Office PowerPoint</Application>
  <PresentationFormat>On-screen Show (16:9)</PresentationFormat>
  <Paragraphs>262</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DM Sans</vt:lpstr>
      <vt:lpstr>Simple Light</vt:lpstr>
      <vt:lpstr>Course Capstone</vt:lpstr>
      <vt:lpstr>Finding the Middle of Clicks</vt:lpstr>
      <vt:lpstr>Finding the Middle of Conversions </vt:lpstr>
      <vt:lpstr>Standard Deviation</vt:lpstr>
      <vt:lpstr>Frequency Table of Facebook</vt:lpstr>
      <vt:lpstr>Frequency Table of AdWords</vt:lpstr>
      <vt:lpstr>Contingency Table of Facebook</vt:lpstr>
      <vt:lpstr>Contingency Table of AdWords</vt:lpstr>
      <vt:lpstr>Scatter Plot of Facebook Ad</vt:lpstr>
      <vt:lpstr>Scatter Plot of AdWords Ad</vt:lpstr>
      <vt:lpstr>End of Module 1</vt:lpstr>
      <vt:lpstr>Sample Type of Facebook Ad</vt:lpstr>
      <vt:lpstr>Sample Type of AdWords Ad</vt:lpstr>
      <vt:lpstr>Variable Types</vt:lpstr>
      <vt:lpstr>End of Module 2</vt:lpstr>
      <vt:lpstr>Research Question &amp; Hypothesis</vt:lpstr>
      <vt:lpstr>Variable Types &amp; Mean Conversions  </vt:lpstr>
      <vt:lpstr>Hypothesis Testing &amp; Results</vt:lpstr>
      <vt:lpstr>End of Module 3</vt:lpstr>
      <vt:lpstr>Determining a Model</vt:lpstr>
      <vt:lpstr>Modeling</vt:lpstr>
      <vt:lpstr>End of Module 4</vt:lpstr>
      <vt:lpstr>Final Insights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Sumaya Mateen</cp:lastModifiedBy>
  <cp:revision>15</cp:revision>
  <dcterms:modified xsi:type="dcterms:W3CDTF">2025-10-13T05:59:30Z</dcterms:modified>
</cp:coreProperties>
</file>